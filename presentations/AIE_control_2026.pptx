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84" r:id="rId16"/>
    <p:sldId id="385" r:id="rId17"/>
    <p:sldId id="386" r:id="rId18"/>
    <p:sldId id="389" r:id="rId19"/>
    <p:sldId id="387" r:id="rId20"/>
    <p:sldId id="390" r:id="rId21"/>
    <p:sldId id="388" r:id="rId22"/>
    <p:sldId id="391" r:id="rId23"/>
    <p:sldId id="392" r:id="rId24"/>
    <p:sldId id="393" r:id="rId25"/>
    <p:sldId id="394" r:id="rId26"/>
    <p:sldId id="395" r:id="rId27"/>
    <p:sldId id="397" r:id="rId28"/>
    <p:sldId id="396" r:id="rId29"/>
    <p:sldId id="378" r:id="rId30"/>
  </p:sldIdLst>
  <p:sldSz cx="12192000" cy="6858000"/>
  <p:notesSz cx="6858000" cy="9144000"/>
  <p:embeddedFontLst>
    <p:embeddedFont>
      <p:font typeface="Cambria Math" panose="02040503050406030204" pitchFamily="18" charset="0"/>
      <p:regular r:id="rId32"/>
    </p:embeddedFont>
    <p:embeddedFont>
      <p:font typeface="Palatino Linotype" panose="02040502050505030304" pitchFamily="18" charset="0"/>
      <p:regular r:id="rId33"/>
      <p:bold r:id="rId34"/>
      <p:italic r:id="rId35"/>
      <p:boldItalic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9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3.fntdata"/><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8/27/2026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8/27/2026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gif"/></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gif"/><Relationship Id="rId4" Type="http://schemas.openxmlformats.org/officeDocument/2006/relationships/image" Target="../media/image40.png"/><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8.png"/><Relationship Id="rId7"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gif"/><Relationship Id="rId4" Type="http://schemas.openxmlformats.org/officeDocument/2006/relationships/image" Target="../media/image49.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0.gif"/><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smtClean="0">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8/27/2026</a:t>
            </a:fld>
            <a:endParaRPr lang="en-US" dirty="0"/>
          </a:p>
        </p:txBody>
      </p:sp>
      <mc:AlternateContent xmlns:mc="http://schemas.openxmlformats.org/markup-compatibility/2006" xmlns:a14="http://schemas.microsoft.com/office/drawing/2010/main">
        <mc:Choice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xmlns="">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xmlns:a14="http://schemas.microsoft.com/office/drawing/2010/main">
        <mc:Choice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xmlns="">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xmlns:a14="http://schemas.microsoft.com/office/drawing/2010/main">
        <mc:Choice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xmlns="">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pPr/>
                <a14:m>
                  <m:oMathPara xmlns:m="http://schemas.openxmlformats.org/officeDocument/2006/math">
                    <m:oMath>
                      <m:func>
                        <m:funcPr>
                          <m:ctrlPr>
                            <a:rPr lang="en-US" altLang="zh-TW"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r>
                            <a:rPr lang="en-US" altLang="zh-TW" b="0" i="1" smtClean="0">
                              <a:latin typeface="Cambria Math" panose="02040503050406030204" pitchFamily="18" charset="0"/>
                            </a:rPr>
                            <m:t>𝑤</m:t>
                          </m:r>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xmlns="">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pPr/>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xmlns="">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xmlns="">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xmlns="">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xmlns="">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2E0A-7101-249C-C1B5-18B5186CA557}"/>
              </a:ext>
            </a:extLst>
          </p:cNvPr>
          <p:cNvSpPr>
            <a:spLocks noGrp="1"/>
          </p:cNvSpPr>
          <p:nvPr>
            <p:ph type="title"/>
          </p:nvPr>
        </p:nvSpPr>
        <p:spPr/>
        <p:txBody>
          <a:bodyPr/>
          <a:lstStyle/>
          <a:p>
            <a:r>
              <a:rPr lang="en-US" altLang="zh-TW" dirty="0"/>
              <a:t>70 mW / 0 mM Tempo for Lines</a:t>
            </a:r>
            <a:endParaRPr lang="zh-TW" altLang="en-US" dirty="0"/>
          </a:p>
        </p:txBody>
      </p:sp>
      <p:sp>
        <p:nvSpPr>
          <p:cNvPr id="3" name="Content Placeholder 2">
            <a:extLst>
              <a:ext uri="{FF2B5EF4-FFF2-40B4-BE49-F238E27FC236}">
                <a16:creationId xmlns:a16="http://schemas.microsoft.com/office/drawing/2014/main" id="{DE77D31F-77C2-E702-C11F-C85BF4A95CEB}"/>
              </a:ext>
            </a:extLst>
          </p:cNvPr>
          <p:cNvSpPr>
            <a:spLocks noGrp="1"/>
          </p:cNvSpPr>
          <p:nvPr>
            <p:ph idx="1"/>
          </p:nvPr>
        </p:nvSpPr>
        <p:spPr/>
        <p:txBody>
          <a:bodyPr/>
          <a:lstStyle/>
          <a:p>
            <a:r>
              <a:rPr lang="en-US" altLang="zh-TW" dirty="0"/>
              <a:t>Goal: 40% DoC @ 3.5 Sec</a:t>
            </a:r>
            <a:endParaRPr lang="zh-TW" altLang="en-US" dirty="0"/>
          </a:p>
        </p:txBody>
      </p:sp>
      <p:sp>
        <p:nvSpPr>
          <p:cNvPr id="4" name="Slide Number Placeholder 3">
            <a:extLst>
              <a:ext uri="{FF2B5EF4-FFF2-40B4-BE49-F238E27FC236}">
                <a16:creationId xmlns:a16="http://schemas.microsoft.com/office/drawing/2014/main" id="{8EFC0D77-44FD-BA7B-66DC-CD06A80CDF81}"/>
              </a:ext>
            </a:extLst>
          </p:cNvPr>
          <p:cNvSpPr>
            <a:spLocks noGrp="1"/>
          </p:cNvSpPr>
          <p:nvPr>
            <p:ph type="sldNum" sz="quarter" idx="12"/>
          </p:nvPr>
        </p:nvSpPr>
        <p:spPr/>
        <p:txBody>
          <a:bodyPr/>
          <a:lstStyle/>
          <a:p>
            <a:fld id="{5A741E56-E3D9-46FF-B47D-3FCBEAE97EB2}" type="slidenum">
              <a:rPr lang="en-US" smtClean="0"/>
              <a:pPr/>
              <a:t>15</a:t>
            </a:fld>
            <a:endParaRPr lang="en-US" dirty="0"/>
          </a:p>
        </p:txBody>
      </p:sp>
      <p:sp>
        <p:nvSpPr>
          <p:cNvPr id="5" name="Footer Placeholder 4">
            <a:extLst>
              <a:ext uri="{FF2B5EF4-FFF2-40B4-BE49-F238E27FC236}">
                <a16:creationId xmlns:a16="http://schemas.microsoft.com/office/drawing/2014/main" id="{C0CFC114-C544-49CD-8D3E-B9141532977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A1F6EB1-8C67-3EB5-846C-46C236405DF6}"/>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35" name="Group 34">
            <a:extLst>
              <a:ext uri="{FF2B5EF4-FFF2-40B4-BE49-F238E27FC236}">
                <a16:creationId xmlns:a16="http://schemas.microsoft.com/office/drawing/2014/main" id="{6C5AFD31-535D-7BA0-7F08-2F0C0C7FC27F}"/>
              </a:ext>
            </a:extLst>
          </p:cNvPr>
          <p:cNvGrpSpPr/>
          <p:nvPr/>
        </p:nvGrpSpPr>
        <p:grpSpPr>
          <a:xfrm>
            <a:off x="2438006" y="1689046"/>
            <a:ext cx="2069537" cy="1713475"/>
            <a:chOff x="3126842" y="1556325"/>
            <a:chExt cx="2069537" cy="1713475"/>
          </a:xfrm>
        </p:grpSpPr>
        <p:pic>
          <p:nvPicPr>
            <p:cNvPr id="10" name="Picture 9">
              <a:extLst>
                <a:ext uri="{FF2B5EF4-FFF2-40B4-BE49-F238E27FC236}">
                  <a16:creationId xmlns:a16="http://schemas.microsoft.com/office/drawing/2014/main" id="{1E9E5559-7289-68E1-3048-53796D99708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26842" y="1976339"/>
              <a:ext cx="2069537" cy="1293461"/>
            </a:xfrm>
            <a:prstGeom prst="rect">
              <a:avLst/>
            </a:prstGeom>
          </p:spPr>
        </p:pic>
        <p:sp>
          <p:nvSpPr>
            <p:cNvPr id="21" name="TextBox 20">
              <a:extLst>
                <a:ext uri="{FF2B5EF4-FFF2-40B4-BE49-F238E27FC236}">
                  <a16:creationId xmlns:a16="http://schemas.microsoft.com/office/drawing/2014/main" id="{CB04F5DB-8D42-5E71-A61C-3ACDF3A1FABC}"/>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34" name="Group 33">
            <a:extLst>
              <a:ext uri="{FF2B5EF4-FFF2-40B4-BE49-F238E27FC236}">
                <a16:creationId xmlns:a16="http://schemas.microsoft.com/office/drawing/2014/main" id="{7C832972-FCCA-33D1-81F6-D73E98482AAD}"/>
              </a:ext>
            </a:extLst>
          </p:cNvPr>
          <p:cNvGrpSpPr/>
          <p:nvPr/>
        </p:nvGrpSpPr>
        <p:grpSpPr>
          <a:xfrm>
            <a:off x="230582" y="1689046"/>
            <a:ext cx="2069537" cy="1713475"/>
            <a:chOff x="336831" y="1556325"/>
            <a:chExt cx="2069537" cy="1713475"/>
          </a:xfrm>
        </p:grpSpPr>
        <p:pic>
          <p:nvPicPr>
            <p:cNvPr id="8" name="Picture 7">
              <a:extLst>
                <a:ext uri="{FF2B5EF4-FFF2-40B4-BE49-F238E27FC236}">
                  <a16:creationId xmlns:a16="http://schemas.microsoft.com/office/drawing/2014/main" id="{0F8181E2-1BFF-0EF6-6D4D-89164E90E7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6831" y="1976339"/>
              <a:ext cx="2069537" cy="1293461"/>
            </a:xfrm>
            <a:prstGeom prst="rect">
              <a:avLst/>
            </a:prstGeom>
          </p:spPr>
        </p:pic>
        <p:sp>
          <p:nvSpPr>
            <p:cNvPr id="23" name="TextBox 22">
              <a:extLst>
                <a:ext uri="{FF2B5EF4-FFF2-40B4-BE49-F238E27FC236}">
                  <a16:creationId xmlns:a16="http://schemas.microsoft.com/office/drawing/2014/main" id="{4D16DA58-F427-E005-81AD-960052988B14}"/>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40" name="Group 39">
            <a:extLst>
              <a:ext uri="{FF2B5EF4-FFF2-40B4-BE49-F238E27FC236}">
                <a16:creationId xmlns:a16="http://schemas.microsoft.com/office/drawing/2014/main" id="{92049B64-2D6F-44F7-F282-2FE08D57BC1E}"/>
              </a:ext>
            </a:extLst>
          </p:cNvPr>
          <p:cNvGrpSpPr/>
          <p:nvPr/>
        </p:nvGrpSpPr>
        <p:grpSpPr>
          <a:xfrm>
            <a:off x="6852854" y="4209030"/>
            <a:ext cx="2069537" cy="1739206"/>
            <a:chOff x="8640471" y="4247332"/>
            <a:chExt cx="2069537" cy="1739206"/>
          </a:xfrm>
        </p:grpSpPr>
        <p:pic>
          <p:nvPicPr>
            <p:cNvPr id="20" name="Picture 19">
              <a:extLst>
                <a:ext uri="{FF2B5EF4-FFF2-40B4-BE49-F238E27FC236}">
                  <a16:creationId xmlns:a16="http://schemas.microsoft.com/office/drawing/2014/main" id="{52FD8EBE-C092-78AB-9749-CD0092BE96B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40471" y="4693077"/>
              <a:ext cx="2069537" cy="1293461"/>
            </a:xfrm>
            <a:prstGeom prst="rect">
              <a:avLst/>
            </a:prstGeom>
          </p:spPr>
        </p:pic>
        <p:sp>
          <p:nvSpPr>
            <p:cNvPr id="25" name="TextBox 24">
              <a:extLst>
                <a:ext uri="{FF2B5EF4-FFF2-40B4-BE49-F238E27FC236}">
                  <a16:creationId xmlns:a16="http://schemas.microsoft.com/office/drawing/2014/main" id="{D632ADB3-7126-0A59-751C-0554253F0B76}"/>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39" name="Group 38">
            <a:extLst>
              <a:ext uri="{FF2B5EF4-FFF2-40B4-BE49-F238E27FC236}">
                <a16:creationId xmlns:a16="http://schemas.microsoft.com/office/drawing/2014/main" id="{AA298ECF-B1B7-A261-FE70-F7A1D9B20119}"/>
              </a:ext>
            </a:extLst>
          </p:cNvPr>
          <p:cNvGrpSpPr/>
          <p:nvPr/>
        </p:nvGrpSpPr>
        <p:grpSpPr>
          <a:xfrm>
            <a:off x="4645430" y="4234762"/>
            <a:ext cx="2069537" cy="1713474"/>
            <a:chOff x="5883656" y="4247332"/>
            <a:chExt cx="2069537" cy="1713474"/>
          </a:xfrm>
        </p:grpSpPr>
        <p:pic>
          <p:nvPicPr>
            <p:cNvPr id="18" name="Picture 17">
              <a:extLst>
                <a:ext uri="{FF2B5EF4-FFF2-40B4-BE49-F238E27FC236}">
                  <a16:creationId xmlns:a16="http://schemas.microsoft.com/office/drawing/2014/main" id="{A88EB986-51D0-A6FA-3D0D-BFFE555406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83656" y="4667345"/>
              <a:ext cx="2069537" cy="1293461"/>
            </a:xfrm>
            <a:prstGeom prst="rect">
              <a:avLst/>
            </a:prstGeom>
          </p:spPr>
        </p:pic>
        <p:sp>
          <p:nvSpPr>
            <p:cNvPr id="27" name="TextBox 26">
              <a:extLst>
                <a:ext uri="{FF2B5EF4-FFF2-40B4-BE49-F238E27FC236}">
                  <a16:creationId xmlns:a16="http://schemas.microsoft.com/office/drawing/2014/main" id="{6A5FA5FD-E4F2-2E7E-F476-A4A6BDF3DD27}"/>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37" name="Group 36">
            <a:extLst>
              <a:ext uri="{FF2B5EF4-FFF2-40B4-BE49-F238E27FC236}">
                <a16:creationId xmlns:a16="http://schemas.microsoft.com/office/drawing/2014/main" id="{F79866ED-070C-2CD8-A5CE-B7A9A1F94CD3}"/>
              </a:ext>
            </a:extLst>
          </p:cNvPr>
          <p:cNvGrpSpPr/>
          <p:nvPr/>
        </p:nvGrpSpPr>
        <p:grpSpPr>
          <a:xfrm>
            <a:off x="230582" y="4247331"/>
            <a:ext cx="2069537" cy="1713475"/>
            <a:chOff x="8565463" y="1556325"/>
            <a:chExt cx="2069537" cy="1713475"/>
          </a:xfrm>
        </p:grpSpPr>
        <p:pic>
          <p:nvPicPr>
            <p:cNvPr id="14" name="Picture 13">
              <a:extLst>
                <a:ext uri="{FF2B5EF4-FFF2-40B4-BE49-F238E27FC236}">
                  <a16:creationId xmlns:a16="http://schemas.microsoft.com/office/drawing/2014/main" id="{D6BCBCFE-F633-2A22-05B6-89DE8C777A4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65463" y="1976339"/>
              <a:ext cx="2069537" cy="1293461"/>
            </a:xfrm>
            <a:prstGeom prst="rect">
              <a:avLst/>
            </a:prstGeom>
          </p:spPr>
        </p:pic>
        <p:sp>
          <p:nvSpPr>
            <p:cNvPr id="31" name="TextBox 30">
              <a:extLst>
                <a:ext uri="{FF2B5EF4-FFF2-40B4-BE49-F238E27FC236}">
                  <a16:creationId xmlns:a16="http://schemas.microsoft.com/office/drawing/2014/main" id="{C2B74060-6557-9465-7AEF-80A2773B2D60}"/>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36" name="Group 35">
            <a:extLst>
              <a:ext uri="{FF2B5EF4-FFF2-40B4-BE49-F238E27FC236}">
                <a16:creationId xmlns:a16="http://schemas.microsoft.com/office/drawing/2014/main" id="{458B690F-0DFB-EC96-1988-DFA5063885FA}"/>
              </a:ext>
            </a:extLst>
          </p:cNvPr>
          <p:cNvGrpSpPr/>
          <p:nvPr/>
        </p:nvGrpSpPr>
        <p:grpSpPr>
          <a:xfrm>
            <a:off x="4645430" y="1689046"/>
            <a:ext cx="2069537" cy="1713475"/>
            <a:chOff x="6084275" y="1556325"/>
            <a:chExt cx="2069537" cy="1713475"/>
          </a:xfrm>
        </p:grpSpPr>
        <p:pic>
          <p:nvPicPr>
            <p:cNvPr id="12" name="Picture 11">
              <a:extLst>
                <a:ext uri="{FF2B5EF4-FFF2-40B4-BE49-F238E27FC236}">
                  <a16:creationId xmlns:a16="http://schemas.microsoft.com/office/drawing/2014/main" id="{E0ED7355-5C5E-74A8-163B-16C05609BD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84275" y="1976339"/>
              <a:ext cx="2069537" cy="1293461"/>
            </a:xfrm>
            <a:prstGeom prst="rect">
              <a:avLst/>
            </a:prstGeom>
          </p:spPr>
        </p:pic>
        <p:sp>
          <p:nvSpPr>
            <p:cNvPr id="33" name="TextBox 32">
              <a:extLst>
                <a:ext uri="{FF2B5EF4-FFF2-40B4-BE49-F238E27FC236}">
                  <a16:creationId xmlns:a16="http://schemas.microsoft.com/office/drawing/2014/main" id="{964226D9-6A09-5E4F-AA7C-4717200525CA}"/>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38" name="Group 37">
            <a:extLst>
              <a:ext uri="{FF2B5EF4-FFF2-40B4-BE49-F238E27FC236}">
                <a16:creationId xmlns:a16="http://schemas.microsoft.com/office/drawing/2014/main" id="{8C15EB96-5D26-F4B2-031B-74ECDF7C5E0E}"/>
              </a:ext>
            </a:extLst>
          </p:cNvPr>
          <p:cNvGrpSpPr/>
          <p:nvPr/>
        </p:nvGrpSpPr>
        <p:grpSpPr>
          <a:xfrm>
            <a:off x="2438006" y="4234762"/>
            <a:ext cx="2069537" cy="1713475"/>
            <a:chOff x="336831" y="4346226"/>
            <a:chExt cx="2069537" cy="1713475"/>
          </a:xfrm>
        </p:grpSpPr>
        <p:pic>
          <p:nvPicPr>
            <p:cNvPr id="16" name="Picture 15">
              <a:extLst>
                <a:ext uri="{FF2B5EF4-FFF2-40B4-BE49-F238E27FC236}">
                  <a16:creationId xmlns:a16="http://schemas.microsoft.com/office/drawing/2014/main" id="{046E535E-26DF-796F-116C-A3DA3EA3552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6831" y="4766240"/>
              <a:ext cx="2069537" cy="1293461"/>
            </a:xfrm>
            <a:prstGeom prst="rect">
              <a:avLst/>
            </a:prstGeom>
          </p:spPr>
        </p:pic>
        <p:sp>
          <p:nvSpPr>
            <p:cNvPr id="29" name="TextBox 28">
              <a:extLst>
                <a:ext uri="{FF2B5EF4-FFF2-40B4-BE49-F238E27FC236}">
                  <a16:creationId xmlns:a16="http://schemas.microsoft.com/office/drawing/2014/main" id="{67855864-8963-8DD0-F583-3EBABFFACB03}"/>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42" name="Picture 41">
            <a:extLst>
              <a:ext uri="{FF2B5EF4-FFF2-40B4-BE49-F238E27FC236}">
                <a16:creationId xmlns:a16="http://schemas.microsoft.com/office/drawing/2014/main" id="{42184698-2B3A-2A6A-92BC-771B35455A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68184" y="982247"/>
            <a:ext cx="4876800" cy="3048000"/>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372204B-0C3C-3BD1-CB86-2C1CCE0FA20B}"/>
                  </a:ext>
                </a:extLst>
              </p:cNvPr>
              <p:cNvSpPr txBox="1"/>
              <p:nvPr/>
            </p:nvSpPr>
            <p:spPr>
              <a:xfrm>
                <a:off x="9448800" y="5163005"/>
                <a:ext cx="2312108"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𝑎𝑐ℎ𝑖𝑒𝑣𝑒𝑑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=0.627</m:t>
                      </m:r>
                    </m:oMath>
                  </m:oMathPara>
                </a14:m>
                <a:endParaRPr lang="zh-TW" altLang="en-US" dirty="0"/>
              </a:p>
            </p:txBody>
          </p:sp>
        </mc:Choice>
        <mc:Fallback xmlns="">
          <p:sp>
            <p:nvSpPr>
              <p:cNvPr id="43" name="TextBox 42">
                <a:extLst>
                  <a:ext uri="{FF2B5EF4-FFF2-40B4-BE49-F238E27FC236}">
                    <a16:creationId xmlns:a16="http://schemas.microsoft.com/office/drawing/2014/main" id="{F372204B-0C3C-3BD1-CB86-2C1CCE0FA20B}"/>
                  </a:ext>
                </a:extLst>
              </p:cNvPr>
              <p:cNvSpPr txBox="1">
                <a:spLocks noRot="1" noChangeAspect="1" noMove="1" noResize="1" noEditPoints="1" noAdjustHandles="1" noChangeArrowheads="1" noChangeShapeType="1" noTextEdit="1"/>
              </p:cNvSpPr>
              <p:nvPr/>
            </p:nvSpPr>
            <p:spPr>
              <a:xfrm>
                <a:off x="9448800" y="5163005"/>
                <a:ext cx="2312108" cy="276999"/>
              </a:xfrm>
              <a:prstGeom prst="rect">
                <a:avLst/>
              </a:prstGeom>
              <a:blipFill>
                <a:blip r:embed="rId10"/>
                <a:stretch>
                  <a:fillRect l="-1847" r="-2111" b="-155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B708C14-C6D1-EEC5-8CB3-2E0213641C4B}"/>
                  </a:ext>
                </a:extLst>
              </p:cNvPr>
              <p:cNvSpPr txBox="1"/>
              <p:nvPr/>
            </p:nvSpPr>
            <p:spPr>
              <a:xfrm>
                <a:off x="4402859" y="1087578"/>
                <a:ext cx="1945020"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𝑑𝑒𝑠𝑖𝑟𝑒𝑑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oMath>
                  </m:oMathPara>
                </a14:m>
                <a:endParaRPr lang="zh-TW" altLang="en-US" dirty="0"/>
              </a:p>
            </p:txBody>
          </p:sp>
        </mc:Choice>
        <mc:Fallback xmlns="">
          <p:sp>
            <p:nvSpPr>
              <p:cNvPr id="45" name="TextBox 44">
                <a:extLst>
                  <a:ext uri="{FF2B5EF4-FFF2-40B4-BE49-F238E27FC236}">
                    <a16:creationId xmlns:a16="http://schemas.microsoft.com/office/drawing/2014/main" id="{AB708C14-C6D1-EEC5-8CB3-2E0213641C4B}"/>
                  </a:ext>
                </a:extLst>
              </p:cNvPr>
              <p:cNvSpPr txBox="1">
                <a:spLocks noRot="1" noChangeAspect="1" noMove="1" noResize="1" noEditPoints="1" noAdjustHandles="1" noChangeArrowheads="1" noChangeShapeType="1" noTextEdit="1"/>
              </p:cNvSpPr>
              <p:nvPr/>
            </p:nvSpPr>
            <p:spPr>
              <a:xfrm>
                <a:off x="4402859" y="1087578"/>
                <a:ext cx="1945020" cy="276999"/>
              </a:xfrm>
              <a:prstGeom prst="rect">
                <a:avLst/>
              </a:prstGeom>
              <a:blipFill>
                <a:blip r:embed="rId11"/>
                <a:stretch>
                  <a:fillRect l="-2194" r="-2821" b="-1521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118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C9EB-1142-0AB8-2BCF-84D05E029FFD}"/>
              </a:ext>
            </a:extLst>
          </p:cNvPr>
          <p:cNvSpPr>
            <a:spLocks noGrp="1"/>
          </p:cNvSpPr>
          <p:nvPr>
            <p:ph type="title"/>
          </p:nvPr>
        </p:nvSpPr>
        <p:spPr/>
        <p:txBody>
          <a:bodyPr/>
          <a:lstStyle/>
          <a:p>
            <a:r>
              <a:rPr lang="en-US" altLang="zh-TW" dirty="0"/>
              <a:t>70 mW / 0 mM Tempo for Lines</a:t>
            </a:r>
            <a:endParaRPr lang="zh-TW" altLang="en-US" dirty="0"/>
          </a:p>
        </p:txBody>
      </p:sp>
      <p:graphicFrame>
        <p:nvGraphicFramePr>
          <p:cNvPr id="7" name="Content Placeholder 6">
            <a:extLst>
              <a:ext uri="{FF2B5EF4-FFF2-40B4-BE49-F238E27FC236}">
                <a16:creationId xmlns:a16="http://schemas.microsoft.com/office/drawing/2014/main" id="{362CE6F6-336A-87AF-5582-DCFF294A0889}"/>
              </a:ext>
            </a:extLst>
          </p:cNvPr>
          <p:cNvGraphicFramePr>
            <a:graphicFrameLocks noGrp="1"/>
          </p:cNvGraphicFramePr>
          <p:nvPr>
            <p:ph idx="1"/>
            <p:extLst>
              <p:ext uri="{D42A27DB-BD31-4B8C-83A1-F6EECF244321}">
                <p14:modId xmlns:p14="http://schemas.microsoft.com/office/powerpoint/2010/main" val="4215259859"/>
              </p:ext>
            </p:extLst>
          </p:nvPr>
        </p:nvGraphicFramePr>
        <p:xfrm>
          <a:off x="401950" y="1008161"/>
          <a:ext cx="8183172" cy="2934529"/>
        </p:xfrm>
        <a:graphic>
          <a:graphicData uri="http://schemas.openxmlformats.org/drawingml/2006/table">
            <a:tbl>
              <a:tblPr>
                <a:tableStyleId>{5C22544A-7EE6-4342-B048-85BDC9FD1C3A}</a:tableStyleId>
              </a:tblPr>
              <a:tblGrid>
                <a:gridCol w="1055172">
                  <a:extLst>
                    <a:ext uri="{9D8B030D-6E8A-4147-A177-3AD203B41FA5}">
                      <a16:colId xmlns:a16="http://schemas.microsoft.com/office/drawing/2014/main" val="2868810416"/>
                    </a:ext>
                  </a:extLst>
                </a:gridCol>
                <a:gridCol w="3564000">
                  <a:extLst>
                    <a:ext uri="{9D8B030D-6E8A-4147-A177-3AD203B41FA5}">
                      <a16:colId xmlns:a16="http://schemas.microsoft.com/office/drawing/2014/main" val="1383074905"/>
                    </a:ext>
                  </a:extLst>
                </a:gridCol>
                <a:gridCol w="3564000">
                  <a:extLst>
                    <a:ext uri="{9D8B030D-6E8A-4147-A177-3AD203B41FA5}">
                      <a16:colId xmlns:a16="http://schemas.microsoft.com/office/drawing/2014/main" val="4120094787"/>
                    </a:ext>
                  </a:extLst>
                </a:gridCol>
              </a:tblGrid>
              <a:tr h="374209">
                <a:tc>
                  <a:txBody>
                    <a:bodyPr/>
                    <a:lstStyle/>
                    <a:p>
                      <a:pPr algn="ctr">
                        <a:buNone/>
                      </a:pPr>
                      <a:r>
                        <a:rPr lang="zh-TW" dirty="0"/>
                        <a:t>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approximate target-region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Mean target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762994561"/>
                  </a:ext>
                </a:extLst>
              </a:tr>
              <a:tr h="213834">
                <a:tc>
                  <a:txBody>
                    <a:bodyPr/>
                    <a:lstStyle/>
                    <a:p>
                      <a:pPr algn="ctr">
                        <a:buNone/>
                      </a:pPr>
                      <a:r>
                        <a:rPr lang="zh-TW" dirty="0"/>
                        <a:t>0.</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0.014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57863994"/>
                  </a:ext>
                </a:extLst>
              </a:tr>
              <a:tr h="213834">
                <a:tc>
                  <a:txBody>
                    <a:bodyPr/>
                    <a:lstStyle/>
                    <a:p>
                      <a:pPr algn="ctr">
                        <a:buNone/>
                      </a:pPr>
                      <a:r>
                        <a:rPr lang="en-US" altLang="zh-TW" dirty="0"/>
                        <a:t>0.5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0.293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7630386"/>
                  </a:ext>
                </a:extLst>
              </a:tr>
              <a:tr h="213834">
                <a:tc>
                  <a:txBody>
                    <a:bodyPr/>
                    <a:lstStyle/>
                    <a:p>
                      <a:pPr algn="ctr">
                        <a:buNone/>
                      </a:pPr>
                      <a:r>
                        <a:rPr lang="zh-TW" dirty="0"/>
                        <a:t>1.</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0.406</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84899366"/>
                  </a:ext>
                </a:extLst>
              </a:tr>
              <a:tr h="213834">
                <a:tc>
                  <a:txBody>
                    <a:bodyPr/>
                    <a:lstStyle/>
                    <a:p>
                      <a:pPr algn="ctr">
                        <a:buNone/>
                      </a:pPr>
                      <a:r>
                        <a:rPr lang="en-US" altLang="zh-TW" dirty="0"/>
                        <a:t>1</a:t>
                      </a:r>
                      <a:r>
                        <a:rPr lang="zh-TW" dirty="0"/>
                        <a:t>.</a:t>
                      </a:r>
                      <a:r>
                        <a:rPr lang="en-US" altLang="zh-TW" dirty="0"/>
                        <a:t>5 </a:t>
                      </a:r>
                      <a:r>
                        <a:rPr lang="zh-TW" dirty="0"/>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0.467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89878092"/>
                  </a:ext>
                </a:extLst>
              </a:tr>
              <a:tr h="213834">
                <a:tc>
                  <a:txBody>
                    <a:bodyPr/>
                    <a:lstStyle/>
                    <a:p>
                      <a:pPr algn="ctr">
                        <a:buNone/>
                      </a:pPr>
                      <a:r>
                        <a:rPr lang="zh-TW" dirty="0"/>
                        <a:t>2.</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0.503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6024727"/>
                  </a:ext>
                </a:extLst>
              </a:tr>
              <a:tr h="213834">
                <a:tc>
                  <a:txBody>
                    <a:bodyPr/>
                    <a:lstStyle/>
                    <a:p>
                      <a:pPr algn="ctr">
                        <a:buNone/>
                      </a:pPr>
                      <a:r>
                        <a:rPr lang="en-US" altLang="zh-TW" dirty="0"/>
                        <a:t>2</a:t>
                      </a:r>
                      <a:r>
                        <a:rPr lang="zh-TW" dirty="0"/>
                        <a:t>.</a:t>
                      </a:r>
                      <a:r>
                        <a:rPr lang="en-US" altLang="zh-TW" dirty="0"/>
                        <a:t>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0.534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80572534"/>
                  </a:ext>
                </a:extLst>
              </a:tr>
              <a:tr h="213834">
                <a:tc>
                  <a:txBody>
                    <a:bodyPr/>
                    <a:lstStyle/>
                    <a:p>
                      <a:pPr algn="ctr">
                        <a:buNone/>
                      </a:pPr>
                      <a:r>
                        <a:rPr lang="zh-TW" dirty="0"/>
                        <a:t>3.</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0.627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25308331"/>
                  </a:ext>
                </a:extLst>
              </a:tr>
            </a:tbl>
          </a:graphicData>
        </a:graphic>
      </p:graphicFrame>
      <p:sp>
        <p:nvSpPr>
          <p:cNvPr id="4" name="Slide Number Placeholder 3">
            <a:extLst>
              <a:ext uri="{FF2B5EF4-FFF2-40B4-BE49-F238E27FC236}">
                <a16:creationId xmlns:a16="http://schemas.microsoft.com/office/drawing/2014/main" id="{A755B4CA-8E22-A53D-40FC-3EC615DC51D6}"/>
              </a:ext>
            </a:extLst>
          </p:cNvPr>
          <p:cNvSpPr>
            <a:spLocks noGrp="1"/>
          </p:cNvSpPr>
          <p:nvPr>
            <p:ph type="sldNum" sz="quarter" idx="12"/>
          </p:nvPr>
        </p:nvSpPr>
        <p:spPr/>
        <p:txBody>
          <a:bodyPr/>
          <a:lstStyle/>
          <a:p>
            <a:fld id="{5A741E56-E3D9-46FF-B47D-3FCBEAE97EB2}" type="slidenum">
              <a:rPr lang="en-US" smtClean="0"/>
              <a:pPr/>
              <a:t>16</a:t>
            </a:fld>
            <a:endParaRPr lang="en-US" dirty="0"/>
          </a:p>
        </p:txBody>
      </p:sp>
      <p:sp>
        <p:nvSpPr>
          <p:cNvPr id="5" name="Footer Placeholder 4">
            <a:extLst>
              <a:ext uri="{FF2B5EF4-FFF2-40B4-BE49-F238E27FC236}">
                <a16:creationId xmlns:a16="http://schemas.microsoft.com/office/drawing/2014/main" id="{A5C1EA40-7EBD-3642-6B9E-859D2AADB74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5B05AF0-FDBD-92C3-1B9C-1E390E2C6662}"/>
              </a:ext>
            </a:extLst>
          </p:cNvPr>
          <p:cNvSpPr>
            <a:spLocks noGrp="1"/>
          </p:cNvSpPr>
          <p:nvPr>
            <p:ph type="dt" sz="half" idx="10"/>
          </p:nvPr>
        </p:nvSpPr>
        <p:spPr/>
        <p:txBody>
          <a:bodyPr/>
          <a:lstStyle/>
          <a:p>
            <a:fld id="{E4965A3C-7C44-491F-A2CC-585294ABE301}" type="datetime1">
              <a:rPr lang="en-US" smtClean="0"/>
              <a:t>8/27/2026</a:t>
            </a:fld>
            <a:endParaRPr lang="en-US" dirty="0"/>
          </a:p>
        </p:txBody>
      </p:sp>
      <p:sp>
        <p:nvSpPr>
          <p:cNvPr id="9" name="TextBox 8">
            <a:extLst>
              <a:ext uri="{FF2B5EF4-FFF2-40B4-BE49-F238E27FC236}">
                <a16:creationId xmlns:a16="http://schemas.microsoft.com/office/drawing/2014/main" id="{8ED85BFC-6681-FF7A-4F0A-B3695E481094}"/>
              </a:ext>
            </a:extLst>
          </p:cNvPr>
          <p:cNvSpPr txBox="1"/>
          <p:nvPr/>
        </p:nvSpPr>
        <p:spPr>
          <a:xfrm>
            <a:off x="8769790" y="1008161"/>
            <a:ext cx="3422210" cy="369332"/>
          </a:xfrm>
          <a:prstGeom prst="rect">
            <a:avLst/>
          </a:prstGeom>
          <a:noFill/>
        </p:spPr>
        <p:txBody>
          <a:bodyPr wrap="square" rtlCol="0">
            <a:spAutoFit/>
          </a:bodyPr>
          <a:lstStyle/>
          <a:p>
            <a:r>
              <a:rPr lang="en-US" altLang="zh-TW" dirty="0"/>
              <a:t>For the first time step,</a:t>
            </a:r>
            <a:endParaRPr lang="zh-TW"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AB58907-501A-10FB-F01A-3CC8EBF98A1C}"/>
                  </a:ext>
                </a:extLst>
              </p:cNvPr>
              <p:cNvSpPr txBox="1"/>
              <p:nvPr/>
            </p:nvSpPr>
            <p:spPr>
              <a:xfrm>
                <a:off x="8840709" y="1566314"/>
                <a:ext cx="2726451" cy="276999"/>
              </a:xfrm>
              <a:prstGeom prst="rect">
                <a:avLst/>
              </a:prstGeom>
              <a:noFill/>
            </p:spPr>
            <p:txBody>
              <a:bodyPr wrap="none" lIns="0" tIns="0" rIns="0" bIns="0" rtlCol="0">
                <a:spAutoFit/>
              </a:bodyPr>
              <a:lstStyle/>
              <a:p>
                <a:pPr/>
                <a14:m>
                  <m:oMathPara xmlns:m="http://schemas.openxmlformats.org/officeDocument/2006/math">
                    <m:oMath>
                      <m:r>
                        <a:rPr lang="en-US" altLang="zh-TW" b="0" i="1" smtClean="0">
                          <a:latin typeface="Cambria Math" panose="02040503050406030204" pitchFamily="18" charset="0"/>
                        </a:rPr>
                        <m:t>70</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0.8</m:t>
                          </m:r>
                        </m:e>
                      </m:d>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0.5</m:t>
                          </m:r>
                        </m:e>
                      </m:d>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28 </m:t>
                      </m:r>
                      <m:r>
                        <a:rPr lang="en-US" altLang="zh-TW" b="0" i="1" smtClean="0">
                          <a:latin typeface="Cambria Math" panose="02040503050406030204" pitchFamily="18" charset="0"/>
                          <a:ea typeface="Cambria Math" panose="02040503050406030204" pitchFamily="18" charset="0"/>
                        </a:rPr>
                        <m:t>𝑚𝐽</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𝑐</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𝑚</m:t>
                          </m:r>
                        </m:e>
                        <m:sup>
                          <m:r>
                            <a:rPr lang="en-US" altLang="zh-TW" b="0" i="1" smtClean="0">
                              <a:latin typeface="Cambria Math" panose="02040503050406030204" pitchFamily="18" charset="0"/>
                              <a:ea typeface="Cambria Math" panose="02040503050406030204" pitchFamily="18" charset="0"/>
                            </a:rPr>
                            <m:t>2</m:t>
                          </m:r>
                        </m:sup>
                      </m:sSup>
                    </m:oMath>
                  </m:oMathPara>
                </a14:m>
                <a:endParaRPr lang="zh-TW" altLang="en-US" dirty="0"/>
              </a:p>
            </p:txBody>
          </p:sp>
        </mc:Choice>
        <mc:Fallback xmlns="">
          <p:sp>
            <p:nvSpPr>
              <p:cNvPr id="10" name="TextBox 9">
                <a:extLst>
                  <a:ext uri="{FF2B5EF4-FFF2-40B4-BE49-F238E27FC236}">
                    <a16:creationId xmlns:a16="http://schemas.microsoft.com/office/drawing/2014/main" id="{4AB58907-501A-10FB-F01A-3CC8EBF98A1C}"/>
                  </a:ext>
                </a:extLst>
              </p:cNvPr>
              <p:cNvSpPr txBox="1">
                <a:spLocks noRot="1" noChangeAspect="1" noMove="1" noResize="1" noEditPoints="1" noAdjustHandles="1" noChangeArrowheads="1" noChangeShapeType="1" noTextEdit="1"/>
              </p:cNvSpPr>
              <p:nvPr/>
            </p:nvSpPr>
            <p:spPr>
              <a:xfrm>
                <a:off x="8840709" y="1566314"/>
                <a:ext cx="2726451" cy="276999"/>
              </a:xfrm>
              <a:prstGeom prst="rect">
                <a:avLst/>
              </a:prstGeom>
              <a:blipFill>
                <a:blip r:embed="rId2"/>
                <a:stretch>
                  <a:fillRect l="-1563" t="-2222" r="-223" b="-35556"/>
                </a:stretch>
              </a:blipFill>
            </p:spPr>
            <p:txBody>
              <a:bodyPr/>
              <a:lstStyle/>
              <a:p>
                <a:r>
                  <a:rPr lang="zh-TW" altLang="en-US">
                    <a:noFill/>
                  </a:rPr>
                  <a:t> </a:t>
                </a:r>
              </a:p>
            </p:txBody>
          </p:sp>
        </mc:Fallback>
      </mc:AlternateContent>
      <p:sp>
        <p:nvSpPr>
          <p:cNvPr id="12" name="TextBox 11">
            <a:extLst>
              <a:ext uri="{FF2B5EF4-FFF2-40B4-BE49-F238E27FC236}">
                <a16:creationId xmlns:a16="http://schemas.microsoft.com/office/drawing/2014/main" id="{A1409AE6-4702-EA42-5BB7-F2A431D51B61}"/>
              </a:ext>
            </a:extLst>
          </p:cNvPr>
          <p:cNvSpPr txBox="1"/>
          <p:nvPr/>
        </p:nvSpPr>
        <p:spPr>
          <a:xfrm>
            <a:off x="8769790" y="2029904"/>
            <a:ext cx="3422210" cy="923330"/>
          </a:xfrm>
          <a:prstGeom prst="rect">
            <a:avLst/>
          </a:prstGeom>
          <a:noFill/>
        </p:spPr>
        <p:txBody>
          <a:bodyPr wrap="square" rtlCol="0">
            <a:spAutoFit/>
          </a:bodyPr>
          <a:lstStyle/>
          <a:p>
            <a:r>
              <a:rPr lang="en-US" altLang="zh-TW" dirty="0"/>
              <a:t>Which is essentially close enough to consume the O2 inhibition 27.7117.</a:t>
            </a:r>
            <a:endParaRPr lang="zh-TW" altLang="en-US" dirty="0"/>
          </a:p>
        </p:txBody>
      </p:sp>
      <p:sp>
        <p:nvSpPr>
          <p:cNvPr id="14" name="TextBox 13">
            <a:extLst>
              <a:ext uri="{FF2B5EF4-FFF2-40B4-BE49-F238E27FC236}">
                <a16:creationId xmlns:a16="http://schemas.microsoft.com/office/drawing/2014/main" id="{0F92A249-EE03-D8AE-14B3-93072021DDD5}"/>
              </a:ext>
            </a:extLst>
          </p:cNvPr>
          <p:cNvSpPr txBox="1"/>
          <p:nvPr/>
        </p:nvSpPr>
        <p:spPr>
          <a:xfrm>
            <a:off x="8769790" y="3053848"/>
            <a:ext cx="3422210" cy="646331"/>
          </a:xfrm>
          <a:prstGeom prst="rect">
            <a:avLst/>
          </a:prstGeom>
          <a:noFill/>
        </p:spPr>
        <p:txBody>
          <a:bodyPr wrap="square" rtlCol="0">
            <a:spAutoFit/>
          </a:bodyPr>
          <a:lstStyle/>
          <a:p>
            <a:r>
              <a:rPr lang="en-US" altLang="zh-TW" dirty="0"/>
              <a:t>The controller has an overshoot around 0.2, and it’s not reversible.</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9F04644-D631-4D9A-BA46-503D46DF1F78}"/>
                  </a:ext>
                </a:extLst>
              </p:cNvPr>
              <p:cNvSpPr txBox="1"/>
              <p:nvPr/>
            </p:nvSpPr>
            <p:spPr>
              <a:xfrm>
                <a:off x="401950" y="4176108"/>
                <a:ext cx="4314899" cy="70436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𝑡𝑟𝑎𝑐𝑘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1</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𝑇</m:t>
                              </m:r>
                            </m:sub>
                          </m:sSub>
                        </m:den>
                      </m:f>
                      <m:nary>
                        <m:naryPr>
                          <m:chr m:val="∑"/>
                          <m:supHide m:val="on"/>
                          <m:ctrlPr>
                            <a:rPr lang="en-US" altLang="zh-TW" b="0" i="1" smtClean="0">
                              <a:latin typeface="Cambria Math" panose="02040503050406030204" pitchFamily="18" charset="0"/>
                            </a:rPr>
                          </m:ctrlPr>
                        </m:naryPr>
                        <m:sub>
                          <m:d>
                            <m:dPr>
                              <m:ctrlPr>
                                <a:rPr lang="en-US" altLang="zh-TW" b="0" i="1" smtClean="0">
                                  <a:latin typeface="Cambria Math" panose="02040503050406030204" pitchFamily="18" charset="0"/>
                                </a:rPr>
                              </m:ctrlPr>
                            </m:dPr>
                            <m:e>
                              <m:r>
                                <m:rPr>
                                  <m:brk m:alnAt="7"/>
                                </m:rPr>
                                <a:rPr lang="en-US" altLang="zh-TW" b="0" i="1" smtClean="0">
                                  <a:latin typeface="Cambria Math" panose="02040503050406030204" pitchFamily="18" charset="0"/>
                                </a:rPr>
                                <m:t>𝑥</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𝑦</m:t>
                              </m:r>
                            </m:e>
                          </m:d>
                          <m:r>
                            <a:rPr lang="en-US" altLang="zh-TW" b="0" i="1" smtClean="0">
                              <a:latin typeface="Cambria Math" panose="02040503050406030204" pitchFamily="18" charset="0"/>
                            </a:rPr>
                            <m:t>∈</m:t>
                          </m:r>
                          <m:r>
                            <a:rPr lang="en-US" altLang="zh-TW" b="0" i="1" smtClean="0">
                              <a:latin typeface="Cambria Math" panose="02040503050406030204" pitchFamily="18" charset="0"/>
                            </a:rPr>
                            <m:t>𝑇</m:t>
                          </m: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𝐷</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e>
                              </m:d>
                            </m:e>
                            <m:sup>
                              <m:r>
                                <a:rPr lang="en-US" altLang="zh-TW" b="0" i="1" smtClean="0">
                                  <a:latin typeface="Cambria Math" panose="02040503050406030204" pitchFamily="18" charset="0"/>
                                </a:rPr>
                                <m:t>2</m:t>
                              </m:r>
                            </m:sup>
                          </m:sSup>
                        </m:e>
                      </m:nary>
                    </m:oMath>
                  </m:oMathPara>
                </a14:m>
                <a:endParaRPr lang="zh-TW" altLang="en-US" dirty="0"/>
              </a:p>
            </p:txBody>
          </p:sp>
        </mc:Choice>
        <mc:Fallback xmlns="">
          <p:sp>
            <p:nvSpPr>
              <p:cNvPr id="15" name="TextBox 14">
                <a:extLst>
                  <a:ext uri="{FF2B5EF4-FFF2-40B4-BE49-F238E27FC236}">
                    <a16:creationId xmlns:a16="http://schemas.microsoft.com/office/drawing/2014/main" id="{59F04644-D631-4D9A-BA46-503D46DF1F78}"/>
                  </a:ext>
                </a:extLst>
              </p:cNvPr>
              <p:cNvSpPr txBox="1">
                <a:spLocks noRot="1" noChangeAspect="1" noMove="1" noResize="1" noEditPoints="1" noAdjustHandles="1" noChangeArrowheads="1" noChangeShapeType="1" noTextEdit="1"/>
              </p:cNvSpPr>
              <p:nvPr/>
            </p:nvSpPr>
            <p:spPr>
              <a:xfrm>
                <a:off x="401950" y="4176108"/>
                <a:ext cx="4314899" cy="704360"/>
              </a:xfrm>
              <a:prstGeom prst="rect">
                <a:avLst/>
              </a:prstGeom>
              <a:blipFill>
                <a:blip r:embed="rId3"/>
                <a:stretch>
                  <a:fillRect/>
                </a:stretch>
              </a:blipFill>
            </p:spPr>
            <p:txBody>
              <a:bodyPr/>
              <a:lstStyle/>
              <a:p>
                <a:r>
                  <a:rPr lang="zh-TW" altLang="en-US">
                    <a:noFill/>
                  </a:rPr>
                  <a:t> </a:t>
                </a:r>
              </a:p>
            </p:txBody>
          </p:sp>
        </mc:Fallback>
      </mc:AlternateContent>
      <p:sp>
        <p:nvSpPr>
          <p:cNvPr id="17" name="TextBox 16">
            <a:extLst>
              <a:ext uri="{FF2B5EF4-FFF2-40B4-BE49-F238E27FC236}">
                <a16:creationId xmlns:a16="http://schemas.microsoft.com/office/drawing/2014/main" id="{3300F205-3E37-1396-D2DF-EC7BCFCA69CC}"/>
              </a:ext>
            </a:extLst>
          </p:cNvPr>
          <p:cNvSpPr txBox="1"/>
          <p:nvPr/>
        </p:nvSpPr>
        <p:spPr>
          <a:xfrm>
            <a:off x="401950" y="5052024"/>
            <a:ext cx="6632594" cy="1200329"/>
          </a:xfrm>
          <a:prstGeom prst="rect">
            <a:avLst/>
          </a:prstGeom>
          <a:noFill/>
        </p:spPr>
        <p:txBody>
          <a:bodyPr wrap="square" rtlCol="0">
            <a:spAutoFit/>
          </a:bodyPr>
          <a:lstStyle/>
          <a:p>
            <a:pPr marL="342900" indent="-342900">
              <a:buFont typeface="+mj-lt"/>
              <a:buAutoNum type="arabicPeriod"/>
            </a:pPr>
            <a:r>
              <a:rPr lang="en-US" altLang="zh-TW" dirty="0"/>
              <a:t>Increase the controller resolution</a:t>
            </a:r>
          </a:p>
          <a:p>
            <a:pPr marL="342900" indent="-342900">
              <a:buFont typeface="+mj-lt"/>
              <a:buAutoNum type="arabicPeriod"/>
            </a:pPr>
            <a:r>
              <a:rPr lang="en-US" altLang="zh-TW" dirty="0"/>
              <a:t>Increase the optimizer iteration to have better convergence</a:t>
            </a:r>
          </a:p>
          <a:p>
            <a:pPr marL="342900" indent="-342900">
              <a:buFont typeface="+mj-lt"/>
              <a:buAutoNum type="arabicPeriod"/>
            </a:pPr>
            <a:r>
              <a:rPr lang="en-US" altLang="zh-TW" dirty="0"/>
              <a:t>Constraint the initial masks intentionally</a:t>
            </a:r>
          </a:p>
          <a:p>
            <a:pPr marL="342900" indent="-342900">
              <a:buFont typeface="+mj-lt"/>
              <a:buAutoNum type="arabicPeriod"/>
            </a:pPr>
            <a:r>
              <a:rPr lang="en-US" altLang="zh-TW" dirty="0"/>
              <a:t>Modify the loss weight or even the definition</a:t>
            </a:r>
            <a:endParaRPr lang="zh-TW" altLang="en-US" dirty="0"/>
          </a:p>
        </p:txBody>
      </p:sp>
    </p:spTree>
    <p:extLst>
      <p:ext uri="{BB962C8B-B14F-4D97-AF65-F5344CB8AC3E}">
        <p14:creationId xmlns:p14="http://schemas.microsoft.com/office/powerpoint/2010/main" val="353944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93BE6-E4BD-04A7-FC7B-B69E699CAC01}"/>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ABFF4B-1026-CE20-C7D8-F891E38680CB}"/>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0.5 to 0.25</a:t>
                </a:r>
                <a:endParaRPr lang="zh-TW" altLang="en-US" dirty="0"/>
              </a:p>
            </p:txBody>
          </p:sp>
        </mc:Choice>
        <mc:Fallback xmlns="">
          <p:sp>
            <p:nvSpPr>
              <p:cNvPr id="3" name="Content Placeholder 2">
                <a:extLst>
                  <a:ext uri="{FF2B5EF4-FFF2-40B4-BE49-F238E27FC236}">
                    <a16:creationId xmlns:a16="http://schemas.microsoft.com/office/drawing/2014/main" id="{4DABFF4B-1026-CE20-C7D8-F891E38680CB}"/>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8005466-FD76-BC0D-FB98-76C5C80EBD32}"/>
              </a:ext>
            </a:extLst>
          </p:cNvPr>
          <p:cNvSpPr>
            <a:spLocks noGrp="1"/>
          </p:cNvSpPr>
          <p:nvPr>
            <p:ph type="sldNum" sz="quarter" idx="12"/>
          </p:nvPr>
        </p:nvSpPr>
        <p:spPr/>
        <p:txBody>
          <a:bodyPr/>
          <a:lstStyle/>
          <a:p>
            <a:fld id="{5A741E56-E3D9-46FF-B47D-3FCBEAE97EB2}" type="slidenum">
              <a:rPr lang="en-US" smtClean="0"/>
              <a:pPr/>
              <a:t>17</a:t>
            </a:fld>
            <a:endParaRPr lang="en-US" dirty="0"/>
          </a:p>
        </p:txBody>
      </p:sp>
      <p:sp>
        <p:nvSpPr>
          <p:cNvPr id="5" name="Footer Placeholder 4">
            <a:extLst>
              <a:ext uri="{FF2B5EF4-FFF2-40B4-BE49-F238E27FC236}">
                <a16:creationId xmlns:a16="http://schemas.microsoft.com/office/drawing/2014/main" id="{B99F85EB-B381-9594-FBAE-3636BE03668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8157EF8-A0F1-FDBF-7A2A-1D9B33DA4469}"/>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7" name="Group 6">
            <a:extLst>
              <a:ext uri="{FF2B5EF4-FFF2-40B4-BE49-F238E27FC236}">
                <a16:creationId xmlns:a16="http://schemas.microsoft.com/office/drawing/2014/main" id="{B464654A-4739-3851-BE03-3C8DB2B1FE1C}"/>
              </a:ext>
            </a:extLst>
          </p:cNvPr>
          <p:cNvGrpSpPr/>
          <p:nvPr/>
        </p:nvGrpSpPr>
        <p:grpSpPr>
          <a:xfrm>
            <a:off x="2438006" y="1689046"/>
            <a:ext cx="2069537" cy="1713474"/>
            <a:chOff x="3126842" y="1556325"/>
            <a:chExt cx="2069537" cy="1713474"/>
          </a:xfrm>
        </p:grpSpPr>
        <p:pic>
          <p:nvPicPr>
            <p:cNvPr id="8" name="Picture 7">
              <a:extLst>
                <a:ext uri="{FF2B5EF4-FFF2-40B4-BE49-F238E27FC236}">
                  <a16:creationId xmlns:a16="http://schemas.microsoft.com/office/drawing/2014/main" id="{7340C9A4-3F96-F4A6-0DE0-4FDF6EDDD15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7" cy="1293460"/>
            </a:xfrm>
            <a:prstGeom prst="rect">
              <a:avLst/>
            </a:prstGeom>
          </p:spPr>
        </p:pic>
        <p:sp>
          <p:nvSpPr>
            <p:cNvPr id="9" name="TextBox 8">
              <a:extLst>
                <a:ext uri="{FF2B5EF4-FFF2-40B4-BE49-F238E27FC236}">
                  <a16:creationId xmlns:a16="http://schemas.microsoft.com/office/drawing/2014/main" id="{C4A38522-07E9-059F-1D1F-90792A5D3EFB}"/>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C29B9C20-833D-08FD-EB59-4EAF5BEBABD3}"/>
              </a:ext>
            </a:extLst>
          </p:cNvPr>
          <p:cNvGrpSpPr/>
          <p:nvPr/>
        </p:nvGrpSpPr>
        <p:grpSpPr>
          <a:xfrm>
            <a:off x="230582" y="1689046"/>
            <a:ext cx="2069537" cy="1713474"/>
            <a:chOff x="336831" y="1556325"/>
            <a:chExt cx="2069537" cy="1713474"/>
          </a:xfrm>
        </p:grpSpPr>
        <p:pic>
          <p:nvPicPr>
            <p:cNvPr id="11" name="Picture 10">
              <a:extLst>
                <a:ext uri="{FF2B5EF4-FFF2-40B4-BE49-F238E27FC236}">
                  <a16:creationId xmlns:a16="http://schemas.microsoft.com/office/drawing/2014/main" id="{F358372A-EDA5-E0CC-3F38-A4B35EA469A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7" cy="1293460"/>
            </a:xfrm>
            <a:prstGeom prst="rect">
              <a:avLst/>
            </a:prstGeom>
          </p:spPr>
        </p:pic>
        <p:sp>
          <p:nvSpPr>
            <p:cNvPr id="12" name="TextBox 11">
              <a:extLst>
                <a:ext uri="{FF2B5EF4-FFF2-40B4-BE49-F238E27FC236}">
                  <a16:creationId xmlns:a16="http://schemas.microsoft.com/office/drawing/2014/main" id="{50857063-4C44-8F8A-B12C-DF982A2CA626}"/>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AAFF1239-1CBF-5948-DC1A-9FF124CF13D7}"/>
              </a:ext>
            </a:extLst>
          </p:cNvPr>
          <p:cNvGrpSpPr/>
          <p:nvPr/>
        </p:nvGrpSpPr>
        <p:grpSpPr>
          <a:xfrm>
            <a:off x="6852854" y="4209030"/>
            <a:ext cx="2069537" cy="1739205"/>
            <a:chOff x="8640471" y="4247332"/>
            <a:chExt cx="2069537" cy="1739205"/>
          </a:xfrm>
        </p:grpSpPr>
        <p:pic>
          <p:nvPicPr>
            <p:cNvPr id="14" name="Picture 13">
              <a:extLst>
                <a:ext uri="{FF2B5EF4-FFF2-40B4-BE49-F238E27FC236}">
                  <a16:creationId xmlns:a16="http://schemas.microsoft.com/office/drawing/2014/main" id="{4DFA57BC-3CE4-C4EE-8A70-B4432064E56A}"/>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7" cy="1293460"/>
            </a:xfrm>
            <a:prstGeom prst="rect">
              <a:avLst/>
            </a:prstGeom>
          </p:spPr>
        </p:pic>
        <p:sp>
          <p:nvSpPr>
            <p:cNvPr id="15" name="TextBox 14">
              <a:extLst>
                <a:ext uri="{FF2B5EF4-FFF2-40B4-BE49-F238E27FC236}">
                  <a16:creationId xmlns:a16="http://schemas.microsoft.com/office/drawing/2014/main" id="{4049DC90-B5BB-E822-91A3-620373AE098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FE39E81B-3175-1ACF-F0F7-C32D1C7B9620}"/>
              </a:ext>
            </a:extLst>
          </p:cNvPr>
          <p:cNvGrpSpPr/>
          <p:nvPr/>
        </p:nvGrpSpPr>
        <p:grpSpPr>
          <a:xfrm>
            <a:off x="4645430" y="4234762"/>
            <a:ext cx="2069537" cy="1713473"/>
            <a:chOff x="5883656" y="4247332"/>
            <a:chExt cx="2069537" cy="1713473"/>
          </a:xfrm>
        </p:grpSpPr>
        <p:pic>
          <p:nvPicPr>
            <p:cNvPr id="17" name="Picture 16">
              <a:extLst>
                <a:ext uri="{FF2B5EF4-FFF2-40B4-BE49-F238E27FC236}">
                  <a16:creationId xmlns:a16="http://schemas.microsoft.com/office/drawing/2014/main" id="{9215274C-0D63-B6CF-7135-FCBC6B5A3F4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7" cy="1293460"/>
            </a:xfrm>
            <a:prstGeom prst="rect">
              <a:avLst/>
            </a:prstGeom>
          </p:spPr>
        </p:pic>
        <p:sp>
          <p:nvSpPr>
            <p:cNvPr id="18" name="TextBox 17">
              <a:extLst>
                <a:ext uri="{FF2B5EF4-FFF2-40B4-BE49-F238E27FC236}">
                  <a16:creationId xmlns:a16="http://schemas.microsoft.com/office/drawing/2014/main" id="{68A99A68-A85E-88C5-83EC-07DFC60A44DF}"/>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C1306B0E-D391-5DF2-5ECD-E7FB64AF1D10}"/>
              </a:ext>
            </a:extLst>
          </p:cNvPr>
          <p:cNvGrpSpPr/>
          <p:nvPr/>
        </p:nvGrpSpPr>
        <p:grpSpPr>
          <a:xfrm>
            <a:off x="230582" y="4247331"/>
            <a:ext cx="2069537" cy="1713474"/>
            <a:chOff x="8565463" y="1556325"/>
            <a:chExt cx="2069537" cy="1713474"/>
          </a:xfrm>
        </p:grpSpPr>
        <p:pic>
          <p:nvPicPr>
            <p:cNvPr id="20" name="Picture 19">
              <a:extLst>
                <a:ext uri="{FF2B5EF4-FFF2-40B4-BE49-F238E27FC236}">
                  <a16:creationId xmlns:a16="http://schemas.microsoft.com/office/drawing/2014/main" id="{A213685A-D23F-8215-AE02-CAEA1B1259C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7" cy="1293460"/>
            </a:xfrm>
            <a:prstGeom prst="rect">
              <a:avLst/>
            </a:prstGeom>
          </p:spPr>
        </p:pic>
        <p:sp>
          <p:nvSpPr>
            <p:cNvPr id="21" name="TextBox 20">
              <a:extLst>
                <a:ext uri="{FF2B5EF4-FFF2-40B4-BE49-F238E27FC236}">
                  <a16:creationId xmlns:a16="http://schemas.microsoft.com/office/drawing/2014/main" id="{9A846A27-A67D-F4CE-5E82-B23E290EEFC4}"/>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5E1838AD-70C9-31B9-6218-BA01856543D2}"/>
              </a:ext>
            </a:extLst>
          </p:cNvPr>
          <p:cNvGrpSpPr/>
          <p:nvPr/>
        </p:nvGrpSpPr>
        <p:grpSpPr>
          <a:xfrm>
            <a:off x="4645430" y="1689046"/>
            <a:ext cx="2069537" cy="1713474"/>
            <a:chOff x="6084275" y="1556325"/>
            <a:chExt cx="2069537" cy="1713474"/>
          </a:xfrm>
        </p:grpSpPr>
        <p:pic>
          <p:nvPicPr>
            <p:cNvPr id="23" name="Picture 22">
              <a:extLst>
                <a:ext uri="{FF2B5EF4-FFF2-40B4-BE49-F238E27FC236}">
                  <a16:creationId xmlns:a16="http://schemas.microsoft.com/office/drawing/2014/main" id="{A95FFBC2-4608-07CD-3CC1-F91B862A947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7" cy="1293460"/>
            </a:xfrm>
            <a:prstGeom prst="rect">
              <a:avLst/>
            </a:prstGeom>
          </p:spPr>
        </p:pic>
        <p:sp>
          <p:nvSpPr>
            <p:cNvPr id="24" name="TextBox 23">
              <a:extLst>
                <a:ext uri="{FF2B5EF4-FFF2-40B4-BE49-F238E27FC236}">
                  <a16:creationId xmlns:a16="http://schemas.microsoft.com/office/drawing/2014/main" id="{BEC68E85-DF06-F334-D731-88821FBABDB6}"/>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013833BB-688D-DA44-E835-8BA135B32FDC}"/>
              </a:ext>
            </a:extLst>
          </p:cNvPr>
          <p:cNvGrpSpPr/>
          <p:nvPr/>
        </p:nvGrpSpPr>
        <p:grpSpPr>
          <a:xfrm>
            <a:off x="2438006" y="4234762"/>
            <a:ext cx="2069537" cy="1713474"/>
            <a:chOff x="336831" y="4346226"/>
            <a:chExt cx="2069537" cy="1713474"/>
          </a:xfrm>
        </p:grpSpPr>
        <p:pic>
          <p:nvPicPr>
            <p:cNvPr id="26" name="Picture 25">
              <a:extLst>
                <a:ext uri="{FF2B5EF4-FFF2-40B4-BE49-F238E27FC236}">
                  <a16:creationId xmlns:a16="http://schemas.microsoft.com/office/drawing/2014/main" id="{E3B8551C-1822-C2E5-3AB4-25C9D9B68BC0}"/>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7" cy="1293460"/>
            </a:xfrm>
            <a:prstGeom prst="rect">
              <a:avLst/>
            </a:prstGeom>
          </p:spPr>
        </p:pic>
        <p:sp>
          <p:nvSpPr>
            <p:cNvPr id="27" name="TextBox 26">
              <a:extLst>
                <a:ext uri="{FF2B5EF4-FFF2-40B4-BE49-F238E27FC236}">
                  <a16:creationId xmlns:a16="http://schemas.microsoft.com/office/drawing/2014/main" id="{ADCF77D3-E234-49C5-7A62-427DD7009957}"/>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404CD06E-5A64-1427-08B5-6186F8F1FC9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061169" y="1084617"/>
            <a:ext cx="4876800" cy="3048000"/>
          </a:xfrm>
          <a:prstGeom prst="rect">
            <a:avLst/>
          </a:prstGeom>
        </p:spPr>
      </p:pic>
    </p:spTree>
    <p:extLst>
      <p:ext uri="{BB962C8B-B14F-4D97-AF65-F5344CB8AC3E}">
        <p14:creationId xmlns:p14="http://schemas.microsoft.com/office/powerpoint/2010/main" val="722314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701FB-F19B-3220-CEA2-214CABB2D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2494B-9457-4DFB-085E-FD99F4F6D3A8}"/>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B48A5D-9AFD-6EF9-E535-A87E41DECD97}"/>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0.25 to 0.1</a:t>
                </a:r>
                <a:endParaRPr lang="zh-TW" altLang="en-US" dirty="0"/>
              </a:p>
            </p:txBody>
          </p:sp>
        </mc:Choice>
        <mc:Fallback xmlns="">
          <p:sp>
            <p:nvSpPr>
              <p:cNvPr id="3" name="Content Placeholder 2">
                <a:extLst>
                  <a:ext uri="{FF2B5EF4-FFF2-40B4-BE49-F238E27FC236}">
                    <a16:creationId xmlns:a16="http://schemas.microsoft.com/office/drawing/2014/main" id="{02B48A5D-9AFD-6EF9-E535-A87E41DECD97}"/>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ABFA27C-4664-0B24-B358-CD9BCED7AFF2}"/>
              </a:ext>
            </a:extLst>
          </p:cNvPr>
          <p:cNvSpPr>
            <a:spLocks noGrp="1"/>
          </p:cNvSpPr>
          <p:nvPr>
            <p:ph type="sldNum" sz="quarter" idx="12"/>
          </p:nvPr>
        </p:nvSpPr>
        <p:spPr/>
        <p:txBody>
          <a:bodyPr/>
          <a:lstStyle/>
          <a:p>
            <a:fld id="{5A741E56-E3D9-46FF-B47D-3FCBEAE97EB2}" type="slidenum">
              <a:rPr lang="en-US" smtClean="0"/>
              <a:pPr/>
              <a:t>18</a:t>
            </a:fld>
            <a:endParaRPr lang="en-US" dirty="0"/>
          </a:p>
        </p:txBody>
      </p:sp>
      <p:sp>
        <p:nvSpPr>
          <p:cNvPr id="5" name="Footer Placeholder 4">
            <a:extLst>
              <a:ext uri="{FF2B5EF4-FFF2-40B4-BE49-F238E27FC236}">
                <a16:creationId xmlns:a16="http://schemas.microsoft.com/office/drawing/2014/main" id="{4EA7B6CE-6408-722A-EBF4-88F76BBAC1F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549AE0FA-8D78-AE6A-E4B2-AF4FB643527A}"/>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7" name="Group 6">
            <a:extLst>
              <a:ext uri="{FF2B5EF4-FFF2-40B4-BE49-F238E27FC236}">
                <a16:creationId xmlns:a16="http://schemas.microsoft.com/office/drawing/2014/main" id="{C3F585AC-AA9E-A357-E0E1-2C6C634E3959}"/>
              </a:ext>
            </a:extLst>
          </p:cNvPr>
          <p:cNvGrpSpPr/>
          <p:nvPr/>
        </p:nvGrpSpPr>
        <p:grpSpPr>
          <a:xfrm>
            <a:off x="2438006" y="1689046"/>
            <a:ext cx="2069536" cy="1713474"/>
            <a:chOff x="3126842" y="1556325"/>
            <a:chExt cx="2069536" cy="1713474"/>
          </a:xfrm>
        </p:grpSpPr>
        <p:pic>
          <p:nvPicPr>
            <p:cNvPr id="8" name="Picture 7">
              <a:extLst>
                <a:ext uri="{FF2B5EF4-FFF2-40B4-BE49-F238E27FC236}">
                  <a16:creationId xmlns:a16="http://schemas.microsoft.com/office/drawing/2014/main" id="{5BA3CEFC-B27C-8D15-DA8C-0A36AC794B3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6" cy="1293460"/>
            </a:xfrm>
            <a:prstGeom prst="rect">
              <a:avLst/>
            </a:prstGeom>
          </p:spPr>
        </p:pic>
        <p:sp>
          <p:nvSpPr>
            <p:cNvPr id="9" name="TextBox 8">
              <a:extLst>
                <a:ext uri="{FF2B5EF4-FFF2-40B4-BE49-F238E27FC236}">
                  <a16:creationId xmlns:a16="http://schemas.microsoft.com/office/drawing/2014/main" id="{E6FDC630-9E42-FF77-33D5-A490A652C6DF}"/>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B525E108-0C1D-C465-04F7-DFF66F47B761}"/>
              </a:ext>
            </a:extLst>
          </p:cNvPr>
          <p:cNvGrpSpPr/>
          <p:nvPr/>
        </p:nvGrpSpPr>
        <p:grpSpPr>
          <a:xfrm>
            <a:off x="230582" y="1689046"/>
            <a:ext cx="2069536" cy="1713474"/>
            <a:chOff x="336831" y="1556325"/>
            <a:chExt cx="2069536" cy="1713474"/>
          </a:xfrm>
        </p:grpSpPr>
        <p:pic>
          <p:nvPicPr>
            <p:cNvPr id="11" name="Picture 10">
              <a:extLst>
                <a:ext uri="{FF2B5EF4-FFF2-40B4-BE49-F238E27FC236}">
                  <a16:creationId xmlns:a16="http://schemas.microsoft.com/office/drawing/2014/main" id="{3901AAB9-EE72-EC40-C19F-8D515E60CC9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6" cy="1293460"/>
            </a:xfrm>
            <a:prstGeom prst="rect">
              <a:avLst/>
            </a:prstGeom>
          </p:spPr>
        </p:pic>
        <p:sp>
          <p:nvSpPr>
            <p:cNvPr id="12" name="TextBox 11">
              <a:extLst>
                <a:ext uri="{FF2B5EF4-FFF2-40B4-BE49-F238E27FC236}">
                  <a16:creationId xmlns:a16="http://schemas.microsoft.com/office/drawing/2014/main" id="{D412EC37-2CAF-8C66-9986-2FCB6FEC2A8D}"/>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147DFBDA-0356-792D-E97C-526D7E29F814}"/>
              </a:ext>
            </a:extLst>
          </p:cNvPr>
          <p:cNvGrpSpPr/>
          <p:nvPr/>
        </p:nvGrpSpPr>
        <p:grpSpPr>
          <a:xfrm>
            <a:off x="6852854" y="4209030"/>
            <a:ext cx="2069536" cy="1739205"/>
            <a:chOff x="8640471" y="4247332"/>
            <a:chExt cx="2069536" cy="1739205"/>
          </a:xfrm>
        </p:grpSpPr>
        <p:pic>
          <p:nvPicPr>
            <p:cNvPr id="14" name="Picture 13">
              <a:extLst>
                <a:ext uri="{FF2B5EF4-FFF2-40B4-BE49-F238E27FC236}">
                  <a16:creationId xmlns:a16="http://schemas.microsoft.com/office/drawing/2014/main" id="{E3771A7D-E59A-CEF1-D7A2-8BEF5CF9E8A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6" cy="1293460"/>
            </a:xfrm>
            <a:prstGeom prst="rect">
              <a:avLst/>
            </a:prstGeom>
          </p:spPr>
        </p:pic>
        <p:sp>
          <p:nvSpPr>
            <p:cNvPr id="15" name="TextBox 14">
              <a:extLst>
                <a:ext uri="{FF2B5EF4-FFF2-40B4-BE49-F238E27FC236}">
                  <a16:creationId xmlns:a16="http://schemas.microsoft.com/office/drawing/2014/main" id="{16B72F7B-DD25-5916-3223-71AA3A2CA8D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AB755EE4-2964-57F1-E584-7785D1CDF04E}"/>
              </a:ext>
            </a:extLst>
          </p:cNvPr>
          <p:cNvGrpSpPr/>
          <p:nvPr/>
        </p:nvGrpSpPr>
        <p:grpSpPr>
          <a:xfrm>
            <a:off x="4645430" y="4234762"/>
            <a:ext cx="2069536" cy="1713473"/>
            <a:chOff x="5883656" y="4247332"/>
            <a:chExt cx="2069536" cy="1713473"/>
          </a:xfrm>
        </p:grpSpPr>
        <p:pic>
          <p:nvPicPr>
            <p:cNvPr id="17" name="Picture 16">
              <a:extLst>
                <a:ext uri="{FF2B5EF4-FFF2-40B4-BE49-F238E27FC236}">
                  <a16:creationId xmlns:a16="http://schemas.microsoft.com/office/drawing/2014/main" id="{F2CE73CA-3E2F-0531-8D45-0CF6C8E3212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6" cy="1293460"/>
            </a:xfrm>
            <a:prstGeom prst="rect">
              <a:avLst/>
            </a:prstGeom>
          </p:spPr>
        </p:pic>
        <p:sp>
          <p:nvSpPr>
            <p:cNvPr id="18" name="TextBox 17">
              <a:extLst>
                <a:ext uri="{FF2B5EF4-FFF2-40B4-BE49-F238E27FC236}">
                  <a16:creationId xmlns:a16="http://schemas.microsoft.com/office/drawing/2014/main" id="{E679CF63-1042-2562-EC88-35BE29D44D5A}"/>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A1070919-8733-2F19-ACC2-E75B7CFD1E05}"/>
              </a:ext>
            </a:extLst>
          </p:cNvPr>
          <p:cNvGrpSpPr/>
          <p:nvPr/>
        </p:nvGrpSpPr>
        <p:grpSpPr>
          <a:xfrm>
            <a:off x="230582" y="4247331"/>
            <a:ext cx="2069536" cy="1713474"/>
            <a:chOff x="8565463" y="1556325"/>
            <a:chExt cx="2069536" cy="1713474"/>
          </a:xfrm>
        </p:grpSpPr>
        <p:pic>
          <p:nvPicPr>
            <p:cNvPr id="20" name="Picture 19">
              <a:extLst>
                <a:ext uri="{FF2B5EF4-FFF2-40B4-BE49-F238E27FC236}">
                  <a16:creationId xmlns:a16="http://schemas.microsoft.com/office/drawing/2014/main" id="{EDFB5B78-E0AA-D1D5-BFB3-BB53A4D8F92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6" cy="1293460"/>
            </a:xfrm>
            <a:prstGeom prst="rect">
              <a:avLst/>
            </a:prstGeom>
          </p:spPr>
        </p:pic>
        <p:sp>
          <p:nvSpPr>
            <p:cNvPr id="21" name="TextBox 20">
              <a:extLst>
                <a:ext uri="{FF2B5EF4-FFF2-40B4-BE49-F238E27FC236}">
                  <a16:creationId xmlns:a16="http://schemas.microsoft.com/office/drawing/2014/main" id="{B1FD9CDF-E4E1-A2DB-FF8A-6C1F2ED0881C}"/>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2B9FE422-A605-BE8F-EA0E-4D241488FF91}"/>
              </a:ext>
            </a:extLst>
          </p:cNvPr>
          <p:cNvGrpSpPr/>
          <p:nvPr/>
        </p:nvGrpSpPr>
        <p:grpSpPr>
          <a:xfrm>
            <a:off x="4645430" y="1689046"/>
            <a:ext cx="2069536" cy="1713474"/>
            <a:chOff x="6084275" y="1556325"/>
            <a:chExt cx="2069536" cy="1713474"/>
          </a:xfrm>
        </p:grpSpPr>
        <p:pic>
          <p:nvPicPr>
            <p:cNvPr id="23" name="Picture 22">
              <a:extLst>
                <a:ext uri="{FF2B5EF4-FFF2-40B4-BE49-F238E27FC236}">
                  <a16:creationId xmlns:a16="http://schemas.microsoft.com/office/drawing/2014/main" id="{FC3475E1-E7C3-408A-F2E7-868A510EFBCA}"/>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6" cy="1293460"/>
            </a:xfrm>
            <a:prstGeom prst="rect">
              <a:avLst/>
            </a:prstGeom>
          </p:spPr>
        </p:pic>
        <p:sp>
          <p:nvSpPr>
            <p:cNvPr id="24" name="TextBox 23">
              <a:extLst>
                <a:ext uri="{FF2B5EF4-FFF2-40B4-BE49-F238E27FC236}">
                  <a16:creationId xmlns:a16="http://schemas.microsoft.com/office/drawing/2014/main" id="{A60D5D45-6F94-9D32-D174-FA811FEA1AE8}"/>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4FD32988-24B7-D2F2-C2AA-33C201D43533}"/>
              </a:ext>
            </a:extLst>
          </p:cNvPr>
          <p:cNvGrpSpPr/>
          <p:nvPr/>
        </p:nvGrpSpPr>
        <p:grpSpPr>
          <a:xfrm>
            <a:off x="2438006" y="4234762"/>
            <a:ext cx="2069536" cy="1713474"/>
            <a:chOff x="336831" y="4346226"/>
            <a:chExt cx="2069536" cy="1713474"/>
          </a:xfrm>
        </p:grpSpPr>
        <p:pic>
          <p:nvPicPr>
            <p:cNvPr id="26" name="Picture 25">
              <a:extLst>
                <a:ext uri="{FF2B5EF4-FFF2-40B4-BE49-F238E27FC236}">
                  <a16:creationId xmlns:a16="http://schemas.microsoft.com/office/drawing/2014/main" id="{3ECE8695-0822-331B-1C4E-228F384BBDAF}"/>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6" cy="1293460"/>
            </a:xfrm>
            <a:prstGeom prst="rect">
              <a:avLst/>
            </a:prstGeom>
          </p:spPr>
        </p:pic>
        <p:sp>
          <p:nvSpPr>
            <p:cNvPr id="27" name="TextBox 26">
              <a:extLst>
                <a:ext uri="{FF2B5EF4-FFF2-40B4-BE49-F238E27FC236}">
                  <a16:creationId xmlns:a16="http://schemas.microsoft.com/office/drawing/2014/main" id="{501CBDC0-A21B-BF95-6568-F7AA6A4EF45D}"/>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D2900DBC-DF3E-8B4F-3EEE-640B4A739FA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7061169" y="1084617"/>
            <a:ext cx="4876800" cy="3048000"/>
          </a:xfrm>
          <a:prstGeom prst="rect">
            <a:avLst/>
          </a:prstGeom>
        </p:spPr>
      </p:pic>
    </p:spTree>
    <p:extLst>
      <p:ext uri="{BB962C8B-B14F-4D97-AF65-F5344CB8AC3E}">
        <p14:creationId xmlns:p14="http://schemas.microsoft.com/office/powerpoint/2010/main" val="2952858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5837F-40E6-4F86-1FE8-153BD72C0E94}"/>
              </a:ext>
            </a:extLst>
          </p:cNvPr>
          <p:cNvSpPr>
            <a:spLocks noGrp="1"/>
          </p:cNvSpPr>
          <p:nvPr>
            <p:ph type="title"/>
          </p:nvPr>
        </p:nvSpPr>
        <p:spPr/>
        <p:txBody>
          <a:bodyPr/>
          <a:lstStyle/>
          <a:p>
            <a:r>
              <a:rPr lang="en-US" altLang="zh-TW" dirty="0"/>
              <a:t>1. Comparison@ t = 3.5 sec</a:t>
            </a:r>
            <a:endParaRPr lang="zh-TW" altLang="en-US" dirty="0"/>
          </a:p>
        </p:txBody>
      </p:sp>
      <p:pic>
        <p:nvPicPr>
          <p:cNvPr id="8" name="Content Placeholder 7">
            <a:extLst>
              <a:ext uri="{FF2B5EF4-FFF2-40B4-BE49-F238E27FC236}">
                <a16:creationId xmlns:a16="http://schemas.microsoft.com/office/drawing/2014/main" id="{69198896-64D5-1DA0-987D-0879F346CAA0}"/>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616024" y="808856"/>
            <a:ext cx="5023516" cy="3139697"/>
          </a:xfrm>
          <a:prstGeom prst="rect">
            <a:avLst/>
          </a:prstGeom>
        </p:spPr>
      </p:pic>
      <p:sp>
        <p:nvSpPr>
          <p:cNvPr id="4" name="Slide Number Placeholder 3">
            <a:extLst>
              <a:ext uri="{FF2B5EF4-FFF2-40B4-BE49-F238E27FC236}">
                <a16:creationId xmlns:a16="http://schemas.microsoft.com/office/drawing/2014/main" id="{DE6A05C2-FA3E-7DF8-AE0B-751A615EC816}"/>
              </a:ext>
            </a:extLst>
          </p:cNvPr>
          <p:cNvSpPr>
            <a:spLocks noGrp="1"/>
          </p:cNvSpPr>
          <p:nvPr>
            <p:ph type="sldNum" sz="quarter" idx="12"/>
          </p:nvPr>
        </p:nvSpPr>
        <p:spPr/>
        <p:txBody>
          <a:bodyPr/>
          <a:lstStyle/>
          <a:p>
            <a:fld id="{5A741E56-E3D9-46FF-B47D-3FCBEAE97EB2}" type="slidenum">
              <a:rPr lang="en-US" smtClean="0"/>
              <a:pPr/>
              <a:t>19</a:t>
            </a:fld>
            <a:endParaRPr lang="en-US" dirty="0"/>
          </a:p>
        </p:txBody>
      </p:sp>
      <p:sp>
        <p:nvSpPr>
          <p:cNvPr id="5" name="Footer Placeholder 4">
            <a:extLst>
              <a:ext uri="{FF2B5EF4-FFF2-40B4-BE49-F238E27FC236}">
                <a16:creationId xmlns:a16="http://schemas.microsoft.com/office/drawing/2014/main" id="{272D27BD-86F4-D6E3-4D68-EBEB48A7F20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B395E99-2821-5AFA-E906-009AE4E8F7D8}"/>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10" name="Picture 9">
            <a:extLst>
              <a:ext uri="{FF2B5EF4-FFF2-40B4-BE49-F238E27FC236}">
                <a16:creationId xmlns:a16="http://schemas.microsoft.com/office/drawing/2014/main" id="{E843E454-E8DA-3EDA-ABC6-EFEDB84A7B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2462" y="808857"/>
            <a:ext cx="5023516" cy="3139697"/>
          </a:xfrm>
          <a:prstGeom prst="rect">
            <a:avLst/>
          </a:prstGeom>
        </p:spPr>
      </p:pic>
      <p:pic>
        <p:nvPicPr>
          <p:cNvPr id="21" name="Picture 20">
            <a:extLst>
              <a:ext uri="{FF2B5EF4-FFF2-40B4-BE49-F238E27FC236}">
                <a16:creationId xmlns:a16="http://schemas.microsoft.com/office/drawing/2014/main" id="{8C6D77B8-E2AC-C09D-2075-A4AA3BB87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83246" y="3718303"/>
            <a:ext cx="5023515" cy="3139697"/>
          </a:xfrm>
          <a:prstGeom prst="rect">
            <a:avLst/>
          </a:prstGeom>
        </p:spPr>
      </p:pic>
    </p:spTree>
    <p:extLst>
      <p:ext uri="{BB962C8B-B14F-4D97-AF65-F5344CB8AC3E}">
        <p14:creationId xmlns:p14="http://schemas.microsoft.com/office/powerpoint/2010/main" val="1425736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579B-FF2B-C0A1-9E85-5DDC6D7C1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51E7E-2EE6-1E67-A6BB-2E09273C8256}"/>
              </a:ext>
            </a:extLst>
          </p:cNvPr>
          <p:cNvSpPr>
            <a:spLocks noGrp="1"/>
          </p:cNvSpPr>
          <p:nvPr>
            <p:ph type="title"/>
          </p:nvPr>
        </p:nvSpPr>
        <p:spPr/>
        <p:txBody>
          <a:bodyPr/>
          <a:lstStyle/>
          <a:p>
            <a:r>
              <a:rPr lang="en-US" altLang="zh-TW" dirty="0"/>
              <a:t>1. Comparison@ t = 3.5 sec</a:t>
            </a:r>
            <a:endParaRPr lang="zh-TW" altLang="en-US" dirty="0"/>
          </a:p>
        </p:txBody>
      </p:sp>
      <p:sp>
        <p:nvSpPr>
          <p:cNvPr id="4" name="Slide Number Placeholder 3">
            <a:extLst>
              <a:ext uri="{FF2B5EF4-FFF2-40B4-BE49-F238E27FC236}">
                <a16:creationId xmlns:a16="http://schemas.microsoft.com/office/drawing/2014/main" id="{B07E1405-F553-3321-AAAE-9AEC2E43A817}"/>
              </a:ext>
            </a:extLst>
          </p:cNvPr>
          <p:cNvSpPr>
            <a:spLocks noGrp="1"/>
          </p:cNvSpPr>
          <p:nvPr>
            <p:ph type="sldNum" sz="quarter" idx="12"/>
          </p:nvPr>
        </p:nvSpPr>
        <p:spPr/>
        <p:txBody>
          <a:bodyPr/>
          <a:lstStyle/>
          <a:p>
            <a:fld id="{5A741E56-E3D9-46FF-B47D-3FCBEAE97EB2}" type="slidenum">
              <a:rPr lang="en-US" smtClean="0"/>
              <a:pPr/>
              <a:t>20</a:t>
            </a:fld>
            <a:endParaRPr lang="en-US" dirty="0"/>
          </a:p>
        </p:txBody>
      </p:sp>
      <p:sp>
        <p:nvSpPr>
          <p:cNvPr id="5" name="Footer Placeholder 4">
            <a:extLst>
              <a:ext uri="{FF2B5EF4-FFF2-40B4-BE49-F238E27FC236}">
                <a16:creationId xmlns:a16="http://schemas.microsoft.com/office/drawing/2014/main" id="{DAD96C90-48E9-F2AF-8AA8-1225DDE3CFE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C1FB2FF-E105-C93B-34EA-E540830E8269}"/>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15" name="Picture 14">
            <a:extLst>
              <a:ext uri="{FF2B5EF4-FFF2-40B4-BE49-F238E27FC236}">
                <a16:creationId xmlns:a16="http://schemas.microsoft.com/office/drawing/2014/main" id="{8103CBF6-E578-4023-4564-B1711E019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1098" y="3722951"/>
            <a:ext cx="4430589" cy="2769118"/>
          </a:xfrm>
          <a:prstGeom prst="rect">
            <a:avLst/>
          </a:prstGeom>
        </p:spPr>
      </p:pic>
      <p:pic>
        <p:nvPicPr>
          <p:cNvPr id="17" name="Picture 16">
            <a:extLst>
              <a:ext uri="{FF2B5EF4-FFF2-40B4-BE49-F238E27FC236}">
                <a16:creationId xmlns:a16="http://schemas.microsoft.com/office/drawing/2014/main" id="{FAB56CB9-B72F-A618-7BCC-16DB56177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89607" y="861322"/>
            <a:ext cx="4430589" cy="2769118"/>
          </a:xfrm>
          <a:prstGeom prst="rect">
            <a:avLst/>
          </a:prstGeom>
        </p:spPr>
      </p:pic>
      <p:pic>
        <p:nvPicPr>
          <p:cNvPr id="19" name="Picture 18">
            <a:extLst>
              <a:ext uri="{FF2B5EF4-FFF2-40B4-BE49-F238E27FC236}">
                <a16:creationId xmlns:a16="http://schemas.microsoft.com/office/drawing/2014/main" id="{614E2234-25E2-7AEF-2BC8-009905084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099" y="861322"/>
            <a:ext cx="4430589" cy="2769118"/>
          </a:xfrm>
          <a:prstGeom prst="rect">
            <a:avLst/>
          </a:prstGeom>
        </p:spPr>
      </p:pic>
      <p:pic>
        <p:nvPicPr>
          <p:cNvPr id="11" name="Picture 10">
            <a:extLst>
              <a:ext uri="{FF2B5EF4-FFF2-40B4-BE49-F238E27FC236}">
                <a16:creationId xmlns:a16="http://schemas.microsoft.com/office/drawing/2014/main" id="{4BB1AFAF-2B9D-BFE3-1C66-1433A169B1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89607" y="3722951"/>
            <a:ext cx="4430589" cy="2769118"/>
          </a:xfrm>
          <a:prstGeom prst="rect">
            <a:avLst/>
          </a:prstGeom>
        </p:spPr>
      </p:pic>
    </p:spTree>
    <p:extLst>
      <p:ext uri="{BB962C8B-B14F-4D97-AF65-F5344CB8AC3E}">
        <p14:creationId xmlns:p14="http://schemas.microsoft.com/office/powerpoint/2010/main" val="351583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DE89D-3580-38C8-6DB9-BAD66D83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8C887-4C8A-0F9D-40BF-E4C47C427A26}"/>
              </a:ext>
            </a:extLst>
          </p:cNvPr>
          <p:cNvSpPr>
            <a:spLocks noGrp="1"/>
          </p:cNvSpPr>
          <p:nvPr>
            <p:ph type="title"/>
          </p:nvPr>
        </p:nvSpPr>
        <p:spPr/>
        <p:txBody>
          <a:bodyPr/>
          <a:lstStyle/>
          <a:p>
            <a:r>
              <a:rPr lang="en-US" altLang="zh-TW" dirty="0"/>
              <a:t>1. Smaller Control Step</a:t>
            </a:r>
            <a:endParaRPr lang="zh-TW" altLang="en-US" dirty="0"/>
          </a:p>
        </p:txBody>
      </p:sp>
      <p:sp>
        <p:nvSpPr>
          <p:cNvPr id="4" name="Slide Number Placeholder 3">
            <a:extLst>
              <a:ext uri="{FF2B5EF4-FFF2-40B4-BE49-F238E27FC236}">
                <a16:creationId xmlns:a16="http://schemas.microsoft.com/office/drawing/2014/main" id="{625E6B66-316C-2F89-E74F-B3C70F5D839B}"/>
              </a:ext>
            </a:extLst>
          </p:cNvPr>
          <p:cNvSpPr>
            <a:spLocks noGrp="1"/>
          </p:cNvSpPr>
          <p:nvPr>
            <p:ph type="sldNum" sz="quarter" idx="12"/>
          </p:nvPr>
        </p:nvSpPr>
        <p:spPr/>
        <p:txBody>
          <a:bodyPr/>
          <a:lstStyle/>
          <a:p>
            <a:fld id="{5A741E56-E3D9-46FF-B47D-3FCBEAE97EB2}" type="slidenum">
              <a:rPr lang="en-US" smtClean="0"/>
              <a:pPr/>
              <a:t>21</a:t>
            </a:fld>
            <a:endParaRPr lang="en-US" dirty="0"/>
          </a:p>
        </p:txBody>
      </p:sp>
      <p:sp>
        <p:nvSpPr>
          <p:cNvPr id="5" name="Footer Placeholder 4">
            <a:extLst>
              <a:ext uri="{FF2B5EF4-FFF2-40B4-BE49-F238E27FC236}">
                <a16:creationId xmlns:a16="http://schemas.microsoft.com/office/drawing/2014/main" id="{1744FFD6-1D21-4861-6D23-5391FB51251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23C903A-5AED-52AE-DFAC-E7FC639A64F3}"/>
              </a:ext>
            </a:extLst>
          </p:cNvPr>
          <p:cNvSpPr>
            <a:spLocks noGrp="1"/>
          </p:cNvSpPr>
          <p:nvPr>
            <p:ph type="dt" sz="half" idx="10"/>
          </p:nvPr>
        </p:nvSpPr>
        <p:spPr/>
        <p:txBody>
          <a:bodyPr/>
          <a:lstStyle/>
          <a:p>
            <a:fld id="{E4965A3C-7C44-491F-A2CC-585294ABE301}" type="datetime1">
              <a:rPr lang="en-US" smtClean="0"/>
              <a:t>8/27/2026</a:t>
            </a:fld>
            <a:endParaRPr lang="en-US" dirty="0"/>
          </a:p>
        </p:txBody>
      </p:sp>
      <p:graphicFrame>
        <p:nvGraphicFramePr>
          <p:cNvPr id="11" name="Table 10">
            <a:extLst>
              <a:ext uri="{FF2B5EF4-FFF2-40B4-BE49-F238E27FC236}">
                <a16:creationId xmlns:a16="http://schemas.microsoft.com/office/drawing/2014/main" id="{7769FE6B-0E7D-35B5-D675-BA022CEF22CA}"/>
              </a:ext>
            </a:extLst>
          </p:cNvPr>
          <p:cNvGraphicFramePr>
            <a:graphicFrameLocks noGrp="1"/>
          </p:cNvGraphicFramePr>
          <p:nvPr>
            <p:extLst>
              <p:ext uri="{D42A27DB-BD31-4B8C-83A1-F6EECF244321}">
                <p14:modId xmlns:p14="http://schemas.microsoft.com/office/powerpoint/2010/main" val="2411808656"/>
              </p:ext>
            </p:extLst>
          </p:nvPr>
        </p:nvGraphicFramePr>
        <p:xfrm>
          <a:off x="790848" y="1008161"/>
          <a:ext cx="10610301" cy="4217248"/>
        </p:xfrm>
        <a:graphic>
          <a:graphicData uri="http://schemas.openxmlformats.org/drawingml/2006/table">
            <a:tbl>
              <a:tblPr>
                <a:tableStyleId>{5C22544A-7EE6-4342-B048-85BDC9FD1C3A}</a:tableStyleId>
              </a:tblPr>
              <a:tblGrid>
                <a:gridCol w="2736000">
                  <a:extLst>
                    <a:ext uri="{9D8B030D-6E8A-4147-A177-3AD203B41FA5}">
                      <a16:colId xmlns:a16="http://schemas.microsoft.com/office/drawing/2014/main" val="3215107973"/>
                    </a:ext>
                  </a:extLst>
                </a:gridCol>
                <a:gridCol w="2624767">
                  <a:extLst>
                    <a:ext uri="{9D8B030D-6E8A-4147-A177-3AD203B41FA5}">
                      <a16:colId xmlns:a16="http://schemas.microsoft.com/office/drawing/2014/main" val="2576242222"/>
                    </a:ext>
                  </a:extLst>
                </a:gridCol>
                <a:gridCol w="2624767">
                  <a:extLst>
                    <a:ext uri="{9D8B030D-6E8A-4147-A177-3AD203B41FA5}">
                      <a16:colId xmlns:a16="http://schemas.microsoft.com/office/drawing/2014/main" val="226987998"/>
                    </a:ext>
                  </a:extLst>
                </a:gridCol>
                <a:gridCol w="2624767">
                  <a:extLst>
                    <a:ext uri="{9D8B030D-6E8A-4147-A177-3AD203B41FA5}">
                      <a16:colId xmlns:a16="http://schemas.microsoft.com/office/drawing/2014/main" val="3489774207"/>
                    </a:ext>
                  </a:extLst>
                </a:gridCol>
              </a:tblGrid>
              <a:tr h="652384">
                <a:tc>
                  <a:txBody>
                    <a:bodyPr/>
                    <a:lstStyle/>
                    <a:p>
                      <a:pPr algn="ctr">
                        <a:buNone/>
                      </a:pPr>
                      <a:r>
                        <a:rPr lang="zh-TW" sz="1800" dirty="0"/>
                        <a:t>Metric at 3.5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0.50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0.25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dirty="0"/>
                        <a:t>control_dt = 0.</a:t>
                      </a:r>
                      <a:r>
                        <a:rPr lang="en-US" altLang="zh-TW" sz="1800" dirty="0"/>
                        <a:t>1</a:t>
                      </a:r>
                      <a:r>
                        <a:rPr lang="zh-TW" altLang="zh-TW" sz="1800" dirty="0"/>
                        <a:t>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744118573"/>
                  </a:ext>
                </a:extLst>
              </a:tr>
              <a:tr h="365185">
                <a:tc>
                  <a:txBody>
                    <a:bodyPr/>
                    <a:lstStyle/>
                    <a:p>
                      <a:pPr algn="ctr">
                        <a:buNone/>
                      </a:pPr>
                      <a:r>
                        <a:rPr lang="zh-TW" sz="1800" dirty="0"/>
                        <a:t>Requested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704023"/>
                  </a:ext>
                </a:extLst>
              </a:tr>
              <a:tr h="365185">
                <a:tc>
                  <a:txBody>
                    <a:bodyPr/>
                    <a:lstStyle/>
                    <a:p>
                      <a:pPr algn="ctr">
                        <a:buNone/>
                      </a:pPr>
                      <a:r>
                        <a:rPr lang="zh-TW" sz="1800" dirty="0"/>
                        <a:t>Mean target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0.6269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822987"/>
                  </a:ext>
                </a:extLst>
              </a:tr>
              <a:tr h="365185">
                <a:tc>
                  <a:txBody>
                    <a:bodyPr/>
                    <a:lstStyle/>
                    <a:p>
                      <a:pPr algn="ctr">
                        <a:buNone/>
                      </a:pPr>
                      <a:r>
                        <a:rPr lang="zh-TW" sz="1800"/>
                        <a:t>Mean error</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+0.2269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+0.0758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242190"/>
                  </a:ext>
                </a:extLst>
              </a:tr>
              <a:tr h="365185">
                <a:tc>
                  <a:txBody>
                    <a:bodyPr/>
                    <a:lstStyle/>
                    <a:p>
                      <a:pPr algn="ctr">
                        <a:buNone/>
                      </a:pPr>
                      <a:r>
                        <a:rPr lang="zh-TW" sz="1800" dirty="0"/>
                        <a:t>Target min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759828"/>
                  </a:ext>
                </a:extLst>
              </a:tr>
              <a:tr h="365185">
                <a:tc>
                  <a:txBody>
                    <a:bodyPr/>
                    <a:lstStyle/>
                    <a:p>
                      <a:pPr algn="ctr">
                        <a:buNone/>
                      </a:pPr>
                      <a:r>
                        <a:rPr lang="zh-TW" sz="1800" dirty="0"/>
                        <a:t>Target max</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0.8201</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0.7552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0.4090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99431"/>
                  </a:ext>
                </a:extLst>
              </a:tr>
              <a:tr h="365185">
                <a:tc>
                  <a:txBody>
                    <a:bodyPr/>
                    <a:lstStyle/>
                    <a:p>
                      <a:pPr algn="ctr">
                        <a:buNone/>
                      </a:pPr>
                      <a:r>
                        <a:rPr lang="zh-TW" sz="1800" dirty="0"/>
                        <a:t>Target std</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0.1679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0.1212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0.0041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9054640"/>
                  </a:ext>
                </a:extLst>
              </a:tr>
              <a:tr h="365185">
                <a:tc>
                  <a:txBody>
                    <a:bodyPr/>
                    <a:lstStyle/>
                    <a:p>
                      <a:pPr algn="ctr">
                        <a:buNone/>
                      </a:pPr>
                      <a:r>
                        <a:rPr lang="zh-TW" sz="1800" dirty="0"/>
                        <a:t>Min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0.3923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0.3922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0.3921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56273"/>
                  </a:ext>
                </a:extLst>
              </a:tr>
              <a:tr h="365185">
                <a:tc>
                  <a:txBody>
                    <a:bodyPr/>
                    <a:lstStyle/>
                    <a:p>
                      <a:pPr algn="ctr">
                        <a:buNone/>
                      </a:pPr>
                      <a:r>
                        <a:rPr lang="zh-TW" sz="1800" dirty="0"/>
                        <a:t>Max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0.7026</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0.5462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0.4006</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617798"/>
                  </a:ext>
                </a:extLst>
              </a:tr>
              <a:tr h="639074">
                <a:tc>
                  <a:txBody>
                    <a:bodyPr/>
                    <a:lstStyle/>
                    <a:p>
                      <a:pPr algn="ctr">
                        <a:buNone/>
                      </a:pPr>
                      <a:r>
                        <a:rPr lang="zh-TW" sz="1800" dirty="0"/>
                        <a:t>Component-mean range width</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0.3103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0.1540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0.0085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4363304"/>
                  </a:ext>
                </a:extLst>
              </a:tr>
            </a:tbl>
          </a:graphicData>
        </a:graphic>
      </p:graphicFrame>
      <p:sp>
        <p:nvSpPr>
          <p:cNvPr id="12" name="TextBox 11">
            <a:extLst>
              <a:ext uri="{FF2B5EF4-FFF2-40B4-BE49-F238E27FC236}">
                <a16:creationId xmlns:a16="http://schemas.microsoft.com/office/drawing/2014/main" id="{10CEAD86-040D-D683-C504-0911B69C5FD5}"/>
              </a:ext>
            </a:extLst>
          </p:cNvPr>
          <p:cNvSpPr txBox="1"/>
          <p:nvPr/>
        </p:nvSpPr>
        <p:spPr>
          <a:xfrm>
            <a:off x="790848" y="5558743"/>
            <a:ext cx="10317754" cy="369332"/>
          </a:xfrm>
          <a:prstGeom prst="rect">
            <a:avLst/>
          </a:prstGeom>
          <a:noFill/>
        </p:spPr>
        <p:txBody>
          <a:bodyPr wrap="square">
            <a:spAutoFit/>
          </a:bodyPr>
          <a:lstStyle/>
          <a:p>
            <a:pPr marL="285750" indent="-285750">
              <a:buFont typeface="Arial" panose="020B0604020202020204" pitchFamily="34" charset="0"/>
              <a:buChar char="•"/>
            </a:pPr>
            <a:r>
              <a:rPr lang="en-US" altLang="zh-TW" sz="1800" dirty="0"/>
              <a:t>T</a:t>
            </a:r>
            <a:r>
              <a:rPr lang="zh-TW" altLang="zh-TW" sz="1800" dirty="0"/>
              <a:t>arget</a:t>
            </a:r>
            <a:r>
              <a:rPr lang="en-US" altLang="zh-TW" sz="1800" dirty="0"/>
              <a:t>s include all-white pixels, whereas the component is the pixels within each lines or shapes</a:t>
            </a:r>
            <a:endParaRPr lang="zh-TW" altLang="en-US" dirty="0"/>
          </a:p>
        </p:txBody>
      </p:sp>
    </p:spTree>
    <p:extLst>
      <p:ext uri="{BB962C8B-B14F-4D97-AF65-F5344CB8AC3E}">
        <p14:creationId xmlns:p14="http://schemas.microsoft.com/office/powerpoint/2010/main" val="37495766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0B27D-BFFF-8881-A1DF-1A4A8AEBCEEC}"/>
              </a:ext>
            </a:extLst>
          </p:cNvPr>
          <p:cNvSpPr>
            <a:spLocks noGrp="1"/>
          </p:cNvSpPr>
          <p:nvPr>
            <p:ph type="title"/>
          </p:nvPr>
        </p:nvSpPr>
        <p:spPr/>
        <p:txBody>
          <a:bodyPr/>
          <a:lstStyle/>
          <a:p>
            <a:r>
              <a:rPr lang="en-US" altLang="zh-TW" dirty="0"/>
              <a:t>Next Step</a:t>
            </a:r>
            <a:endParaRPr lang="zh-TW" altLang="en-US" dirty="0"/>
          </a:p>
        </p:txBody>
      </p:sp>
      <p:sp>
        <p:nvSpPr>
          <p:cNvPr id="3" name="Content Placeholder 2">
            <a:extLst>
              <a:ext uri="{FF2B5EF4-FFF2-40B4-BE49-F238E27FC236}">
                <a16:creationId xmlns:a16="http://schemas.microsoft.com/office/drawing/2014/main" id="{C349A242-7593-01A5-75F6-DC0ABEC6B32B}"/>
              </a:ext>
            </a:extLst>
          </p:cNvPr>
          <p:cNvSpPr>
            <a:spLocks noGrp="1"/>
          </p:cNvSpPr>
          <p:nvPr>
            <p:ph idx="1"/>
          </p:nvPr>
        </p:nvSpPr>
        <p:spPr/>
        <p:txBody>
          <a:bodyPr/>
          <a:lstStyle/>
          <a:p>
            <a:r>
              <a:rPr lang="en-US" altLang="zh-TW" dirty="0"/>
              <a:t>Redefine the loss function?</a:t>
            </a:r>
          </a:p>
          <a:p>
            <a:endParaRPr lang="en-US" altLang="zh-TW" dirty="0"/>
          </a:p>
          <a:p>
            <a:r>
              <a:rPr lang="en-US" altLang="zh-TW" dirty="0"/>
              <a:t>Investigate the initial constraint</a:t>
            </a:r>
          </a:p>
          <a:p>
            <a:endParaRPr lang="en-US" altLang="zh-TW" dirty="0"/>
          </a:p>
          <a:p>
            <a:r>
              <a:rPr lang="en-US" altLang="zh-TW" dirty="0"/>
              <a:t>Check the hardware limitation</a:t>
            </a:r>
            <a:endParaRPr lang="zh-TW" altLang="en-US" dirty="0"/>
          </a:p>
        </p:txBody>
      </p:sp>
      <p:sp>
        <p:nvSpPr>
          <p:cNvPr id="4" name="Slide Number Placeholder 3">
            <a:extLst>
              <a:ext uri="{FF2B5EF4-FFF2-40B4-BE49-F238E27FC236}">
                <a16:creationId xmlns:a16="http://schemas.microsoft.com/office/drawing/2014/main" id="{227DA49B-C756-7946-2094-1167597551A3}"/>
              </a:ext>
            </a:extLst>
          </p:cNvPr>
          <p:cNvSpPr>
            <a:spLocks noGrp="1"/>
          </p:cNvSpPr>
          <p:nvPr>
            <p:ph type="sldNum" sz="quarter" idx="12"/>
          </p:nvPr>
        </p:nvSpPr>
        <p:spPr/>
        <p:txBody>
          <a:bodyPr/>
          <a:lstStyle/>
          <a:p>
            <a:fld id="{5A741E56-E3D9-46FF-B47D-3FCBEAE97EB2}" type="slidenum">
              <a:rPr lang="en-US" smtClean="0"/>
              <a:pPr/>
              <a:t>22</a:t>
            </a:fld>
            <a:endParaRPr lang="en-US" dirty="0"/>
          </a:p>
        </p:txBody>
      </p:sp>
      <p:sp>
        <p:nvSpPr>
          <p:cNvPr id="5" name="Footer Placeholder 4">
            <a:extLst>
              <a:ext uri="{FF2B5EF4-FFF2-40B4-BE49-F238E27FC236}">
                <a16:creationId xmlns:a16="http://schemas.microsoft.com/office/drawing/2014/main" id="{F9E83430-3869-C8FA-D072-3147DD2ED449}"/>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067A9867-F124-2814-184B-8382EC1D28C8}"/>
              </a:ext>
            </a:extLst>
          </p:cNvPr>
          <p:cNvSpPr>
            <a:spLocks noGrp="1"/>
          </p:cNvSpPr>
          <p:nvPr>
            <p:ph type="dt" sz="half" idx="10"/>
          </p:nvPr>
        </p:nvSpPr>
        <p:spPr/>
        <p:txBody>
          <a:bodyPr/>
          <a:lstStyle/>
          <a:p>
            <a:fld id="{E4965A3C-7C44-491F-A2CC-585294ABE301}" type="datetime1">
              <a:rPr lang="en-US" smtClean="0"/>
              <a:t>8/27/2026</a:t>
            </a:fld>
            <a:endParaRPr lang="en-US" dirty="0"/>
          </a:p>
        </p:txBody>
      </p:sp>
    </p:spTree>
    <p:extLst>
      <p:ext uri="{BB962C8B-B14F-4D97-AF65-F5344CB8AC3E}">
        <p14:creationId xmlns:p14="http://schemas.microsoft.com/office/powerpoint/2010/main" val="1478144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600A1-9B12-50A5-309A-C2A7C8CB65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AD796-CC83-2CE5-77AF-B8F3C74C3F70}"/>
              </a:ext>
            </a:extLst>
          </p:cNvPr>
          <p:cNvSpPr>
            <a:spLocks noGrp="1"/>
          </p:cNvSpPr>
          <p:nvPr>
            <p:ph type="title"/>
          </p:nvPr>
        </p:nvSpPr>
        <p:spPr>
          <a:xfrm>
            <a:off x="838200" y="2268537"/>
            <a:ext cx="10515600" cy="850554"/>
          </a:xfrm>
        </p:spPr>
        <p:txBody>
          <a:bodyPr/>
          <a:lstStyle/>
          <a:p>
            <a:r>
              <a:rPr lang="en-US" altLang="zh-TW" dirty="0"/>
              <a:t>09/10/2026</a:t>
            </a:r>
            <a:endParaRPr lang="zh-TW" altLang="en-US" dirty="0"/>
          </a:p>
        </p:txBody>
      </p:sp>
      <p:sp>
        <p:nvSpPr>
          <p:cNvPr id="3" name="Text Placeholder 2">
            <a:extLst>
              <a:ext uri="{FF2B5EF4-FFF2-40B4-BE49-F238E27FC236}">
                <a16:creationId xmlns:a16="http://schemas.microsoft.com/office/drawing/2014/main" id="{CC1CCA9B-4021-4A00-0B2D-CE48749DE4A2}"/>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8471648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B5CF-B0B7-2BFB-E466-8BB6D0B2E5F6}"/>
              </a:ext>
            </a:extLst>
          </p:cNvPr>
          <p:cNvSpPr>
            <a:spLocks noGrp="1"/>
          </p:cNvSpPr>
          <p:nvPr>
            <p:ph type="title"/>
          </p:nvPr>
        </p:nvSpPr>
        <p:spPr/>
        <p:txBody>
          <a:bodyPr/>
          <a:lstStyle/>
          <a:p>
            <a:r>
              <a:rPr lang="en-US" altLang="zh-TW" dirty="0"/>
              <a:t>MPC Initialization &amp; Convergence Issues</a:t>
            </a:r>
            <a:endParaRPr lang="zh-TW" altLang="en-US" dirty="0"/>
          </a:p>
        </p:txBody>
      </p:sp>
      <p:sp>
        <p:nvSpPr>
          <p:cNvPr id="3" name="Content Placeholder 2">
            <a:extLst>
              <a:ext uri="{FF2B5EF4-FFF2-40B4-BE49-F238E27FC236}">
                <a16:creationId xmlns:a16="http://schemas.microsoft.com/office/drawing/2014/main" id="{252ECC20-EAC4-CE25-5BE2-CF15DFF5650C}"/>
              </a:ext>
            </a:extLst>
          </p:cNvPr>
          <p:cNvSpPr>
            <a:spLocks noGrp="1"/>
          </p:cNvSpPr>
          <p:nvPr>
            <p:ph idx="1"/>
          </p:nvPr>
        </p:nvSpPr>
        <p:spPr/>
        <p:txBody>
          <a:bodyPr/>
          <a:lstStyle/>
          <a:p>
            <a:r>
              <a:rPr lang="en-US" altLang="zh-TW" dirty="0"/>
              <a:t>From simulations, all different step sizes, e.g., 0.5, 0.25, 0.1, were generating the pretty close bright first masks. </a:t>
            </a:r>
          </a:p>
          <a:p>
            <a:endParaRPr lang="en-US" altLang="zh-TW" dirty="0"/>
          </a:p>
          <a:p>
            <a:r>
              <a:rPr lang="en-US" altLang="zh-TW" dirty="0"/>
              <a:t>Larger step size wouldn’t have enough chance to compensate overshoots. Also, the DoC irreversibility caused the controller has less room to mistake.</a:t>
            </a:r>
          </a:p>
          <a:p>
            <a:endParaRPr lang="en-US" altLang="zh-TW" dirty="0"/>
          </a:p>
          <a:p>
            <a:r>
              <a:rPr lang="en-US" altLang="zh-TW" dirty="0"/>
              <a:t>Solution: increase the number of iterations for each time step.</a:t>
            </a:r>
            <a:endParaRPr lang="zh-TW" altLang="en-US" dirty="0"/>
          </a:p>
        </p:txBody>
      </p:sp>
      <p:sp>
        <p:nvSpPr>
          <p:cNvPr id="4" name="Slide Number Placeholder 3">
            <a:extLst>
              <a:ext uri="{FF2B5EF4-FFF2-40B4-BE49-F238E27FC236}">
                <a16:creationId xmlns:a16="http://schemas.microsoft.com/office/drawing/2014/main" id="{3BDCC326-1B89-EE5B-9A36-593F64024995}"/>
              </a:ext>
            </a:extLst>
          </p:cNvPr>
          <p:cNvSpPr>
            <a:spLocks noGrp="1"/>
          </p:cNvSpPr>
          <p:nvPr>
            <p:ph type="sldNum" sz="quarter" idx="12"/>
          </p:nvPr>
        </p:nvSpPr>
        <p:spPr/>
        <p:txBody>
          <a:bodyPr/>
          <a:lstStyle/>
          <a:p>
            <a:fld id="{5A741E56-E3D9-46FF-B47D-3FCBEAE97EB2}" type="slidenum">
              <a:rPr lang="en-US" smtClean="0"/>
              <a:pPr/>
              <a:t>24</a:t>
            </a:fld>
            <a:endParaRPr lang="en-US" dirty="0"/>
          </a:p>
        </p:txBody>
      </p:sp>
      <p:sp>
        <p:nvSpPr>
          <p:cNvPr id="5" name="Footer Placeholder 4">
            <a:extLst>
              <a:ext uri="{FF2B5EF4-FFF2-40B4-BE49-F238E27FC236}">
                <a16:creationId xmlns:a16="http://schemas.microsoft.com/office/drawing/2014/main" id="{1E47E399-2116-0759-A27C-0FB5994F345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2DACA20-ECCA-96C8-3B5A-ADCE5E4946A4}"/>
              </a:ext>
            </a:extLst>
          </p:cNvPr>
          <p:cNvSpPr>
            <a:spLocks noGrp="1"/>
          </p:cNvSpPr>
          <p:nvPr>
            <p:ph type="dt" sz="half" idx="10"/>
          </p:nvPr>
        </p:nvSpPr>
        <p:spPr/>
        <p:txBody>
          <a:bodyPr/>
          <a:lstStyle/>
          <a:p>
            <a:fld id="{E4965A3C-7C44-491F-A2CC-585294ABE301}" type="datetime1">
              <a:rPr lang="en-US" smtClean="0"/>
              <a:t>8/27/2026</a:t>
            </a:fld>
            <a:endParaRPr lang="en-US" dirty="0"/>
          </a:p>
        </p:txBody>
      </p:sp>
    </p:spTree>
    <p:extLst>
      <p:ext uri="{BB962C8B-B14F-4D97-AF65-F5344CB8AC3E}">
        <p14:creationId xmlns:p14="http://schemas.microsoft.com/office/powerpoint/2010/main" val="4069934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9452B-7142-1201-586E-E4B218AEF468}"/>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ADDECC4A-2939-64B6-E2FA-96A1168A70E3}"/>
              </a:ext>
            </a:extLst>
          </p:cNvPr>
          <p:cNvGraphicFramePr>
            <a:graphicFrameLocks noGrp="1"/>
          </p:cNvGraphicFramePr>
          <p:nvPr>
            <p:ph idx="1"/>
            <p:extLst>
              <p:ext uri="{D42A27DB-BD31-4B8C-83A1-F6EECF244321}">
                <p14:modId xmlns:p14="http://schemas.microsoft.com/office/powerpoint/2010/main" val="1006691178"/>
              </p:ext>
            </p:extLst>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0238C175-2737-44E3-7D4F-FA337EE480D7}"/>
              </a:ext>
            </a:extLst>
          </p:cNvPr>
          <p:cNvSpPr>
            <a:spLocks noGrp="1"/>
          </p:cNvSpPr>
          <p:nvPr>
            <p:ph type="sldNum" sz="quarter" idx="12"/>
          </p:nvPr>
        </p:nvSpPr>
        <p:spPr/>
        <p:txBody>
          <a:bodyPr/>
          <a:lstStyle/>
          <a:p>
            <a:fld id="{5A741E56-E3D9-46FF-B47D-3FCBEAE97EB2}" type="slidenum">
              <a:rPr lang="en-US" smtClean="0"/>
              <a:pPr/>
              <a:t>25</a:t>
            </a:fld>
            <a:endParaRPr lang="en-US" dirty="0"/>
          </a:p>
        </p:txBody>
      </p:sp>
      <p:sp>
        <p:nvSpPr>
          <p:cNvPr id="5" name="Footer Placeholder 4">
            <a:extLst>
              <a:ext uri="{FF2B5EF4-FFF2-40B4-BE49-F238E27FC236}">
                <a16:creationId xmlns:a16="http://schemas.microsoft.com/office/drawing/2014/main" id="{B314CCCE-7A0F-4756-8AC9-D2455ADF971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2E61FCD-BA54-0E37-E5BD-5706459AAA69}"/>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9" name="Picture 8">
            <a:extLst>
              <a:ext uri="{FF2B5EF4-FFF2-40B4-BE49-F238E27FC236}">
                <a16:creationId xmlns:a16="http://schemas.microsoft.com/office/drawing/2014/main" id="{778F37A1-D3F5-E7F9-EC6C-B1BD2288F2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6294" y="4046899"/>
            <a:ext cx="3594613" cy="2246633"/>
          </a:xfrm>
          <a:prstGeom prst="rect">
            <a:avLst/>
          </a:prstGeom>
        </p:spPr>
      </p:pic>
      <p:pic>
        <p:nvPicPr>
          <p:cNvPr id="11" name="Picture 10">
            <a:extLst>
              <a:ext uri="{FF2B5EF4-FFF2-40B4-BE49-F238E27FC236}">
                <a16:creationId xmlns:a16="http://schemas.microsoft.com/office/drawing/2014/main" id="{FF6493BA-36C2-87CE-9D57-B5CFBBBC65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1093" y="4046899"/>
            <a:ext cx="3594613" cy="2246633"/>
          </a:xfrm>
          <a:prstGeom prst="rect">
            <a:avLst/>
          </a:prstGeom>
        </p:spPr>
      </p:pic>
      <p:sp>
        <p:nvSpPr>
          <p:cNvPr id="12" name="TextBox 11">
            <a:extLst>
              <a:ext uri="{FF2B5EF4-FFF2-40B4-BE49-F238E27FC236}">
                <a16:creationId xmlns:a16="http://schemas.microsoft.com/office/drawing/2014/main" id="{75699B01-D1C4-D9FA-2B4B-8DF50D0CF142}"/>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7D2F6076-CAE5-FBA4-A674-F200B9B3CA8F}"/>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4094914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FE5C5-294A-5F91-3BBD-C2A74D047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DD854-A8AB-65C1-FC5B-6EA330799DBB}"/>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822A10F0-E9FC-B695-6D52-623C3B98E8E3}"/>
              </a:ext>
            </a:extLst>
          </p:cNvPr>
          <p:cNvGraphicFramePr>
            <a:graphicFrameLocks noGrp="1"/>
          </p:cNvGraphicFramePr>
          <p:nvPr>
            <p:ph idx="1"/>
            <p:extLst>
              <p:ext uri="{D42A27DB-BD31-4B8C-83A1-F6EECF244321}">
                <p14:modId xmlns:p14="http://schemas.microsoft.com/office/powerpoint/2010/main" val="4055604900"/>
              </p:ext>
            </p:extLst>
          </p:nvPr>
        </p:nvGraphicFramePr>
        <p:xfrm>
          <a:off x="2152649" y="998807"/>
          <a:ext cx="78867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b="1"/>
                        <a:t>0.039</a:t>
                      </a:r>
                      <a:endParaRPr lang="zh-TW"/>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0.058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184DBD09-E42E-B8B9-5626-FB4FC9874C98}"/>
              </a:ext>
            </a:extLst>
          </p:cNvPr>
          <p:cNvSpPr>
            <a:spLocks noGrp="1"/>
          </p:cNvSpPr>
          <p:nvPr>
            <p:ph type="sldNum" sz="quarter" idx="12"/>
          </p:nvPr>
        </p:nvSpPr>
        <p:spPr/>
        <p:txBody>
          <a:bodyPr/>
          <a:lstStyle/>
          <a:p>
            <a:fld id="{5A741E56-E3D9-46FF-B47D-3FCBEAE97EB2}" type="slidenum">
              <a:rPr lang="en-US" smtClean="0"/>
              <a:pPr/>
              <a:t>26</a:t>
            </a:fld>
            <a:endParaRPr lang="en-US" dirty="0"/>
          </a:p>
        </p:txBody>
      </p:sp>
      <p:sp>
        <p:nvSpPr>
          <p:cNvPr id="5" name="Footer Placeholder 4">
            <a:extLst>
              <a:ext uri="{FF2B5EF4-FFF2-40B4-BE49-F238E27FC236}">
                <a16:creationId xmlns:a16="http://schemas.microsoft.com/office/drawing/2014/main" id="{6324B3B1-8352-E69D-969E-A55DFA13F26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63C5B5F-2A5E-F83B-3388-83A792B4801D}"/>
              </a:ext>
            </a:extLst>
          </p:cNvPr>
          <p:cNvSpPr>
            <a:spLocks noGrp="1"/>
          </p:cNvSpPr>
          <p:nvPr>
            <p:ph type="dt" sz="half" idx="10"/>
          </p:nvPr>
        </p:nvSpPr>
        <p:spPr/>
        <p:txBody>
          <a:bodyPr/>
          <a:lstStyle/>
          <a:p>
            <a:fld id="{E4965A3C-7C44-491F-A2CC-585294ABE301}" type="datetime1">
              <a:rPr lang="en-US" smtClean="0"/>
              <a:t>8/27/2026</a:t>
            </a:fld>
            <a:endParaRPr lang="en-US" dirty="0"/>
          </a:p>
        </p:txBody>
      </p:sp>
      <p:graphicFrame>
        <p:nvGraphicFramePr>
          <p:cNvPr id="3" name="Table 2">
            <a:extLst>
              <a:ext uri="{FF2B5EF4-FFF2-40B4-BE49-F238E27FC236}">
                <a16:creationId xmlns:a16="http://schemas.microsoft.com/office/drawing/2014/main" id="{D87F1F52-1619-3A98-537B-92607790C816}"/>
              </a:ext>
            </a:extLst>
          </p:cNvPr>
          <p:cNvGraphicFramePr>
            <a:graphicFrameLocks noGrp="1"/>
          </p:cNvGraphicFramePr>
          <p:nvPr>
            <p:extLst>
              <p:ext uri="{D42A27DB-BD31-4B8C-83A1-F6EECF244321}">
                <p14:modId xmlns:p14="http://schemas.microsoft.com/office/powerpoint/2010/main" val="2557338904"/>
              </p:ext>
            </p:extLst>
          </p:nvPr>
        </p:nvGraphicFramePr>
        <p:xfrm>
          <a:off x="838199" y="4294078"/>
          <a:ext cx="10515600" cy="182880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4055998605"/>
                    </a:ext>
                  </a:extLst>
                </a:gridCol>
                <a:gridCol w="3505200">
                  <a:extLst>
                    <a:ext uri="{9D8B030D-6E8A-4147-A177-3AD203B41FA5}">
                      <a16:colId xmlns:a16="http://schemas.microsoft.com/office/drawing/2014/main" val="3692895585"/>
                    </a:ext>
                  </a:extLst>
                </a:gridCol>
                <a:gridCol w="3505200">
                  <a:extLst>
                    <a:ext uri="{9D8B030D-6E8A-4147-A177-3AD203B41FA5}">
                      <a16:colId xmlns:a16="http://schemas.microsoft.com/office/drawing/2014/main" val="4117692757"/>
                    </a:ext>
                  </a:extLst>
                </a:gridCol>
              </a:tblGrid>
              <a:tr h="0">
                <a:tc>
                  <a:txBody>
                    <a:bodyPr/>
                    <a:lstStyle/>
                    <a:p>
                      <a:pPr algn="ctr">
                        <a:buNone/>
                      </a:pPr>
                      <a:r>
                        <a:rPr lang="zh-TW" dirty="0"/>
                        <a:t>Component 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541072224"/>
                  </a:ext>
                </a:extLst>
              </a:tr>
              <a:tr h="0">
                <a:tc>
                  <a:txBody>
                    <a:bodyPr/>
                    <a:lstStyle/>
                    <a:p>
                      <a:pPr algn="ctr">
                        <a:buNone/>
                      </a:pPr>
                      <a:r>
                        <a:rPr lang="zh-TW" dirty="0"/>
                        <a:t>Component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0.5124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4167648"/>
                  </a:ext>
                </a:extLst>
              </a:tr>
              <a:tr h="0">
                <a:tc>
                  <a:txBody>
                    <a:bodyPr/>
                    <a:lstStyle/>
                    <a:p>
                      <a:pPr algn="ctr">
                        <a:buNone/>
                      </a:pPr>
                      <a:r>
                        <a:rPr lang="zh-TW" dirty="0"/>
                        <a:t>Minimum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0.3999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0.39995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4758143"/>
                  </a:ext>
                </a:extLst>
              </a:tr>
              <a:tr h="0">
                <a:tc>
                  <a:txBody>
                    <a:bodyPr/>
                    <a:lstStyle/>
                    <a:p>
                      <a:pPr algn="ctr">
                        <a:buNone/>
                      </a:pPr>
                      <a:r>
                        <a:rPr lang="zh-TW"/>
                        <a:t>Maximum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0.7027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3810218"/>
                  </a:ext>
                </a:extLst>
              </a:tr>
              <a:tr h="0">
                <a:tc>
                  <a:txBody>
                    <a:bodyPr/>
                    <a:lstStyle/>
                    <a:p>
                      <a:pPr algn="ctr">
                        <a:buNone/>
                      </a:pPr>
                      <a:r>
                        <a:rPr lang="zh-TW" dirty="0"/>
                        <a:t>Component range width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0.3028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0.00041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80711"/>
                  </a:ext>
                </a:extLst>
              </a:tr>
            </a:tbl>
          </a:graphicData>
        </a:graphic>
      </p:graphicFrame>
    </p:spTree>
    <p:extLst>
      <p:ext uri="{BB962C8B-B14F-4D97-AF65-F5344CB8AC3E}">
        <p14:creationId xmlns:p14="http://schemas.microsoft.com/office/powerpoint/2010/main" val="2480819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0847A-BE91-F8BC-DBE7-6A4C651CB3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3BA31-31D6-3DCE-8F81-9AF449D91908}"/>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32F96EA4-5A65-06FB-7319-AF7245B730E2}"/>
              </a:ext>
            </a:extLst>
          </p:cNvPr>
          <p:cNvSpPr>
            <a:spLocks noGrp="1"/>
          </p:cNvSpPr>
          <p:nvPr>
            <p:ph idx="1"/>
          </p:nvPr>
        </p:nvSpPr>
        <p:spPr/>
        <p:txBody>
          <a:bodyPr/>
          <a:lstStyle/>
          <a:p>
            <a:r>
              <a:rPr lang="en-US" altLang="zh-TW" dirty="0"/>
              <a:t>If we try to aim 90% DoC @ 6 sec, it won’t have the same good results as the previous setting.</a:t>
            </a:r>
            <a:endParaRPr lang="zh-TW" altLang="en-US" dirty="0"/>
          </a:p>
        </p:txBody>
      </p:sp>
      <p:sp>
        <p:nvSpPr>
          <p:cNvPr id="4" name="Slide Number Placeholder 3">
            <a:extLst>
              <a:ext uri="{FF2B5EF4-FFF2-40B4-BE49-F238E27FC236}">
                <a16:creationId xmlns:a16="http://schemas.microsoft.com/office/drawing/2014/main" id="{64B62488-7FDF-9953-1997-66E711EA4A8A}"/>
              </a:ext>
            </a:extLst>
          </p:cNvPr>
          <p:cNvSpPr>
            <a:spLocks noGrp="1"/>
          </p:cNvSpPr>
          <p:nvPr>
            <p:ph type="sldNum" sz="quarter" idx="12"/>
          </p:nvPr>
        </p:nvSpPr>
        <p:spPr/>
        <p:txBody>
          <a:bodyPr/>
          <a:lstStyle/>
          <a:p>
            <a:fld id="{5A741E56-E3D9-46FF-B47D-3FCBEAE97EB2}" type="slidenum">
              <a:rPr lang="en-US" smtClean="0"/>
              <a:pPr/>
              <a:t>27</a:t>
            </a:fld>
            <a:endParaRPr lang="en-US" dirty="0"/>
          </a:p>
        </p:txBody>
      </p:sp>
      <p:sp>
        <p:nvSpPr>
          <p:cNvPr id="5" name="Footer Placeholder 4">
            <a:extLst>
              <a:ext uri="{FF2B5EF4-FFF2-40B4-BE49-F238E27FC236}">
                <a16:creationId xmlns:a16="http://schemas.microsoft.com/office/drawing/2014/main" id="{E5D2270E-7FE7-12D3-8D42-84DCBC8FAB8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4A0F21A6-3264-90FE-8DDD-B2FF3E52B1AA}"/>
              </a:ext>
            </a:extLst>
          </p:cNvPr>
          <p:cNvSpPr>
            <a:spLocks noGrp="1"/>
          </p:cNvSpPr>
          <p:nvPr>
            <p:ph type="dt" sz="half" idx="10"/>
          </p:nvPr>
        </p:nvSpPr>
        <p:spPr/>
        <p:txBody>
          <a:bodyPr/>
          <a:lstStyle/>
          <a:p>
            <a:fld id="{E4965A3C-7C44-491F-A2CC-585294ABE301}" type="datetime1">
              <a:rPr lang="en-US" smtClean="0"/>
              <a:t>8/28/2026</a:t>
            </a:fld>
            <a:endParaRPr lang="en-US" dirty="0"/>
          </a:p>
        </p:txBody>
      </p:sp>
      <p:pic>
        <p:nvPicPr>
          <p:cNvPr id="14" name="Picture 13">
            <a:extLst>
              <a:ext uri="{FF2B5EF4-FFF2-40B4-BE49-F238E27FC236}">
                <a16:creationId xmlns:a16="http://schemas.microsoft.com/office/drawing/2014/main" id="{2C9B053E-85F3-2C2E-963E-487014CC678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8161" y="1976339"/>
            <a:ext cx="6140718" cy="3837949"/>
          </a:xfrm>
          <a:prstGeom prst="rect">
            <a:avLst/>
          </a:prstGeom>
        </p:spPr>
      </p:pic>
      <p:pic>
        <p:nvPicPr>
          <p:cNvPr id="16" name="Picture 15">
            <a:extLst>
              <a:ext uri="{FF2B5EF4-FFF2-40B4-BE49-F238E27FC236}">
                <a16:creationId xmlns:a16="http://schemas.microsoft.com/office/drawing/2014/main" id="{BE203FF2-2698-1C15-C42E-B0EED4E4844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8707" y="2371313"/>
            <a:ext cx="4876800" cy="3048000"/>
          </a:xfrm>
          <a:prstGeom prst="rect">
            <a:avLst/>
          </a:prstGeom>
        </p:spPr>
      </p:pic>
      <p:sp>
        <p:nvSpPr>
          <p:cNvPr id="8" name="TextBox 7">
            <a:extLst>
              <a:ext uri="{FF2B5EF4-FFF2-40B4-BE49-F238E27FC236}">
                <a16:creationId xmlns:a16="http://schemas.microsoft.com/office/drawing/2014/main" id="{6D4AA299-99E9-47D3-B5BD-641A989B2A8F}"/>
              </a:ext>
            </a:extLst>
          </p:cNvPr>
          <p:cNvSpPr txBox="1"/>
          <p:nvPr/>
        </p:nvSpPr>
        <p:spPr>
          <a:xfrm>
            <a:off x="4458413" y="5866399"/>
            <a:ext cx="3640933" cy="369332"/>
          </a:xfrm>
          <a:prstGeom prst="rect">
            <a:avLst/>
          </a:prstGeom>
          <a:noFill/>
        </p:spPr>
        <p:txBody>
          <a:bodyPr wrap="none" rtlCol="0">
            <a:spAutoFit/>
          </a:bodyPr>
          <a:lstStyle/>
          <a:p>
            <a:r>
              <a:rPr lang="en-US" altLang="zh-TW" dirty="0"/>
              <a:t>Initial mask intensity = 0.95 * 70 mW</a:t>
            </a:r>
            <a:endParaRPr lang="zh-TW" altLang="en-US" dirty="0"/>
          </a:p>
        </p:txBody>
      </p:sp>
    </p:spTree>
    <p:extLst>
      <p:ext uri="{BB962C8B-B14F-4D97-AF65-F5344CB8AC3E}">
        <p14:creationId xmlns:p14="http://schemas.microsoft.com/office/powerpoint/2010/main" val="2507697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DBF66-CC43-C00F-51F4-9198773739DD}"/>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05D84D6D-C570-1A73-DFE8-C4DEC6567CF4}"/>
              </a:ext>
            </a:extLst>
          </p:cNvPr>
          <p:cNvSpPr>
            <a:spLocks noGrp="1"/>
          </p:cNvSpPr>
          <p:nvPr>
            <p:ph idx="1"/>
          </p:nvPr>
        </p:nvSpPr>
        <p:spPr/>
        <p:txBody>
          <a:bodyPr/>
          <a:lstStyle/>
          <a:p>
            <a:r>
              <a:rPr lang="en-US" altLang="zh-TW" dirty="0"/>
              <a:t>If we try to aim 90% DoC @ 6 sec, it won’t have the same good results as the previous setting.</a:t>
            </a:r>
            <a:endParaRPr lang="zh-TW" altLang="en-US" dirty="0"/>
          </a:p>
        </p:txBody>
      </p:sp>
      <p:sp>
        <p:nvSpPr>
          <p:cNvPr id="4" name="Slide Number Placeholder 3">
            <a:extLst>
              <a:ext uri="{FF2B5EF4-FFF2-40B4-BE49-F238E27FC236}">
                <a16:creationId xmlns:a16="http://schemas.microsoft.com/office/drawing/2014/main" id="{C9CF8CD1-F2A4-AC18-E8B6-66A8E6DFB313}"/>
              </a:ext>
            </a:extLst>
          </p:cNvPr>
          <p:cNvSpPr>
            <a:spLocks noGrp="1"/>
          </p:cNvSpPr>
          <p:nvPr>
            <p:ph type="sldNum" sz="quarter" idx="12"/>
          </p:nvPr>
        </p:nvSpPr>
        <p:spPr/>
        <p:txBody>
          <a:bodyPr/>
          <a:lstStyle/>
          <a:p>
            <a:fld id="{5A741E56-E3D9-46FF-B47D-3FCBEAE97EB2}" type="slidenum">
              <a:rPr lang="en-US" smtClean="0"/>
              <a:pPr/>
              <a:t>28</a:t>
            </a:fld>
            <a:endParaRPr lang="en-US" dirty="0"/>
          </a:p>
        </p:txBody>
      </p:sp>
      <p:sp>
        <p:nvSpPr>
          <p:cNvPr id="5" name="Footer Placeholder 4">
            <a:extLst>
              <a:ext uri="{FF2B5EF4-FFF2-40B4-BE49-F238E27FC236}">
                <a16:creationId xmlns:a16="http://schemas.microsoft.com/office/drawing/2014/main" id="{CE36B5E2-677D-CBCA-FB07-47DF41FDBFF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B4743F5-8DBA-E933-AA98-800C0B0BB36D}"/>
              </a:ext>
            </a:extLst>
          </p:cNvPr>
          <p:cNvSpPr>
            <a:spLocks noGrp="1"/>
          </p:cNvSpPr>
          <p:nvPr>
            <p:ph type="dt" sz="half" idx="10"/>
          </p:nvPr>
        </p:nvSpPr>
        <p:spPr/>
        <p:txBody>
          <a:bodyPr/>
          <a:lstStyle/>
          <a:p>
            <a:fld id="{E4965A3C-7C44-491F-A2CC-585294ABE301}" type="datetime1">
              <a:rPr lang="en-US" smtClean="0"/>
              <a:t>8/28/2026</a:t>
            </a:fld>
            <a:endParaRPr lang="en-US" dirty="0"/>
          </a:p>
        </p:txBody>
      </p:sp>
      <p:pic>
        <p:nvPicPr>
          <p:cNvPr id="14" name="Picture 13">
            <a:extLst>
              <a:ext uri="{FF2B5EF4-FFF2-40B4-BE49-F238E27FC236}">
                <a16:creationId xmlns:a16="http://schemas.microsoft.com/office/drawing/2014/main" id="{37009079-DD97-3B7C-723B-607DC37AA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161" y="1976339"/>
            <a:ext cx="6140719" cy="3837949"/>
          </a:xfrm>
          <a:prstGeom prst="rect">
            <a:avLst/>
          </a:prstGeom>
        </p:spPr>
      </p:pic>
      <p:pic>
        <p:nvPicPr>
          <p:cNvPr id="16" name="Picture 15">
            <a:extLst>
              <a:ext uri="{FF2B5EF4-FFF2-40B4-BE49-F238E27FC236}">
                <a16:creationId xmlns:a16="http://schemas.microsoft.com/office/drawing/2014/main" id="{302737CF-7B35-D94C-AA97-896A273E4A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8707" y="2371313"/>
            <a:ext cx="4876800" cy="3048000"/>
          </a:xfrm>
          <a:prstGeom prst="rect">
            <a:avLst/>
          </a:prstGeom>
        </p:spPr>
      </p:pic>
      <p:sp>
        <p:nvSpPr>
          <p:cNvPr id="17" name="TextBox 16">
            <a:extLst>
              <a:ext uri="{FF2B5EF4-FFF2-40B4-BE49-F238E27FC236}">
                <a16:creationId xmlns:a16="http://schemas.microsoft.com/office/drawing/2014/main" id="{2918FF0D-F71A-8FCE-A3AB-B8F314CDA051}"/>
              </a:ext>
            </a:extLst>
          </p:cNvPr>
          <p:cNvSpPr txBox="1"/>
          <p:nvPr/>
        </p:nvSpPr>
        <p:spPr>
          <a:xfrm>
            <a:off x="4907254" y="5829974"/>
            <a:ext cx="3640933" cy="369332"/>
          </a:xfrm>
          <a:prstGeom prst="rect">
            <a:avLst/>
          </a:prstGeom>
          <a:noFill/>
        </p:spPr>
        <p:txBody>
          <a:bodyPr wrap="none" rtlCol="0">
            <a:spAutoFit/>
          </a:bodyPr>
          <a:lstStyle/>
          <a:p>
            <a:r>
              <a:rPr lang="en-US" altLang="zh-TW" dirty="0"/>
              <a:t>Initial mask intensity = 0.20 * 70 mW</a:t>
            </a:r>
            <a:endParaRPr lang="zh-TW" altLang="en-US" dirty="0"/>
          </a:p>
        </p:txBody>
      </p:sp>
    </p:spTree>
    <p:extLst>
      <p:ext uri="{BB962C8B-B14F-4D97-AF65-F5344CB8AC3E}">
        <p14:creationId xmlns:p14="http://schemas.microsoft.com/office/powerpoint/2010/main" val="22649607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43908</TotalTime>
  <Words>2752</Words>
  <Application>Microsoft Office PowerPoint</Application>
  <PresentationFormat>Widescreen</PresentationFormat>
  <Paragraphs>433</Paragraphs>
  <Slides>29</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Palatino Linotype</vt:lpstr>
      <vt:lpstr>Arial</vt:lpstr>
      <vt:lpstr>Cambria Math</vt:lpstr>
      <vt:lpstr>Calibri</vt:lpstr>
      <vt:lpstr>Calibri Light</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70 mW / 0 mM Tempo for Lines</vt:lpstr>
      <vt:lpstr>70 mW / 0 mM Tempo for Lines</vt:lpstr>
      <vt:lpstr>1. Smaller Control Step</vt:lpstr>
      <vt:lpstr>1. Smaller Control Step</vt:lpstr>
      <vt:lpstr>1. Comparison@ t = 3.5 sec</vt:lpstr>
      <vt:lpstr>1. Comparison@ t = 3.5 sec</vt:lpstr>
      <vt:lpstr>1. Smaller Control Step</vt:lpstr>
      <vt:lpstr>Next Step</vt:lpstr>
      <vt:lpstr>09/10/2026</vt:lpstr>
      <vt:lpstr>MPC Initialization &amp; Convergence Issues</vt:lpstr>
      <vt:lpstr>MPC Iterations Analysis</vt:lpstr>
      <vt:lpstr>MPC Iterations Analysis</vt:lpstr>
      <vt:lpstr>Longer DoC Target</vt:lpstr>
      <vt:lpstr>Longer DoC Target</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Shui, Hsiu-Tsu (David)</cp:lastModifiedBy>
  <cp:revision>220</cp:revision>
  <dcterms:created xsi:type="dcterms:W3CDTF">2015-05-11T16:30:24Z</dcterms:created>
  <dcterms:modified xsi:type="dcterms:W3CDTF">2026-08-29T00:12:16Z</dcterms:modified>
</cp:coreProperties>
</file>