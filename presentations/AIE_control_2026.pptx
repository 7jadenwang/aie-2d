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366" r:id="rId2"/>
    <p:sldId id="371" r:id="rId3"/>
    <p:sldId id="367" r:id="rId4"/>
    <p:sldId id="372" r:id="rId5"/>
    <p:sldId id="368" r:id="rId6"/>
    <p:sldId id="373" r:id="rId7"/>
    <p:sldId id="375" r:id="rId8"/>
    <p:sldId id="377" r:id="rId9"/>
    <p:sldId id="379" r:id="rId10"/>
    <p:sldId id="369" r:id="rId11"/>
    <p:sldId id="380" r:id="rId12"/>
    <p:sldId id="381" r:id="rId13"/>
    <p:sldId id="382" r:id="rId14"/>
    <p:sldId id="383" r:id="rId15"/>
    <p:sldId id="384" r:id="rId16"/>
    <p:sldId id="385" r:id="rId17"/>
    <p:sldId id="386" r:id="rId18"/>
    <p:sldId id="389" r:id="rId19"/>
    <p:sldId id="387" r:id="rId20"/>
    <p:sldId id="390" r:id="rId21"/>
    <p:sldId id="388" r:id="rId22"/>
    <p:sldId id="391" r:id="rId23"/>
    <p:sldId id="392" r:id="rId24"/>
    <p:sldId id="393" r:id="rId25"/>
    <p:sldId id="394" r:id="rId26"/>
    <p:sldId id="399" r:id="rId27"/>
    <p:sldId id="395" r:id="rId28"/>
    <p:sldId id="397" r:id="rId29"/>
    <p:sldId id="396" r:id="rId30"/>
    <p:sldId id="398" r:id="rId31"/>
    <p:sldId id="400" r:id="rId32"/>
    <p:sldId id="401" r:id="rId33"/>
    <p:sldId id="402" r:id="rId34"/>
    <p:sldId id="378" r:id="rId35"/>
  </p:sldIdLst>
  <p:sldSz cx="12192000" cy="6858000"/>
  <p:notesSz cx="6858000" cy="9144000"/>
  <p:embeddedFontLst>
    <p:embeddedFont>
      <p:font typeface="Cambria Math" panose="02040503050406030204" pitchFamily="18" charset="0"/>
      <p:regular r:id="rId37"/>
    </p:embeddedFont>
    <p:embeddedFont>
      <p:font typeface="Palatino Linotype" panose="02040502050505030304" pitchFamily="18" charset="0"/>
      <p:regular r:id="rId38"/>
      <p:bold r:id="rId39"/>
      <p:italic r:id="rId40"/>
      <p:boldItalic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5700"/>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89E954-A92E-4BA1-A6C8-062787BC955B}" v="853" dt="2026-05-05T23:30:16.5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93" autoAdjust="0"/>
    <p:restoredTop sz="96208" autoAdjust="0"/>
  </p:normalViewPr>
  <p:slideViewPr>
    <p:cSldViewPr snapToGrid="0">
      <p:cViewPr varScale="1">
        <p:scale>
          <a:sx n="119" d="100"/>
          <a:sy n="119" d="100"/>
        </p:scale>
        <p:origin x="480" y="18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3" d="100"/>
          <a:sy n="53" d="100"/>
        </p:scale>
        <p:origin x="1796" y="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font" Target="fonts/font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shui" userId="b4cba2b4491b0052" providerId="LiveId" clId="{C905F96E-58DC-4B64-B215-254CA906E9D0}"/>
    <pc:docChg chg="undo custSel addSld delSld modSld sldOrd">
      <pc:chgData name="david shui" userId="b4cba2b4491b0052" providerId="LiveId" clId="{C905F96E-58DC-4B64-B215-254CA906E9D0}" dt="2026-05-05T23:33:44.761" v="2772" actId="20577"/>
      <pc:docMkLst>
        <pc:docMk/>
      </pc:docMkLst>
      <pc:sldChg chg="delSp modSp mod">
        <pc:chgData name="david shui" userId="b4cba2b4491b0052" providerId="LiveId" clId="{C905F96E-58DC-4B64-B215-254CA906E9D0}" dt="2026-04-22T23:52:44.598" v="374" actId="20577"/>
        <pc:sldMkLst>
          <pc:docMk/>
          <pc:sldMk cId="2587768494" sldId="347"/>
        </pc:sldMkLst>
        <pc:spChg chg="mod">
          <ac:chgData name="david shui" userId="b4cba2b4491b0052" providerId="LiveId" clId="{C905F96E-58DC-4B64-B215-254CA906E9D0}" dt="2026-04-22T23:52:44.598" v="374" actId="20577"/>
          <ac:spMkLst>
            <pc:docMk/>
            <pc:sldMk cId="2587768494" sldId="347"/>
            <ac:spMk id="4" creationId="{00000000-0000-0000-0000-000000000000}"/>
          </ac:spMkLst>
        </pc:spChg>
        <pc:spChg chg="mod">
          <ac:chgData name="david shui" userId="b4cba2b4491b0052" providerId="LiveId" clId="{C905F96E-58DC-4B64-B215-254CA906E9D0}" dt="2026-04-22T17:54:03.700" v="21" actId="1076"/>
          <ac:spMkLst>
            <pc:docMk/>
            <pc:sldMk cId="2587768494" sldId="347"/>
            <ac:spMk id="7" creationId="{00000000-0000-0000-0000-000000000000}"/>
          </ac:spMkLst>
        </pc:spChg>
        <pc:picChg chg="mod">
          <ac:chgData name="david shui" userId="b4cba2b4491b0052" providerId="LiveId" clId="{C905F96E-58DC-4B64-B215-254CA906E9D0}" dt="2026-04-22T17:53:57.279" v="20" actId="1076"/>
          <ac:picMkLst>
            <pc:docMk/>
            <pc:sldMk cId="2587768494" sldId="347"/>
            <ac:picMk id="25" creationId="{00000000-0000-0000-0000-000000000000}"/>
          </ac:picMkLst>
        </pc:picChg>
      </pc:sldChg>
      <pc:sldChg chg="addSp delSp modSp mod delAnim">
        <pc:chgData name="david shui" userId="b4cba2b4491b0052" providerId="LiveId" clId="{C905F96E-58DC-4B64-B215-254CA906E9D0}" dt="2026-04-23T01:26:16.401" v="2548" actId="20577"/>
        <pc:sldMkLst>
          <pc:docMk/>
          <pc:sldMk cId="1322538276" sldId="349"/>
        </pc:sldMkLst>
        <pc:spChg chg="mod">
          <ac:chgData name="david shui" userId="b4cba2b4491b0052" providerId="LiveId" clId="{C905F96E-58DC-4B64-B215-254CA906E9D0}" dt="2026-04-22T23:42:24.317" v="126" actId="20577"/>
          <ac:spMkLst>
            <pc:docMk/>
            <pc:sldMk cId="1322538276" sldId="349"/>
            <ac:spMk id="2" creationId="{00000000-0000-0000-0000-000000000000}"/>
          </ac:spMkLst>
        </pc:spChg>
        <pc:spChg chg="add mod">
          <ac:chgData name="david shui" userId="b4cba2b4491b0052" providerId="LiveId" clId="{C905F96E-58DC-4B64-B215-254CA906E9D0}" dt="2026-04-22T23:46:09.107" v="140" actId="1076"/>
          <ac:spMkLst>
            <pc:docMk/>
            <pc:sldMk cId="1322538276" sldId="349"/>
            <ac:spMk id="8" creationId="{AE914058-E2C0-3751-0126-2DC82E88679F}"/>
          </ac:spMkLst>
        </pc:spChg>
        <pc:spChg chg="add mod">
          <ac:chgData name="david shui" userId="b4cba2b4491b0052" providerId="LiveId" clId="{C905F96E-58DC-4B64-B215-254CA906E9D0}" dt="2026-04-23T01:26:16.401" v="2548" actId="20577"/>
          <ac:spMkLst>
            <pc:docMk/>
            <pc:sldMk cId="1322538276" sldId="349"/>
            <ac:spMk id="10" creationId="{E6BB0638-B062-F8F4-6DC1-DD08FBF6EFED}"/>
          </ac:spMkLst>
        </pc:spChg>
        <pc:picChg chg="add mod">
          <ac:chgData name="david shui" userId="b4cba2b4491b0052" providerId="LiveId" clId="{C905F96E-58DC-4B64-B215-254CA906E9D0}" dt="2026-04-23T00:16:51.874" v="1201" actId="1076"/>
          <ac:picMkLst>
            <pc:docMk/>
            <pc:sldMk cId="1322538276" sldId="349"/>
            <ac:picMk id="7" creationId="{65148EF8-CAB8-5AB0-68FB-60329F1C926E}"/>
          </ac:picMkLst>
        </pc:picChg>
      </pc:sldChg>
      <pc:sldChg chg="add ord">
        <pc:chgData name="david shui" userId="b4cba2b4491b0052" providerId="LiveId" clId="{C905F96E-58DC-4B64-B215-254CA906E9D0}" dt="2026-04-22T17:55:13.590" v="102"/>
        <pc:sldMkLst>
          <pc:docMk/>
          <pc:sldMk cId="4232539471" sldId="355"/>
        </pc:sldMkLst>
      </pc:sldChg>
      <pc:sldChg chg="addSp delSp modSp add mod">
        <pc:chgData name="david shui" userId="b4cba2b4491b0052" providerId="LiveId" clId="{C905F96E-58DC-4B64-B215-254CA906E9D0}" dt="2026-04-23T01:18:16.469" v="2487" actId="20577"/>
        <pc:sldMkLst>
          <pc:docMk/>
          <pc:sldMk cId="4078651933" sldId="356"/>
        </pc:sldMkLst>
        <pc:spChg chg="mod">
          <ac:chgData name="david shui" userId="b4cba2b4491b0052" providerId="LiveId" clId="{C905F96E-58DC-4B64-B215-254CA906E9D0}" dt="2026-04-23T01:18:16.469" v="2487" actId="20577"/>
          <ac:spMkLst>
            <pc:docMk/>
            <pc:sldMk cId="4078651933" sldId="356"/>
            <ac:spMk id="2" creationId="{FA985155-4647-77F0-136A-E53F9116090F}"/>
          </ac:spMkLst>
        </pc:spChg>
        <pc:spChg chg="add mod">
          <ac:chgData name="david shui" userId="b4cba2b4491b0052" providerId="LiveId" clId="{C905F96E-58DC-4B64-B215-254CA906E9D0}" dt="2026-04-23T00:48:07.597" v="1796" actId="20577"/>
          <ac:spMkLst>
            <pc:docMk/>
            <pc:sldMk cId="4078651933" sldId="356"/>
            <ac:spMk id="3" creationId="{64CE56C9-4B3C-DA44-CDF4-3AFD5FB99099}"/>
          </ac:spMkLst>
        </pc:spChg>
      </pc:sldChg>
      <pc:sldChg chg="addSp delSp modSp add mod">
        <pc:chgData name="david shui" userId="b4cba2b4491b0052" providerId="LiveId" clId="{C905F96E-58DC-4B64-B215-254CA906E9D0}" dt="2026-04-23T01:25:32.125" v="2545" actId="20577"/>
        <pc:sldMkLst>
          <pc:docMk/>
          <pc:sldMk cId="898193776" sldId="357"/>
        </pc:sldMkLst>
        <pc:spChg chg="mod">
          <ac:chgData name="david shui" userId="b4cba2b4491b0052" providerId="LiveId" clId="{C905F96E-58DC-4B64-B215-254CA906E9D0}" dt="2026-04-23T01:16:11.633" v="2332" actId="20577"/>
          <ac:spMkLst>
            <pc:docMk/>
            <pc:sldMk cId="898193776" sldId="357"/>
            <ac:spMk id="2" creationId="{1843D742-A829-283A-F2A7-3CD7D37088B7}"/>
          </ac:spMkLst>
        </pc:spChg>
        <pc:spChg chg="add mod">
          <ac:chgData name="david shui" userId="b4cba2b4491b0052" providerId="LiveId" clId="{C905F96E-58DC-4B64-B215-254CA906E9D0}" dt="2026-04-23T01:25:32.125" v="2545" actId="20577"/>
          <ac:spMkLst>
            <pc:docMk/>
            <pc:sldMk cId="898193776" sldId="357"/>
            <ac:spMk id="7" creationId="{0FE510E8-E8F3-FDCC-9FE7-6C0339ED6C67}"/>
          </ac:spMkLst>
        </pc:spChg>
        <pc:picChg chg="add mod">
          <ac:chgData name="david shui" userId="b4cba2b4491b0052" providerId="LiveId" clId="{C905F96E-58DC-4B64-B215-254CA906E9D0}" dt="2026-04-23T01:23:02.998" v="2490" actId="1076"/>
          <ac:picMkLst>
            <pc:docMk/>
            <pc:sldMk cId="898193776" sldId="357"/>
            <ac:picMk id="9" creationId="{29D95A12-F571-1D83-5ACA-74E88005001A}"/>
          </ac:picMkLst>
        </pc:picChg>
      </pc:sldChg>
      <pc:sldChg chg="delSp modSp add mod">
        <pc:chgData name="david shui" userId="b4cba2b4491b0052" providerId="LiveId" clId="{C905F96E-58DC-4B64-B215-254CA906E9D0}" dt="2026-05-05T23:33:44.761" v="2772" actId="20577"/>
        <pc:sldMkLst>
          <pc:docMk/>
          <pc:sldMk cId="3571259808" sldId="358"/>
        </pc:sldMkLst>
        <pc:spChg chg="mod">
          <ac:chgData name="david shui" userId="b4cba2b4491b0052" providerId="LiveId" clId="{C905F96E-58DC-4B64-B215-254CA906E9D0}" dt="2026-05-05T23:33:44.761" v="2772" actId="20577"/>
          <ac:spMkLst>
            <pc:docMk/>
            <pc:sldMk cId="3571259808" sldId="358"/>
            <ac:spMk id="7" creationId="{85B9E28E-1E82-C3A4-4886-709D8F5B2DA8}"/>
          </ac:spMkLst>
        </pc:spChg>
        <pc:picChg chg="del">
          <ac:chgData name="david shui" userId="b4cba2b4491b0052" providerId="LiveId" clId="{C905F96E-58DC-4B64-B215-254CA906E9D0}" dt="2026-05-05T23:30:25.447" v="2553" actId="478"/>
          <ac:picMkLst>
            <pc:docMk/>
            <pc:sldMk cId="3571259808" sldId="358"/>
            <ac:picMk id="9" creationId="{2CAAB725-D91D-FD99-E91D-CCA39AF0FE5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AC76E-B216-45D9-830A-45C6A49284F5}" type="datetimeFigureOut">
              <a:rPr lang="en-US" smtClean="0"/>
              <a:t>9/24/26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258DBC-29A9-4753-9711-72D79C6B4AD9}" type="slidenum">
              <a:rPr lang="en-US" smtClean="0"/>
              <a:t>‹#›</a:t>
            </a:fld>
            <a:endParaRPr lang="en-US"/>
          </a:p>
        </p:txBody>
      </p:sp>
    </p:spTree>
    <p:extLst>
      <p:ext uri="{BB962C8B-B14F-4D97-AF65-F5344CB8AC3E}">
        <p14:creationId xmlns:p14="http://schemas.microsoft.com/office/powerpoint/2010/main" val="1036004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TW"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258DBC-29A9-4753-9711-72D79C6B4AD9}" type="slidenum">
              <a:rPr lang="en-US" smtClean="0"/>
              <a:t>1</a:t>
            </a:fld>
            <a:endParaRPr lang="en-US"/>
          </a:p>
        </p:txBody>
      </p:sp>
    </p:spTree>
    <p:extLst>
      <p:ext uri="{BB962C8B-B14F-4D97-AF65-F5344CB8AC3E}">
        <p14:creationId xmlns:p14="http://schemas.microsoft.com/office/powerpoint/2010/main" val="18913616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1B9DC-CCBB-48DA-601E-B418CF3C2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4AFB1-579D-F0EB-0ECD-974D7370D7EB}"/>
              </a:ext>
            </a:extLst>
          </p:cNvPr>
          <p:cNvSpPr>
            <a:spLocks noGrp="1" noRot="1" noChangeAspect="1"/>
          </p:cNvSpPr>
          <p:nvPr>
            <p:ph type="sldImg"/>
          </p:nvPr>
        </p:nvSpPr>
        <p:spPr/>
        <p:txBody>
          <a:bodyPr/>
          <a:lstStyle/>
          <a:p>
            <a:endParaRPr lang="zh-TW" altLang="en-US"/>
          </a:p>
        </p:txBody>
      </p:sp>
      <p:sp>
        <p:nvSpPr>
          <p:cNvPr id="3" name="Notes Placeholder 2">
            <a:extLst>
              <a:ext uri="{FF2B5EF4-FFF2-40B4-BE49-F238E27FC236}">
                <a16:creationId xmlns:a16="http://schemas.microsoft.com/office/drawing/2014/main" id="{45040DD6-2AEC-0F47-68DB-9D79849F52EA}"/>
              </a:ext>
            </a:extLst>
          </p:cNvPr>
          <p:cNvSpPr>
            <a:spLocks noGrp="1"/>
          </p:cNvSpPr>
          <p:nvPr>
            <p:ph type="body" idx="1"/>
          </p:nvPr>
        </p:nvSpPr>
        <p:spPr/>
        <p:txBody>
          <a:bodyPr/>
          <a:lstStyle/>
          <a:p>
            <a:r>
              <a:rPr lang="en-US" dirty="0"/>
              <a:t>because light intended for a specific location often scatters or diffracts into surrounding locations, creating a halo of unwanted polymerization and enlarges features</a:t>
            </a:r>
          </a:p>
          <a:p>
            <a:endParaRPr lang="en-US" dirty="0"/>
          </a:p>
          <a:p>
            <a:endParaRPr lang="en-US" dirty="0"/>
          </a:p>
          <a:p>
            <a:r>
              <a:rPr lang="en-US" dirty="0"/>
              <a:t>Associated with the resin curing process is the material volume shrinkage, which is due to the shortening of intermolecular distances of their molecules and depends on the degree of cure (DoC) of the resin. </a:t>
            </a:r>
          </a:p>
          <a:p>
            <a:endParaRPr lang="en-US" dirty="0"/>
          </a:p>
        </p:txBody>
      </p:sp>
      <p:sp>
        <p:nvSpPr>
          <p:cNvPr id="4" name="Slide Number Placeholder 3">
            <a:extLst>
              <a:ext uri="{FF2B5EF4-FFF2-40B4-BE49-F238E27FC236}">
                <a16:creationId xmlns:a16="http://schemas.microsoft.com/office/drawing/2014/main" id="{FDC5C324-7FD0-F5DC-80CE-2DBC2E0B9619}"/>
              </a:ext>
            </a:extLst>
          </p:cNvPr>
          <p:cNvSpPr>
            <a:spLocks noGrp="1"/>
          </p:cNvSpPr>
          <p:nvPr>
            <p:ph type="sldNum" sz="quarter" idx="10"/>
          </p:nvPr>
        </p:nvSpPr>
        <p:spPr/>
        <p:txBody>
          <a:bodyPr/>
          <a:lstStyle/>
          <a:p>
            <a:fld id="{D2258DBC-29A9-4753-9711-72D79C6B4AD9}" type="slidenum">
              <a:rPr lang="en-US" smtClean="0"/>
              <a:t>2</a:t>
            </a:fld>
            <a:endParaRPr lang="en-US"/>
          </a:p>
        </p:txBody>
      </p:sp>
    </p:spTree>
    <p:extLst>
      <p:ext uri="{BB962C8B-B14F-4D97-AF65-F5344CB8AC3E}">
        <p14:creationId xmlns:p14="http://schemas.microsoft.com/office/powerpoint/2010/main" val="2470996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TW"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258DBC-29A9-4753-9711-72D79C6B4AD9}" type="slidenum">
              <a:rPr lang="en-US" smtClean="0"/>
              <a:t>3</a:t>
            </a:fld>
            <a:endParaRPr lang="en-US"/>
          </a:p>
        </p:txBody>
      </p:sp>
    </p:spTree>
    <p:extLst>
      <p:ext uri="{BB962C8B-B14F-4D97-AF65-F5344CB8AC3E}">
        <p14:creationId xmlns:p14="http://schemas.microsoft.com/office/powerpoint/2010/main" val="2865357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6923C-902E-F9E1-BD47-7262FE78C4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48E10-955A-9E9B-8160-F72382B28521}"/>
              </a:ext>
            </a:extLst>
          </p:cNvPr>
          <p:cNvSpPr>
            <a:spLocks noGrp="1" noRot="1" noChangeAspect="1"/>
          </p:cNvSpPr>
          <p:nvPr>
            <p:ph type="sldImg"/>
          </p:nvPr>
        </p:nvSpPr>
        <p:spPr/>
        <p:txBody>
          <a:bodyPr/>
          <a:lstStyle/>
          <a:p>
            <a:endParaRPr lang="zh-TW" altLang="en-US"/>
          </a:p>
        </p:txBody>
      </p:sp>
      <p:sp>
        <p:nvSpPr>
          <p:cNvPr id="3" name="Notes Placeholder 2">
            <a:extLst>
              <a:ext uri="{FF2B5EF4-FFF2-40B4-BE49-F238E27FC236}">
                <a16:creationId xmlns:a16="http://schemas.microsoft.com/office/drawing/2014/main" id="{656F5453-FD9E-DC93-07BA-8F1ED730C9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0BA1E4-69B3-D50A-E460-B59423542E48}"/>
              </a:ext>
            </a:extLst>
          </p:cNvPr>
          <p:cNvSpPr>
            <a:spLocks noGrp="1"/>
          </p:cNvSpPr>
          <p:nvPr>
            <p:ph type="sldNum" sz="quarter" idx="10"/>
          </p:nvPr>
        </p:nvSpPr>
        <p:spPr/>
        <p:txBody>
          <a:bodyPr/>
          <a:lstStyle/>
          <a:p>
            <a:fld id="{D2258DBC-29A9-4753-9711-72D79C6B4AD9}" type="slidenum">
              <a:rPr lang="en-US" smtClean="0"/>
              <a:t>4</a:t>
            </a:fld>
            <a:endParaRPr lang="en-US"/>
          </a:p>
        </p:txBody>
      </p:sp>
    </p:spTree>
    <p:extLst>
      <p:ext uri="{BB962C8B-B14F-4D97-AF65-F5344CB8AC3E}">
        <p14:creationId xmlns:p14="http://schemas.microsoft.com/office/powerpoint/2010/main" val="4183871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10DE9-2459-B9C6-8964-13D56AACC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A13B3-E328-D005-CC0E-83230CBF9AFD}"/>
              </a:ext>
            </a:extLst>
          </p:cNvPr>
          <p:cNvSpPr>
            <a:spLocks noGrp="1" noRot="1" noChangeAspect="1"/>
          </p:cNvSpPr>
          <p:nvPr>
            <p:ph type="sldImg"/>
          </p:nvPr>
        </p:nvSpPr>
        <p:spPr/>
        <p:txBody>
          <a:bodyPr/>
          <a:lstStyle/>
          <a:p>
            <a:endParaRPr lang="zh-TW" altLang="en-US"/>
          </a:p>
        </p:txBody>
      </p:sp>
      <p:sp>
        <p:nvSpPr>
          <p:cNvPr id="3" name="Notes Placeholder 2">
            <a:extLst>
              <a:ext uri="{FF2B5EF4-FFF2-40B4-BE49-F238E27FC236}">
                <a16:creationId xmlns:a16="http://schemas.microsoft.com/office/drawing/2014/main" id="{79194E19-7FE0-1239-1C9B-F816420C97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216FBA-0364-148A-1E25-F98B074BBC06}"/>
              </a:ext>
            </a:extLst>
          </p:cNvPr>
          <p:cNvSpPr>
            <a:spLocks noGrp="1"/>
          </p:cNvSpPr>
          <p:nvPr>
            <p:ph type="sldNum" sz="quarter" idx="10"/>
          </p:nvPr>
        </p:nvSpPr>
        <p:spPr/>
        <p:txBody>
          <a:bodyPr/>
          <a:lstStyle/>
          <a:p>
            <a:fld id="{D2258DBC-29A9-4753-9711-72D79C6B4AD9}" type="slidenum">
              <a:rPr lang="en-US" smtClean="0"/>
              <a:t>5</a:t>
            </a:fld>
            <a:endParaRPr lang="en-US"/>
          </a:p>
        </p:txBody>
      </p:sp>
    </p:spTree>
    <p:extLst>
      <p:ext uri="{BB962C8B-B14F-4D97-AF65-F5344CB8AC3E}">
        <p14:creationId xmlns:p14="http://schemas.microsoft.com/office/powerpoint/2010/main" val="1145845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49B4B-6C1E-D4DD-7F08-50BE39A20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CCAE6-B6C4-AAEC-1E52-3FB961B0AF39}"/>
              </a:ext>
            </a:extLst>
          </p:cNvPr>
          <p:cNvSpPr>
            <a:spLocks noGrp="1" noRot="1" noChangeAspect="1"/>
          </p:cNvSpPr>
          <p:nvPr>
            <p:ph type="sldImg"/>
          </p:nvPr>
        </p:nvSpPr>
        <p:spPr/>
        <p:txBody>
          <a:bodyPr/>
          <a:lstStyle/>
          <a:p>
            <a:endParaRPr lang="zh-TW" altLang="en-US"/>
          </a:p>
        </p:txBody>
      </p:sp>
      <p:sp>
        <p:nvSpPr>
          <p:cNvPr id="3" name="Notes Placeholder 2">
            <a:extLst>
              <a:ext uri="{FF2B5EF4-FFF2-40B4-BE49-F238E27FC236}">
                <a16:creationId xmlns:a16="http://schemas.microsoft.com/office/drawing/2014/main" id="{440002C6-0209-0A9F-0288-D1BE5EB4D37F}"/>
              </a:ext>
            </a:extLst>
          </p:cNvPr>
          <p:cNvSpPr>
            <a:spLocks noGrp="1"/>
          </p:cNvSpPr>
          <p:nvPr>
            <p:ph type="body" idx="1"/>
          </p:nvPr>
        </p:nvSpPr>
        <p:spPr/>
        <p:txBody>
          <a:bodyPr/>
          <a:lstStyle/>
          <a:p>
            <a:r>
              <a:rPr lang="en-US" dirty="0"/>
              <a:t>Ignore in-depth curing effect</a:t>
            </a:r>
          </a:p>
        </p:txBody>
      </p:sp>
      <p:sp>
        <p:nvSpPr>
          <p:cNvPr id="4" name="Slide Number Placeholder 3">
            <a:extLst>
              <a:ext uri="{FF2B5EF4-FFF2-40B4-BE49-F238E27FC236}">
                <a16:creationId xmlns:a16="http://schemas.microsoft.com/office/drawing/2014/main" id="{0C9509B8-3852-01E8-7E46-80D9479AB06C}"/>
              </a:ext>
            </a:extLst>
          </p:cNvPr>
          <p:cNvSpPr>
            <a:spLocks noGrp="1"/>
          </p:cNvSpPr>
          <p:nvPr>
            <p:ph type="sldNum" sz="quarter" idx="10"/>
          </p:nvPr>
        </p:nvSpPr>
        <p:spPr/>
        <p:txBody>
          <a:bodyPr/>
          <a:lstStyle/>
          <a:p>
            <a:fld id="{D2258DBC-29A9-4753-9711-72D79C6B4AD9}" type="slidenum">
              <a:rPr lang="en-US" smtClean="0"/>
              <a:t>6</a:t>
            </a:fld>
            <a:endParaRPr lang="en-US"/>
          </a:p>
        </p:txBody>
      </p:sp>
    </p:spTree>
    <p:extLst>
      <p:ext uri="{BB962C8B-B14F-4D97-AF65-F5344CB8AC3E}">
        <p14:creationId xmlns:p14="http://schemas.microsoft.com/office/powerpoint/2010/main" val="712397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144BC-AD69-9ADD-171A-360459CFFA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4AFBF-58E6-A5AF-E2B8-529C50630E27}"/>
              </a:ext>
            </a:extLst>
          </p:cNvPr>
          <p:cNvSpPr>
            <a:spLocks noGrp="1" noRot="1" noChangeAspect="1"/>
          </p:cNvSpPr>
          <p:nvPr>
            <p:ph type="sldImg"/>
          </p:nvPr>
        </p:nvSpPr>
        <p:spPr/>
        <p:txBody>
          <a:bodyPr/>
          <a:lstStyle/>
          <a:p>
            <a:endParaRPr lang="zh-TW" altLang="en-US"/>
          </a:p>
        </p:txBody>
      </p:sp>
      <p:sp>
        <p:nvSpPr>
          <p:cNvPr id="3" name="Notes Placeholder 2">
            <a:extLst>
              <a:ext uri="{FF2B5EF4-FFF2-40B4-BE49-F238E27FC236}">
                <a16:creationId xmlns:a16="http://schemas.microsoft.com/office/drawing/2014/main" id="{43ED4AF6-74E7-1FDD-4C8A-6E6508ABCB8E}"/>
              </a:ext>
            </a:extLst>
          </p:cNvPr>
          <p:cNvSpPr>
            <a:spLocks noGrp="1"/>
          </p:cNvSpPr>
          <p:nvPr>
            <p:ph type="body" idx="1"/>
          </p:nvPr>
        </p:nvSpPr>
        <p:spPr/>
        <p:txBody>
          <a:bodyPr/>
          <a:lstStyle/>
          <a:p>
            <a:r>
              <a:rPr lang="en-US" dirty="0"/>
              <a:t>Each </a:t>
            </a:r>
            <a:r>
              <a:rPr lang="en-US" dirty="0" err="1"/>
              <a:t>rasin</a:t>
            </a:r>
            <a:r>
              <a:rPr lang="en-US" dirty="0"/>
              <a:t> has own curve</a:t>
            </a:r>
          </a:p>
          <a:p>
            <a:r>
              <a:rPr lang="en-US" dirty="0"/>
              <a:t>Overview slides</a:t>
            </a:r>
          </a:p>
        </p:txBody>
      </p:sp>
      <p:sp>
        <p:nvSpPr>
          <p:cNvPr id="4" name="Slide Number Placeholder 3">
            <a:extLst>
              <a:ext uri="{FF2B5EF4-FFF2-40B4-BE49-F238E27FC236}">
                <a16:creationId xmlns:a16="http://schemas.microsoft.com/office/drawing/2014/main" id="{D8181CE3-F7F7-77EF-9B20-DF897AA2E0E5}"/>
              </a:ext>
            </a:extLst>
          </p:cNvPr>
          <p:cNvSpPr>
            <a:spLocks noGrp="1"/>
          </p:cNvSpPr>
          <p:nvPr>
            <p:ph type="sldNum" sz="quarter" idx="10"/>
          </p:nvPr>
        </p:nvSpPr>
        <p:spPr/>
        <p:txBody>
          <a:bodyPr/>
          <a:lstStyle/>
          <a:p>
            <a:fld id="{D2258DBC-29A9-4753-9711-72D79C6B4AD9}" type="slidenum">
              <a:rPr lang="en-US" smtClean="0"/>
              <a:t>7</a:t>
            </a:fld>
            <a:endParaRPr lang="en-US"/>
          </a:p>
        </p:txBody>
      </p:sp>
    </p:spTree>
    <p:extLst>
      <p:ext uri="{BB962C8B-B14F-4D97-AF65-F5344CB8AC3E}">
        <p14:creationId xmlns:p14="http://schemas.microsoft.com/office/powerpoint/2010/main" val="506799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C3BF8-ED93-4C56-4440-ECCF48A370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0A4148-5A4A-E4A7-397A-15D45DED2617}"/>
              </a:ext>
            </a:extLst>
          </p:cNvPr>
          <p:cNvSpPr>
            <a:spLocks noGrp="1" noRot="1" noChangeAspect="1"/>
          </p:cNvSpPr>
          <p:nvPr>
            <p:ph type="sldImg"/>
          </p:nvPr>
        </p:nvSpPr>
        <p:spPr/>
        <p:txBody>
          <a:bodyPr/>
          <a:lstStyle/>
          <a:p>
            <a:endParaRPr lang="zh-TW" altLang="en-US"/>
          </a:p>
        </p:txBody>
      </p:sp>
      <p:sp>
        <p:nvSpPr>
          <p:cNvPr id="3" name="Notes Placeholder 2">
            <a:extLst>
              <a:ext uri="{FF2B5EF4-FFF2-40B4-BE49-F238E27FC236}">
                <a16:creationId xmlns:a16="http://schemas.microsoft.com/office/drawing/2014/main" id="{EE605CA7-2E9F-AB88-B79B-27C2F58309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F48A7C-B2DB-B177-1ED4-DA7D66B60D6F}"/>
              </a:ext>
            </a:extLst>
          </p:cNvPr>
          <p:cNvSpPr>
            <a:spLocks noGrp="1"/>
          </p:cNvSpPr>
          <p:nvPr>
            <p:ph type="sldNum" sz="quarter" idx="10"/>
          </p:nvPr>
        </p:nvSpPr>
        <p:spPr/>
        <p:txBody>
          <a:bodyPr/>
          <a:lstStyle/>
          <a:p>
            <a:fld id="{D2258DBC-29A9-4753-9711-72D79C6B4AD9}" type="slidenum">
              <a:rPr lang="en-US" smtClean="0"/>
              <a:t>8</a:t>
            </a:fld>
            <a:endParaRPr lang="en-US"/>
          </a:p>
        </p:txBody>
      </p:sp>
    </p:spTree>
    <p:extLst>
      <p:ext uri="{BB962C8B-B14F-4D97-AF65-F5344CB8AC3E}">
        <p14:creationId xmlns:p14="http://schemas.microsoft.com/office/powerpoint/2010/main" val="2822235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DA248-D7E7-3471-DCBB-8F07B9B40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1221F-89F7-929A-7071-13E42952C4BD}"/>
              </a:ext>
            </a:extLst>
          </p:cNvPr>
          <p:cNvSpPr>
            <a:spLocks noGrp="1" noRot="1" noChangeAspect="1"/>
          </p:cNvSpPr>
          <p:nvPr>
            <p:ph type="sldImg"/>
          </p:nvPr>
        </p:nvSpPr>
        <p:spPr/>
        <p:txBody>
          <a:bodyPr/>
          <a:lstStyle/>
          <a:p>
            <a:endParaRPr lang="zh-TW" altLang="en-US"/>
          </a:p>
        </p:txBody>
      </p:sp>
      <p:sp>
        <p:nvSpPr>
          <p:cNvPr id="3" name="Notes Placeholder 2">
            <a:extLst>
              <a:ext uri="{FF2B5EF4-FFF2-40B4-BE49-F238E27FC236}">
                <a16:creationId xmlns:a16="http://schemas.microsoft.com/office/drawing/2014/main" id="{6A73C4FD-18AB-E69F-3C52-886DEF0240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6EC9AA-2D30-44EB-CE12-7AACA7CAFD90}"/>
              </a:ext>
            </a:extLst>
          </p:cNvPr>
          <p:cNvSpPr>
            <a:spLocks noGrp="1"/>
          </p:cNvSpPr>
          <p:nvPr>
            <p:ph type="sldNum" sz="quarter" idx="10"/>
          </p:nvPr>
        </p:nvSpPr>
        <p:spPr/>
        <p:txBody>
          <a:bodyPr/>
          <a:lstStyle/>
          <a:p>
            <a:fld id="{D2258DBC-29A9-4753-9711-72D79C6B4AD9}" type="slidenum">
              <a:rPr lang="en-US" smtClean="0"/>
              <a:t>9</a:t>
            </a:fld>
            <a:endParaRPr lang="en-US"/>
          </a:p>
        </p:txBody>
      </p:sp>
    </p:spTree>
    <p:extLst>
      <p:ext uri="{BB962C8B-B14F-4D97-AF65-F5344CB8AC3E}">
        <p14:creationId xmlns:p14="http://schemas.microsoft.com/office/powerpoint/2010/main" val="2408588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B535A-B526-2D5A-512C-DDCE7AC72E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C6754-7B65-ABDF-8E2E-0A2E5B949CD1}"/>
              </a:ext>
            </a:extLst>
          </p:cNvPr>
          <p:cNvSpPr>
            <a:spLocks noGrp="1" noRot="1" noChangeAspect="1"/>
          </p:cNvSpPr>
          <p:nvPr>
            <p:ph type="sldImg"/>
          </p:nvPr>
        </p:nvSpPr>
        <p:spPr/>
        <p:txBody>
          <a:bodyPr/>
          <a:lstStyle/>
          <a:p>
            <a:endParaRPr lang="zh-TW" altLang="en-US"/>
          </a:p>
        </p:txBody>
      </p:sp>
      <p:sp>
        <p:nvSpPr>
          <p:cNvPr id="3" name="Notes Placeholder 2">
            <a:extLst>
              <a:ext uri="{FF2B5EF4-FFF2-40B4-BE49-F238E27FC236}">
                <a16:creationId xmlns:a16="http://schemas.microsoft.com/office/drawing/2014/main" id="{97F60369-2685-B446-CA81-F1AA58E104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4DD199-B268-1A14-64AC-EA1BE5832D64}"/>
              </a:ext>
            </a:extLst>
          </p:cNvPr>
          <p:cNvSpPr>
            <a:spLocks noGrp="1"/>
          </p:cNvSpPr>
          <p:nvPr>
            <p:ph type="sldNum" sz="quarter" idx="10"/>
          </p:nvPr>
        </p:nvSpPr>
        <p:spPr/>
        <p:txBody>
          <a:bodyPr/>
          <a:lstStyle/>
          <a:p>
            <a:fld id="{D2258DBC-29A9-4753-9711-72D79C6B4AD9}" type="slidenum">
              <a:rPr lang="en-US" smtClean="0"/>
              <a:t>10</a:t>
            </a:fld>
            <a:endParaRPr lang="en-US"/>
          </a:p>
        </p:txBody>
      </p:sp>
    </p:spTree>
    <p:extLst>
      <p:ext uri="{BB962C8B-B14F-4D97-AF65-F5344CB8AC3E}">
        <p14:creationId xmlns:p14="http://schemas.microsoft.com/office/powerpoint/2010/main" val="15081041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530A4-36EB-352A-7636-9EE2737999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6645D-1599-C334-A122-7966BD54EA40}"/>
              </a:ext>
            </a:extLst>
          </p:cNvPr>
          <p:cNvSpPr>
            <a:spLocks noGrp="1" noRot="1" noChangeAspect="1"/>
          </p:cNvSpPr>
          <p:nvPr>
            <p:ph type="sldImg"/>
          </p:nvPr>
        </p:nvSpPr>
        <p:spPr/>
        <p:txBody>
          <a:bodyPr/>
          <a:lstStyle/>
          <a:p>
            <a:endParaRPr lang="zh-TW" altLang="en-US"/>
          </a:p>
        </p:txBody>
      </p:sp>
      <p:sp>
        <p:nvSpPr>
          <p:cNvPr id="3" name="Notes Placeholder 2">
            <a:extLst>
              <a:ext uri="{FF2B5EF4-FFF2-40B4-BE49-F238E27FC236}">
                <a16:creationId xmlns:a16="http://schemas.microsoft.com/office/drawing/2014/main" id="{BF812D4F-248C-A4C4-4819-EFB41F0C80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DFCC82-AA6E-C2A8-7487-993AB54E1AF5}"/>
              </a:ext>
            </a:extLst>
          </p:cNvPr>
          <p:cNvSpPr>
            <a:spLocks noGrp="1"/>
          </p:cNvSpPr>
          <p:nvPr>
            <p:ph type="sldNum" sz="quarter" idx="10"/>
          </p:nvPr>
        </p:nvSpPr>
        <p:spPr/>
        <p:txBody>
          <a:bodyPr/>
          <a:lstStyle/>
          <a:p>
            <a:fld id="{D2258DBC-29A9-4753-9711-72D79C6B4AD9}" type="slidenum">
              <a:rPr lang="en-US" smtClean="0"/>
              <a:t>11</a:t>
            </a:fld>
            <a:endParaRPr lang="en-US"/>
          </a:p>
        </p:txBody>
      </p:sp>
    </p:spTree>
    <p:extLst>
      <p:ext uri="{BB962C8B-B14F-4D97-AF65-F5344CB8AC3E}">
        <p14:creationId xmlns:p14="http://schemas.microsoft.com/office/powerpoint/2010/main" val="3148335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5C644-4E9D-1CC5-C76A-C0B0E5A20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145D3-C52D-5CA2-D848-DBD4B39DA464}"/>
              </a:ext>
            </a:extLst>
          </p:cNvPr>
          <p:cNvSpPr>
            <a:spLocks noGrp="1" noRot="1" noChangeAspect="1"/>
          </p:cNvSpPr>
          <p:nvPr>
            <p:ph type="sldImg"/>
          </p:nvPr>
        </p:nvSpPr>
        <p:spPr/>
        <p:txBody>
          <a:bodyPr/>
          <a:lstStyle/>
          <a:p>
            <a:endParaRPr lang="zh-TW" altLang="en-US"/>
          </a:p>
        </p:txBody>
      </p:sp>
      <p:sp>
        <p:nvSpPr>
          <p:cNvPr id="3" name="Notes Placeholder 2">
            <a:extLst>
              <a:ext uri="{FF2B5EF4-FFF2-40B4-BE49-F238E27FC236}">
                <a16:creationId xmlns:a16="http://schemas.microsoft.com/office/drawing/2014/main" id="{DDFACADD-FCC1-EBDA-5E78-633B01694E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F38597-44C4-30E7-F133-A5F29C540A15}"/>
              </a:ext>
            </a:extLst>
          </p:cNvPr>
          <p:cNvSpPr>
            <a:spLocks noGrp="1"/>
          </p:cNvSpPr>
          <p:nvPr>
            <p:ph type="sldNum" sz="quarter" idx="10"/>
          </p:nvPr>
        </p:nvSpPr>
        <p:spPr/>
        <p:txBody>
          <a:bodyPr/>
          <a:lstStyle/>
          <a:p>
            <a:fld id="{D2258DBC-29A9-4753-9711-72D79C6B4AD9}" type="slidenum">
              <a:rPr lang="en-US" smtClean="0"/>
              <a:t>12</a:t>
            </a:fld>
            <a:endParaRPr lang="en-US"/>
          </a:p>
        </p:txBody>
      </p:sp>
    </p:spTree>
    <p:extLst>
      <p:ext uri="{BB962C8B-B14F-4D97-AF65-F5344CB8AC3E}">
        <p14:creationId xmlns:p14="http://schemas.microsoft.com/office/powerpoint/2010/main" val="1838336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That means </a:t>
                </a:r>
                <a14:m>
                  <m:oMath xmlns:m="http://schemas.openxmlformats.org/officeDocument/2006/math">
                    <m:r>
                      <a:rPr lang="en-US" sz="1200" i="1" kern="1200">
                        <a:solidFill>
                          <a:schemeClr val="tx1"/>
                        </a:solidFill>
                        <a:latin typeface="+mn-lt"/>
                        <a:ea typeface="+mn-ea"/>
                        <a:cs typeface="+mn-cs"/>
                      </a:rPr>
                      <m:t>𝑅</m:t>
                    </m:r>
                  </m:oMath>
                </a14:m>
                <a:r>
                  <a:rPr lang="en-US" dirty="0"/>
                  <a:t> represents the accumulated amount of polymerization-driving reaction progress required to move the material along the conversion curve.</a:t>
                </a:r>
              </a:p>
            </p:txBody>
          </p:sp>
        </mc:Choice>
        <mc:Fallback>
          <p:sp>
            <p:nvSpPr>
              <p:cNvPr id="3" name="Notes Placeholder 2"/>
              <p:cNvSpPr>
                <a:spLocks noGrp="1"/>
              </p:cNvSpPr>
              <p:nvPr>
                <p:ph type="body" idx="1"/>
              </p:nvPr>
            </p:nvSpPr>
            <p:spPr/>
            <p:txBody>
              <a:bodyPr/>
              <a:lstStyle/>
              <a:p>
                <a:r>
                  <a:rPr lang="en-US" dirty="0"/>
                  <a:t>That means </a:t>
                </a:r>
                <a:r>
                  <a:rPr lang="en-US" sz="1200" i="0" kern="1200">
                    <a:solidFill>
                      <a:schemeClr val="tx1"/>
                    </a:solidFill>
                    <a:latin typeface="+mn-lt"/>
                    <a:ea typeface="+mn-ea"/>
                    <a:cs typeface="+mn-cs"/>
                  </a:rPr>
                  <a:t>𝑅</a:t>
                </a:r>
                <a:r>
                  <a:rPr lang="en-US" dirty="0"/>
                  <a:t> represents the accumulated amount of polymerization-driving reaction progress required to move the material along the conversion curve.</a:t>
                </a:r>
              </a:p>
            </p:txBody>
          </p:sp>
        </mc:Fallback>
      </mc:AlternateContent>
      <p:sp>
        <p:nvSpPr>
          <p:cNvPr id="4" name="Slide Number Placeholder 3"/>
          <p:cNvSpPr>
            <a:spLocks noGrp="1"/>
          </p:cNvSpPr>
          <p:nvPr>
            <p:ph type="sldNum" sz="quarter" idx="5"/>
          </p:nvPr>
        </p:nvSpPr>
        <p:spPr/>
        <p:txBody>
          <a:bodyPr/>
          <a:lstStyle/>
          <a:p>
            <a:fld id="{D2258DBC-29A9-4753-9711-72D79C6B4AD9}" type="slidenum">
              <a:rPr lang="en-US" smtClean="0"/>
              <a:t>30</a:t>
            </a:fld>
            <a:endParaRPr lang="en-US"/>
          </a:p>
        </p:txBody>
      </p:sp>
    </p:spTree>
    <p:extLst>
      <p:ext uri="{BB962C8B-B14F-4D97-AF65-F5344CB8AC3E}">
        <p14:creationId xmlns:p14="http://schemas.microsoft.com/office/powerpoint/2010/main" val="1021567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userDrawn="1"/>
        </p:nvSpPr>
        <p:spPr>
          <a:xfrm>
            <a:off x="0" y="6485206"/>
            <a:ext cx="12192000" cy="372794"/>
          </a:xfrm>
          <a:prstGeom prst="rect">
            <a:avLst/>
          </a:prstGeom>
          <a:solidFill>
            <a:srgbClr val="BF5700"/>
          </a:solidFill>
          <a:ln>
            <a:solidFill>
              <a:srgbClr val="BF5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0" y="14069"/>
            <a:ext cx="12191999" cy="984738"/>
          </a:xfrm>
          <a:solidFill>
            <a:schemeClr val="bg1"/>
          </a:solidFill>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253217" y="991601"/>
            <a:ext cx="11662117" cy="51853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9448800" y="6482300"/>
            <a:ext cx="2743200" cy="365125"/>
          </a:xfrm>
        </p:spPr>
        <p:txBody>
          <a:bodyPr/>
          <a:lstStyle>
            <a:lvl1pPr>
              <a:defRPr sz="1600">
                <a:solidFill>
                  <a:schemeClr val="bg1"/>
                </a:solidFill>
              </a:defRPr>
            </a:lvl1pPr>
          </a:lstStyle>
          <a:p>
            <a:fld id="{5A741E56-E3D9-46FF-B47D-3FCBEAE97EB2}" type="slidenum">
              <a:rPr lang="en-US" smtClean="0"/>
              <a:pPr/>
              <a:t>‹#›</a:t>
            </a:fld>
            <a:endParaRPr lang="en-US" dirty="0"/>
          </a:p>
        </p:txBody>
      </p:sp>
      <p:pic>
        <p:nvPicPr>
          <p:cNvPr id="1026" name="Picture 2" descr="One color Pantone 159"/>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50263" b="13646"/>
          <a:stretch/>
        </p:blipFill>
        <p:spPr bwMode="auto">
          <a:xfrm>
            <a:off x="1950903" y="6511176"/>
            <a:ext cx="1050131" cy="3265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userDrawn="1"/>
        </p:nvPicPr>
        <p:blipFill rotWithShape="1">
          <a:blip r:embed="rId3"/>
          <a:srcRect l="34255" t="27164" r="25818" b="66159"/>
          <a:stretch/>
        </p:blipFill>
        <p:spPr>
          <a:xfrm>
            <a:off x="8778240" y="6565300"/>
            <a:ext cx="2560320" cy="240741"/>
          </a:xfrm>
          <a:prstGeom prst="rect">
            <a:avLst/>
          </a:prstGeom>
        </p:spPr>
      </p:pic>
      <p:sp>
        <p:nvSpPr>
          <p:cNvPr id="10" name="Rectangle 9"/>
          <p:cNvSpPr/>
          <p:nvPr userDrawn="1"/>
        </p:nvSpPr>
        <p:spPr>
          <a:xfrm>
            <a:off x="1919947" y="6491262"/>
            <a:ext cx="45719" cy="366737"/>
          </a:xfrm>
          <a:prstGeom prst="rect">
            <a:avLst/>
          </a:prstGeom>
          <a:solidFill>
            <a:srgbClr val="BF5700"/>
          </a:solidFill>
          <a:ln>
            <a:solidFill>
              <a:srgbClr val="BF5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2955315" y="6488234"/>
            <a:ext cx="45719" cy="366737"/>
          </a:xfrm>
          <a:prstGeom prst="rect">
            <a:avLst/>
          </a:prstGeom>
          <a:solidFill>
            <a:srgbClr val="BF5700"/>
          </a:solidFill>
          <a:ln>
            <a:solidFill>
              <a:srgbClr val="BF5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1911410" y="6806041"/>
            <a:ext cx="1089624" cy="45719"/>
          </a:xfrm>
          <a:prstGeom prst="rect">
            <a:avLst/>
          </a:prstGeom>
          <a:solidFill>
            <a:srgbClr val="BF5700"/>
          </a:solidFill>
          <a:ln>
            <a:solidFill>
              <a:srgbClr val="BF5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1911410" y="6486757"/>
            <a:ext cx="1089624" cy="45719"/>
          </a:xfrm>
          <a:prstGeom prst="rect">
            <a:avLst/>
          </a:prstGeom>
          <a:solidFill>
            <a:srgbClr val="BF5700"/>
          </a:solidFill>
          <a:ln>
            <a:solidFill>
              <a:srgbClr val="BF5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2743200" y="6482715"/>
            <a:ext cx="6705600" cy="365125"/>
          </a:xfrm>
        </p:spPr>
        <p:txBody>
          <a:bodyPr/>
          <a:lstStyle>
            <a:lvl1pPr>
              <a:defRPr sz="1800">
                <a:solidFill>
                  <a:schemeClr val="bg1"/>
                </a:solidFill>
              </a:defRPr>
            </a:lvl1pPr>
          </a:lstStyle>
          <a:p>
            <a:r>
              <a:rPr lang="en-US" dirty="0"/>
              <a:t>Nanoscale Design and Manufacturing Laboratory</a:t>
            </a:r>
          </a:p>
        </p:txBody>
      </p:sp>
      <p:sp>
        <p:nvSpPr>
          <p:cNvPr id="4" name="Date Placeholder 3"/>
          <p:cNvSpPr>
            <a:spLocks noGrp="1"/>
          </p:cNvSpPr>
          <p:nvPr>
            <p:ph type="dt" sz="half" idx="10"/>
          </p:nvPr>
        </p:nvSpPr>
        <p:spPr>
          <a:xfrm>
            <a:off x="0" y="6492069"/>
            <a:ext cx="2743200" cy="365125"/>
          </a:xfrm>
        </p:spPr>
        <p:txBody>
          <a:bodyPr/>
          <a:lstStyle>
            <a:lvl1pPr>
              <a:defRPr sz="1600">
                <a:solidFill>
                  <a:schemeClr val="bg1"/>
                </a:solidFill>
              </a:defRPr>
            </a:lvl1pPr>
          </a:lstStyle>
          <a:p>
            <a:fld id="{E4965A3C-7C44-491F-A2CC-585294ABE301}" type="datetime1">
              <a:rPr lang="en-US" smtClean="0"/>
              <a:t>9/24/26</a:t>
            </a:fld>
            <a:endParaRPr lang="en-US" dirty="0"/>
          </a:p>
        </p:txBody>
      </p:sp>
      <p:cxnSp>
        <p:nvCxnSpPr>
          <p:cNvPr id="11" name="Straight Connector 10"/>
          <p:cNvCxnSpPr/>
          <p:nvPr userDrawn="1"/>
        </p:nvCxnSpPr>
        <p:spPr>
          <a:xfrm>
            <a:off x="1" y="6480379"/>
            <a:ext cx="12191999"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690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BF57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1709738"/>
            <a:ext cx="10515600" cy="2852737"/>
          </a:xfrm>
        </p:spPr>
        <p:txBody>
          <a:bodyPr anchor="b">
            <a:normAutofit/>
          </a:bodyPr>
          <a:lstStyle>
            <a:lvl1pPr>
              <a:defRPr sz="5400">
                <a:solidFill>
                  <a:schemeClr val="bg1"/>
                </a:solidFill>
              </a:defRPr>
            </a:lvl1pPr>
          </a:lstStyle>
          <a:p>
            <a:r>
              <a:rPr lang="en-US" dirty="0"/>
              <a:t>Click to edit Master title style</a:t>
            </a:r>
            <a:br>
              <a:rPr lang="en-US" dirty="0"/>
            </a:br>
            <a:endParaRPr lang="en-US" dirty="0"/>
          </a:p>
        </p:txBody>
      </p:sp>
      <p:sp>
        <p:nvSpPr>
          <p:cNvPr id="3" name="Text Placeholder 2"/>
          <p:cNvSpPr>
            <a:spLocks noGrp="1"/>
          </p:cNvSpPr>
          <p:nvPr>
            <p:ph type="body" idx="1"/>
          </p:nvPr>
        </p:nvSpPr>
        <p:spPr>
          <a:xfrm>
            <a:off x="831850" y="4589463"/>
            <a:ext cx="10515600" cy="1500187"/>
          </a:xfrm>
        </p:spPr>
        <p:txBody>
          <a:bodyPr>
            <a:normAutofit/>
          </a:bodyPr>
          <a:lstStyle>
            <a:lvl1pPr marL="0" indent="0" algn="ctr">
              <a:buNone/>
              <a:defRPr sz="4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567789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itle">
    <p:bg>
      <p:bgPr>
        <a:solidFill>
          <a:srgbClr val="BF57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52504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3433"/>
            <a:ext cx="12192000" cy="1325563"/>
          </a:xfrm>
          <a:prstGeom prst="rect">
            <a:avLst/>
          </a:prstGeom>
          <a:noFill/>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338996"/>
            <a:ext cx="10515600" cy="48379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ln>
                  <a:noFill/>
                </a:ln>
                <a:solidFill>
                  <a:schemeClr val="tx1"/>
                </a:solidFill>
              </a:defRPr>
            </a:lvl1pPr>
          </a:lstStyle>
          <a:p>
            <a:fld id="{10997B7A-D382-4443-928D-FDE6F7D17BB4}" type="datetime1">
              <a:rPr lang="en-US" smtClean="0"/>
              <a:t>9/24/26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Nanoscale Design and Manufacturing Laboratory</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5A741E56-E3D9-46FF-B47D-3FCBEAE97EB2}" type="slidenum">
              <a:rPr lang="en-US" smtClean="0"/>
              <a:pPr/>
              <a:t>‹#›</a:t>
            </a:fld>
            <a:endParaRPr lang="en-US" dirty="0"/>
          </a:p>
        </p:txBody>
      </p:sp>
    </p:spTree>
    <p:extLst>
      <p:ext uri="{BB962C8B-B14F-4D97-AF65-F5344CB8AC3E}">
        <p14:creationId xmlns:p14="http://schemas.microsoft.com/office/powerpoint/2010/main" val="2376699588"/>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5" r:id="rId3"/>
  </p:sldLayoutIdLst>
  <p:hf hdr="0"/>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3.png"/><Relationship Id="rId4" Type="http://schemas.openxmlformats.org/officeDocument/2006/relationships/image" Target="../media/image220.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gif"/></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6.gif"/><Relationship Id="rId4" Type="http://schemas.openxmlformats.org/officeDocument/2006/relationships/image" Target="../media/image40.png"/><Relationship Id="rId9" Type="http://schemas.openxmlformats.org/officeDocument/2006/relationships/image" Target="../media/image45.png"/></Relationships>
</file>

<file path=ppt/slides/_rels/slide1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8.png"/><Relationship Id="rId7" Type="http://schemas.openxmlformats.org/officeDocument/2006/relationships/image" Target="../media/image53.png"/><Relationship Id="rId2" Type="http://schemas.openxmlformats.org/officeDocument/2006/relationships/image" Target="../media/image47.png"/><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56.gif"/><Relationship Id="rId4" Type="http://schemas.openxmlformats.org/officeDocument/2006/relationships/image" Target="../media/image49.png"/><Relationship Id="rId9" Type="http://schemas.openxmlformats.org/officeDocument/2006/relationships/image" Target="../media/image55.png"/></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xml"/><Relationship Id="rId5" Type="http://schemas.openxmlformats.org/officeDocument/2006/relationships/image" Target="../media/image64.png"/><Relationship Id="rId4" Type="http://schemas.openxmlformats.org/officeDocument/2006/relationships/image" Target="../media/image6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8.gif"/><Relationship Id="rId2" Type="http://schemas.openxmlformats.org/officeDocument/2006/relationships/image" Target="../media/image67.gi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70.gif"/><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72.gif"/><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9" Type="http://schemas.openxmlformats.org/officeDocument/2006/relationships/image" Target="../media/image79.png"/></Relationships>
</file>

<file path=ppt/slides/_rels/slide3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xml"/><Relationship Id="rId4" Type="http://schemas.openxmlformats.org/officeDocument/2006/relationships/image" Target="../media/image82.png"/></Relationships>
</file>

<file path=ppt/slides/_rels/slide3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hyperlink" Target="mailto:dshui@utexas.ed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p:cNvSpPr txBox="1">
            <a:spLocks/>
          </p:cNvSpPr>
          <p:nvPr/>
        </p:nvSpPr>
        <p:spPr>
          <a:xfrm>
            <a:off x="155624" y="5504780"/>
            <a:ext cx="12192000" cy="1447196"/>
          </a:xfrm>
          <a:prstGeom prst="rect">
            <a:avLst/>
          </a:prstGeom>
          <a:solidFill>
            <a:srgbClr val="000066">
              <a:alpha val="0"/>
            </a:srgbClr>
          </a:solidFill>
          <a:ln>
            <a:noFill/>
          </a:ln>
          <a:extLst>
            <a:ext uri="{91240B29-F687-4F45-9708-019B960494DF}">
              <a14:hiddenLine xmlns:a14="http://schemas.microsoft.com/office/drawing/2010/main" w="25400">
                <a:solidFill>
                  <a:schemeClr val="tx1"/>
                </a:solidFill>
                <a:miter lim="800000"/>
                <a:headEnd/>
                <a:tailEnd/>
              </a14:hiddenLine>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i="1" dirty="0">
                <a:solidFill>
                  <a:schemeClr val="bg1"/>
                </a:solidFill>
              </a:rPr>
              <a:t>Aggregate-Induced Emission </a:t>
            </a:r>
            <a:r>
              <a:rPr lang="en-US" altLang="zh-TW" i="1" dirty="0">
                <a:solidFill>
                  <a:schemeClr val="bg1"/>
                </a:solidFill>
              </a:rPr>
              <a:t>Monitoring for </a:t>
            </a:r>
            <a:r>
              <a:rPr lang="en-US" altLang="en-US" i="1" dirty="0">
                <a:solidFill>
                  <a:schemeClr val="bg1"/>
                </a:solidFill>
              </a:rPr>
              <a:t>Control in Vat Polymerization</a:t>
            </a:r>
          </a:p>
        </p:txBody>
      </p:sp>
      <p:sp>
        <p:nvSpPr>
          <p:cNvPr id="7" name="Text Box 18"/>
          <p:cNvSpPr txBox="1">
            <a:spLocks noChangeArrowheads="1"/>
          </p:cNvSpPr>
          <p:nvPr/>
        </p:nvSpPr>
        <p:spPr bwMode="auto">
          <a:xfrm>
            <a:off x="-1" y="3920662"/>
            <a:ext cx="121920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400">
                <a:solidFill>
                  <a:schemeClr val="tx1"/>
                </a:solidFill>
                <a:latin typeface="Arial" panose="020B0604020202020204" pitchFamily="34" charset="0"/>
                <a:cs typeface="Arial" panose="020B0604020202020204" pitchFamily="34" charset="0"/>
              </a:defRPr>
            </a:lvl1pPr>
            <a:lvl2pPr marL="742950" indent="-285750" eaLnBrk="0" hangingPunct="0">
              <a:defRPr sz="2400">
                <a:solidFill>
                  <a:schemeClr val="tx1"/>
                </a:solidFill>
                <a:latin typeface="Arial" panose="020B0604020202020204" pitchFamily="34" charset="0"/>
                <a:cs typeface="Arial" panose="020B0604020202020204" pitchFamily="34" charset="0"/>
              </a:defRPr>
            </a:lvl2pPr>
            <a:lvl3pPr marL="1143000" indent="-228600" eaLnBrk="0" hangingPunct="0">
              <a:defRPr sz="2400">
                <a:solidFill>
                  <a:schemeClr val="tx1"/>
                </a:solidFill>
                <a:latin typeface="Arial" panose="020B0604020202020204" pitchFamily="34" charset="0"/>
                <a:cs typeface="Arial" panose="020B0604020202020204" pitchFamily="34" charset="0"/>
              </a:defRPr>
            </a:lvl3pPr>
            <a:lvl4pPr marL="1600200" indent="-228600" eaLnBrk="0" hangingPunct="0">
              <a:defRPr sz="2400">
                <a:solidFill>
                  <a:schemeClr val="tx1"/>
                </a:solidFill>
                <a:latin typeface="Arial" panose="020B0604020202020204" pitchFamily="34" charset="0"/>
                <a:cs typeface="Arial" panose="020B0604020202020204" pitchFamily="34" charset="0"/>
              </a:defRPr>
            </a:lvl4pPr>
            <a:lvl5pPr marL="2057400" indent="-228600" eaLnBrk="0" hangingPunct="0">
              <a:defRPr sz="24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3600" i="1" dirty="0">
                <a:solidFill>
                  <a:schemeClr val="bg1"/>
                </a:solidFill>
                <a:latin typeface="Palatino Linotype" panose="02040502050505030304" pitchFamily="18" charset="0"/>
              </a:rPr>
              <a:t>David Shui</a:t>
            </a:r>
          </a:p>
          <a:p>
            <a:pPr algn="ctr" eaLnBrk="1" hangingPunct="1"/>
            <a:r>
              <a:rPr lang="en-US" altLang="en-US" sz="1800" i="1" dirty="0">
                <a:solidFill>
                  <a:schemeClr val="bg1"/>
                </a:solidFill>
                <a:latin typeface="Palatino Linotype" panose="02040502050505030304" pitchFamily="18" charset="0"/>
              </a:rPr>
              <a:t>Department of Mechanical Engineering</a:t>
            </a:r>
          </a:p>
          <a:p>
            <a:pPr algn="ctr" eaLnBrk="1" hangingPunct="1"/>
            <a:r>
              <a:rPr lang="en-US" altLang="en-US" sz="1800" i="1" dirty="0">
                <a:solidFill>
                  <a:schemeClr val="bg1"/>
                </a:solidFill>
                <a:latin typeface="Palatino Linotype" panose="02040502050505030304" pitchFamily="18" charset="0"/>
              </a:rPr>
              <a:t>University of Texas at Austin</a:t>
            </a:r>
          </a:p>
        </p:txBody>
      </p:sp>
      <p:sp>
        <p:nvSpPr>
          <p:cNvPr id="8" name="Line 15"/>
          <p:cNvSpPr>
            <a:spLocks noChangeShapeType="1"/>
          </p:cNvSpPr>
          <p:nvPr/>
        </p:nvSpPr>
        <p:spPr bwMode="auto">
          <a:xfrm flipV="1">
            <a:off x="10834" y="5184825"/>
            <a:ext cx="12192000" cy="76200"/>
          </a:xfrm>
          <a:prstGeom prst="line">
            <a:avLst/>
          </a:prstGeom>
          <a:noFill/>
          <a:ln w="63500">
            <a:solidFill>
              <a:schemeClr val="bg1"/>
            </a:solidFill>
            <a:miter lim="800000"/>
            <a:headEnd/>
            <a:tailEnd/>
          </a:ln>
          <a:extLst>
            <a:ext uri="{909E8E84-426E-40DD-AFC4-6F175D3DCCD1}">
              <a14:hiddenFill xmlns:a14="http://schemas.microsoft.com/office/drawing/2010/main">
                <a:noFill/>
              </a14:hiddenFill>
            </a:ext>
          </a:extLst>
        </p:spPr>
        <p:txBody>
          <a:bodyPr wrap="none"/>
          <a:lstStyle/>
          <a:p>
            <a:endParaRPr lang="en-US" dirty="0"/>
          </a:p>
        </p:txBody>
      </p:sp>
      <p:pic>
        <p:nvPicPr>
          <p:cNvPr id="25" name="Picture 24"/>
          <p:cNvPicPr>
            <a:picLocks noChangeAspect="1"/>
          </p:cNvPicPr>
          <p:nvPr/>
        </p:nvPicPr>
        <p:blipFill rotWithShape="1">
          <a:blip r:embed="rId3" cstate="print">
            <a:extLst>
              <a:ext uri="{28A0092B-C50C-407E-A947-70E740481C1C}">
                <a14:useLocalDpi xmlns:a14="http://schemas.microsoft.com/office/drawing/2010/main" val="0"/>
              </a:ext>
            </a:extLst>
          </a:blip>
          <a:srcRect l="8802" t="8120" r="9295" b="9183"/>
          <a:stretch/>
        </p:blipFill>
        <p:spPr>
          <a:xfrm>
            <a:off x="4324736" y="25323"/>
            <a:ext cx="3542527" cy="3576923"/>
          </a:xfrm>
          <a:prstGeom prst="rect">
            <a:avLst/>
          </a:prstGeom>
        </p:spPr>
      </p:pic>
    </p:spTree>
    <p:extLst>
      <p:ext uri="{BB962C8B-B14F-4D97-AF65-F5344CB8AC3E}">
        <p14:creationId xmlns:p14="http://schemas.microsoft.com/office/powerpoint/2010/main" val="2241052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42E299D-775C-2271-08F7-5F552300C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A0EE9-9156-DC58-DA55-6848123FDE77}"/>
              </a:ext>
            </a:extLst>
          </p:cNvPr>
          <p:cNvSpPr>
            <a:spLocks noGrp="1"/>
          </p:cNvSpPr>
          <p:nvPr>
            <p:ph type="title"/>
          </p:nvPr>
        </p:nvSpPr>
        <p:spPr/>
        <p:txBody>
          <a:bodyPr/>
          <a:lstStyle/>
          <a:p>
            <a:r>
              <a:rPr lang="en-US" altLang="zh-TW" dirty="0"/>
              <a:t>DLP Challenge</a:t>
            </a:r>
            <a:endParaRPr lang="en-US" dirty="0"/>
          </a:p>
        </p:txBody>
      </p:sp>
      <p:sp>
        <p:nvSpPr>
          <p:cNvPr id="4" name="Date Placeholder 3">
            <a:extLst>
              <a:ext uri="{FF2B5EF4-FFF2-40B4-BE49-F238E27FC236}">
                <a16:creationId xmlns:a16="http://schemas.microsoft.com/office/drawing/2014/main" id="{4DEAABB2-6C3E-83C3-8D54-3F2AA158778B}"/>
              </a:ext>
            </a:extLst>
          </p:cNvPr>
          <p:cNvSpPr>
            <a:spLocks noGrp="1"/>
          </p:cNvSpPr>
          <p:nvPr>
            <p:ph type="dt" sz="half" idx="10"/>
          </p:nvPr>
        </p:nvSpPr>
        <p:spPr/>
        <p:txBody>
          <a:bodyPr/>
          <a:lstStyle/>
          <a:p>
            <a:fld id="{E4F5E198-6479-4380-8F14-1065308CC0DC}" type="datetime1">
              <a:rPr lang="en-US" smtClean="0"/>
              <a:t>9/24/26</a:t>
            </a:fld>
            <a:endParaRPr lang="en-US" dirty="0"/>
          </a:p>
        </p:txBody>
      </p:sp>
      <p:sp>
        <p:nvSpPr>
          <p:cNvPr id="5" name="Footer Placeholder 4">
            <a:extLst>
              <a:ext uri="{FF2B5EF4-FFF2-40B4-BE49-F238E27FC236}">
                <a16:creationId xmlns:a16="http://schemas.microsoft.com/office/drawing/2014/main" id="{6177C4EF-BF51-45DB-9E9D-D76F0AC42264}"/>
              </a:ext>
            </a:extLst>
          </p:cNvPr>
          <p:cNvSpPr>
            <a:spLocks noGrp="1"/>
          </p:cNvSpPr>
          <p:nvPr>
            <p:ph type="ftr" sz="quarter" idx="11"/>
          </p:nvPr>
        </p:nvSpPr>
        <p:spPr/>
        <p:txBody>
          <a:bodyPr/>
          <a:lstStyle/>
          <a:p>
            <a:r>
              <a:rPr lang="en-US"/>
              <a:t>Nanoscale Design and Manufacturing Laboratory</a:t>
            </a:r>
            <a:endParaRPr lang="en-US" dirty="0"/>
          </a:p>
        </p:txBody>
      </p:sp>
      <p:sp>
        <p:nvSpPr>
          <p:cNvPr id="6" name="Slide Number Placeholder 5">
            <a:extLst>
              <a:ext uri="{FF2B5EF4-FFF2-40B4-BE49-F238E27FC236}">
                <a16:creationId xmlns:a16="http://schemas.microsoft.com/office/drawing/2014/main" id="{939A7BAA-0130-05D7-5FED-D49BAA103F96}"/>
              </a:ext>
            </a:extLst>
          </p:cNvPr>
          <p:cNvSpPr>
            <a:spLocks noGrp="1"/>
          </p:cNvSpPr>
          <p:nvPr>
            <p:ph type="sldNum" sz="quarter" idx="12"/>
          </p:nvPr>
        </p:nvSpPr>
        <p:spPr/>
        <p:txBody>
          <a:bodyPr/>
          <a:lstStyle/>
          <a:p>
            <a:fld id="{5A741E56-E3D9-46FF-B47D-3FCBEAE97EB2}" type="slidenum">
              <a:rPr lang="en-US" smtClean="0"/>
              <a:pPr/>
              <a:t>2</a:t>
            </a:fld>
            <a:endParaRPr lang="en-US" dirty="0"/>
          </a:p>
        </p:txBody>
      </p:sp>
      <p:grpSp>
        <p:nvGrpSpPr>
          <p:cNvPr id="22" name="Group 21">
            <a:extLst>
              <a:ext uri="{FF2B5EF4-FFF2-40B4-BE49-F238E27FC236}">
                <a16:creationId xmlns:a16="http://schemas.microsoft.com/office/drawing/2014/main" id="{09B79E76-C4C1-1D26-1525-0F821531A503}"/>
              </a:ext>
            </a:extLst>
          </p:cNvPr>
          <p:cNvGrpSpPr/>
          <p:nvPr/>
        </p:nvGrpSpPr>
        <p:grpSpPr>
          <a:xfrm>
            <a:off x="318707" y="1484598"/>
            <a:ext cx="5464255" cy="2933757"/>
            <a:chOff x="405204" y="892885"/>
            <a:chExt cx="5464255" cy="2933757"/>
          </a:xfrm>
        </p:grpSpPr>
        <p:sp>
          <p:nvSpPr>
            <p:cNvPr id="7" name="TextBox 6">
              <a:extLst>
                <a:ext uri="{FF2B5EF4-FFF2-40B4-BE49-F238E27FC236}">
                  <a16:creationId xmlns:a16="http://schemas.microsoft.com/office/drawing/2014/main" id="{BE481744-6420-C4BA-0993-086582BD914C}"/>
                </a:ext>
              </a:extLst>
            </p:cNvPr>
            <p:cNvSpPr txBox="1"/>
            <p:nvPr/>
          </p:nvSpPr>
          <p:spPr>
            <a:xfrm>
              <a:off x="405204" y="892885"/>
              <a:ext cx="5464255" cy="369332"/>
            </a:xfrm>
            <a:prstGeom prst="rect">
              <a:avLst/>
            </a:prstGeom>
            <a:noFill/>
          </p:spPr>
          <p:txBody>
            <a:bodyPr wrap="square" rtlCol="0">
              <a:spAutoFit/>
            </a:bodyPr>
            <a:lstStyle/>
            <a:p>
              <a:pPr marL="342900" indent="-342900">
                <a:buFont typeface="Arial" panose="020B0604020202020204" pitchFamily="34" charset="0"/>
                <a:buChar char="•"/>
              </a:pPr>
              <a:r>
                <a:rPr lang="en-US" altLang="zh-TW" dirty="0"/>
                <a:t>Grayscale Mismatch &amp; Resolution Limitation [1] </a:t>
              </a:r>
            </a:p>
          </p:txBody>
        </p:sp>
        <p:pic>
          <p:nvPicPr>
            <p:cNvPr id="8" name="Picture 7">
              <a:extLst>
                <a:ext uri="{FF2B5EF4-FFF2-40B4-BE49-F238E27FC236}">
                  <a16:creationId xmlns:a16="http://schemas.microsoft.com/office/drawing/2014/main" id="{E0B8F02B-C421-699C-DFDF-AB37F857B95C}"/>
                </a:ext>
              </a:extLst>
            </p:cNvPr>
            <p:cNvPicPr>
              <a:picLocks noChangeAspect="1"/>
            </p:cNvPicPr>
            <p:nvPr/>
          </p:nvPicPr>
          <p:blipFill>
            <a:blip r:embed="rId3">
              <a:extLst>
                <a:ext uri="{28A0092B-C50C-407E-A947-70E740481C1C}">
                  <a14:useLocalDpi xmlns:a14="http://schemas.microsoft.com/office/drawing/2010/main" val="0"/>
                </a:ext>
              </a:extLst>
            </a:blip>
            <a:srcRect t="6866" b="4222"/>
            <a:stretch>
              <a:fillRect/>
            </a:stretch>
          </p:blipFill>
          <p:spPr>
            <a:xfrm>
              <a:off x="405204" y="1315035"/>
              <a:ext cx="4051517" cy="2511607"/>
            </a:xfrm>
            <a:prstGeom prst="rect">
              <a:avLst/>
            </a:prstGeom>
          </p:spPr>
        </p:pic>
      </p:grpSp>
      <p:grpSp>
        <p:nvGrpSpPr>
          <p:cNvPr id="23" name="Group 22">
            <a:extLst>
              <a:ext uri="{FF2B5EF4-FFF2-40B4-BE49-F238E27FC236}">
                <a16:creationId xmlns:a16="http://schemas.microsoft.com/office/drawing/2014/main" id="{D0BEA3DB-DD8F-DBE3-5FE6-344B9D724918}"/>
              </a:ext>
            </a:extLst>
          </p:cNvPr>
          <p:cNvGrpSpPr/>
          <p:nvPr/>
        </p:nvGrpSpPr>
        <p:grpSpPr>
          <a:xfrm>
            <a:off x="5193825" y="1484598"/>
            <a:ext cx="3553972" cy="3052629"/>
            <a:chOff x="5811663" y="914925"/>
            <a:chExt cx="3553972" cy="3052629"/>
          </a:xfrm>
        </p:grpSpPr>
        <p:sp>
          <p:nvSpPr>
            <p:cNvPr id="9" name="TextBox 8">
              <a:extLst>
                <a:ext uri="{FF2B5EF4-FFF2-40B4-BE49-F238E27FC236}">
                  <a16:creationId xmlns:a16="http://schemas.microsoft.com/office/drawing/2014/main" id="{C6BFA396-D129-F3D0-F4B7-46BB9ECE3BC7}"/>
                </a:ext>
              </a:extLst>
            </p:cNvPr>
            <p:cNvSpPr txBox="1"/>
            <p:nvPr/>
          </p:nvSpPr>
          <p:spPr>
            <a:xfrm>
              <a:off x="5811663" y="914925"/>
              <a:ext cx="3553972" cy="369332"/>
            </a:xfrm>
            <a:prstGeom prst="rect">
              <a:avLst/>
            </a:prstGeom>
            <a:noFill/>
          </p:spPr>
          <p:txBody>
            <a:bodyPr wrap="square" rtlCol="0">
              <a:spAutoFit/>
            </a:bodyPr>
            <a:lstStyle/>
            <a:p>
              <a:pPr marL="342900" indent="-342900">
                <a:buFont typeface="Arial" panose="020B0604020202020204" pitchFamily="34" charset="0"/>
                <a:buChar char="•"/>
              </a:pPr>
              <a:r>
                <a:rPr lang="en-US" altLang="zh-TW" dirty="0"/>
                <a:t>Surface Roughness [2]</a:t>
              </a:r>
            </a:p>
          </p:txBody>
        </p:sp>
        <p:pic>
          <p:nvPicPr>
            <p:cNvPr id="13" name="Picture 12">
              <a:extLst>
                <a:ext uri="{FF2B5EF4-FFF2-40B4-BE49-F238E27FC236}">
                  <a16:creationId xmlns:a16="http://schemas.microsoft.com/office/drawing/2014/main" id="{FDAAA17D-01AB-5184-EBC3-EA37101CFE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66790" y="1336708"/>
              <a:ext cx="2985301" cy="2630846"/>
            </a:xfrm>
            <a:prstGeom prst="rect">
              <a:avLst/>
            </a:prstGeom>
          </p:spPr>
        </p:pic>
      </p:grpSp>
      <p:grpSp>
        <p:nvGrpSpPr>
          <p:cNvPr id="3" name="Group 2">
            <a:extLst>
              <a:ext uri="{FF2B5EF4-FFF2-40B4-BE49-F238E27FC236}">
                <a16:creationId xmlns:a16="http://schemas.microsoft.com/office/drawing/2014/main" id="{F102BBA0-0B07-3206-8D8F-E4D3506EF38C}"/>
              </a:ext>
            </a:extLst>
          </p:cNvPr>
          <p:cNvGrpSpPr/>
          <p:nvPr/>
        </p:nvGrpSpPr>
        <p:grpSpPr>
          <a:xfrm>
            <a:off x="111212" y="5739600"/>
            <a:ext cx="11964150" cy="820054"/>
            <a:chOff x="111212" y="5739600"/>
            <a:chExt cx="11964150" cy="820054"/>
          </a:xfrm>
        </p:grpSpPr>
        <p:sp>
          <p:nvSpPr>
            <p:cNvPr id="15" name="TextBox 14">
              <a:extLst>
                <a:ext uri="{FF2B5EF4-FFF2-40B4-BE49-F238E27FC236}">
                  <a16:creationId xmlns:a16="http://schemas.microsoft.com/office/drawing/2014/main" id="{047BAC2D-D22B-1DDC-9775-729A323E0309}"/>
                </a:ext>
              </a:extLst>
            </p:cNvPr>
            <p:cNvSpPr txBox="1"/>
            <p:nvPr/>
          </p:nvSpPr>
          <p:spPr>
            <a:xfrm>
              <a:off x="111212" y="5964961"/>
              <a:ext cx="11240531" cy="230832"/>
            </a:xfrm>
            <a:prstGeom prst="rect">
              <a:avLst/>
            </a:prstGeom>
            <a:noFill/>
          </p:spPr>
          <p:txBody>
            <a:bodyPr wrap="square">
              <a:spAutoFit/>
            </a:bodyPr>
            <a:lstStyle/>
            <a:p>
              <a:r>
                <a:rPr lang="en-US" sz="900" b="0" i="0" dirty="0">
                  <a:solidFill>
                    <a:srgbClr val="222222"/>
                  </a:solidFill>
                  <a:effectLst/>
                  <a:latin typeface="Arial" panose="020B0604020202020204" pitchFamily="34" charset="0"/>
                </a:rPr>
                <a:t>[2] Xu, Y., Huang, P., To, S., Zhu, L. M., &amp; Zhu, Z. (2022). Low‐cost volumetric 3D printing of high‐precision miniature lenses in seconds. </a:t>
              </a:r>
              <a:r>
                <a:rPr lang="en-US" sz="900" b="0" i="1" dirty="0">
                  <a:solidFill>
                    <a:srgbClr val="222222"/>
                  </a:solidFill>
                  <a:effectLst/>
                  <a:latin typeface="Arial" panose="020B0604020202020204" pitchFamily="34" charset="0"/>
                </a:rPr>
                <a:t>Advanced Optical Materials</a:t>
              </a:r>
              <a:r>
                <a:rPr lang="en-US" sz="900" b="0" i="0" dirty="0">
                  <a:solidFill>
                    <a:srgbClr val="222222"/>
                  </a:solidFill>
                  <a:effectLst/>
                  <a:latin typeface="Arial" panose="020B0604020202020204" pitchFamily="34" charset="0"/>
                </a:rPr>
                <a:t>, </a:t>
              </a:r>
              <a:r>
                <a:rPr lang="en-US" sz="900" b="0" i="1" dirty="0">
                  <a:solidFill>
                    <a:srgbClr val="222222"/>
                  </a:solidFill>
                  <a:effectLst/>
                  <a:latin typeface="Arial" panose="020B0604020202020204" pitchFamily="34" charset="0"/>
                </a:rPr>
                <a:t>10</a:t>
              </a:r>
              <a:r>
                <a:rPr lang="en-US" sz="900" b="0" i="0" dirty="0">
                  <a:solidFill>
                    <a:srgbClr val="222222"/>
                  </a:solidFill>
                  <a:effectLst/>
                  <a:latin typeface="Arial" panose="020B0604020202020204" pitchFamily="34" charset="0"/>
                </a:rPr>
                <a:t>(17), 2200488.</a:t>
              </a:r>
              <a:endParaRPr lang="en-US" sz="900" dirty="0"/>
            </a:p>
          </p:txBody>
        </p:sp>
        <p:sp>
          <p:nvSpPr>
            <p:cNvPr id="17" name="TextBox 16">
              <a:extLst>
                <a:ext uri="{FF2B5EF4-FFF2-40B4-BE49-F238E27FC236}">
                  <a16:creationId xmlns:a16="http://schemas.microsoft.com/office/drawing/2014/main" id="{7AC1DE64-BBDD-28B8-FE91-00369340E53A}"/>
                </a:ext>
              </a:extLst>
            </p:cNvPr>
            <p:cNvSpPr txBox="1"/>
            <p:nvPr/>
          </p:nvSpPr>
          <p:spPr>
            <a:xfrm>
              <a:off x="111212" y="5739600"/>
              <a:ext cx="11964150" cy="230832"/>
            </a:xfrm>
            <a:prstGeom prst="rect">
              <a:avLst/>
            </a:prstGeom>
            <a:noFill/>
          </p:spPr>
          <p:txBody>
            <a:bodyPr wrap="square">
              <a:spAutoFit/>
            </a:bodyPr>
            <a:lstStyle/>
            <a:p>
              <a:r>
                <a:rPr lang="en-US" sz="900" b="0" i="0" dirty="0">
                  <a:solidFill>
                    <a:srgbClr val="222222"/>
                  </a:solidFill>
                  <a:effectLst/>
                  <a:latin typeface="Arial" panose="020B0604020202020204" pitchFamily="34" charset="0"/>
                </a:rPr>
                <a:t>[1] Ma, Y., Tian, Z., Wang, B., Zhao, Y., Nie, Y., Wildman, R. D., ... &amp; He, Y. (2024). Enhancing the 3D printing fidelity of vat photopolymerization with machine learning-driven boundary prediction. </a:t>
              </a:r>
              <a:r>
                <a:rPr lang="en-US" sz="900" b="0" i="1" dirty="0">
                  <a:solidFill>
                    <a:srgbClr val="222222"/>
                  </a:solidFill>
                  <a:effectLst/>
                  <a:latin typeface="Arial" panose="020B0604020202020204" pitchFamily="34" charset="0"/>
                </a:rPr>
                <a:t>Materials &amp; Design</a:t>
              </a:r>
              <a:r>
                <a:rPr lang="en-US" sz="900" b="0" i="0" dirty="0">
                  <a:solidFill>
                    <a:srgbClr val="222222"/>
                  </a:solidFill>
                  <a:effectLst/>
                  <a:latin typeface="Arial" panose="020B0604020202020204" pitchFamily="34" charset="0"/>
                </a:rPr>
                <a:t>, </a:t>
              </a:r>
              <a:r>
                <a:rPr lang="en-US" sz="900" b="0" i="1" dirty="0">
                  <a:solidFill>
                    <a:srgbClr val="222222"/>
                  </a:solidFill>
                  <a:effectLst/>
                  <a:latin typeface="Arial" panose="020B0604020202020204" pitchFamily="34" charset="0"/>
                </a:rPr>
                <a:t>241</a:t>
              </a:r>
              <a:r>
                <a:rPr lang="en-US" sz="900" b="0" i="0" dirty="0">
                  <a:solidFill>
                    <a:srgbClr val="222222"/>
                  </a:solidFill>
                  <a:effectLst/>
                  <a:latin typeface="Arial" panose="020B0604020202020204" pitchFamily="34" charset="0"/>
                </a:rPr>
                <a:t>, 112978.</a:t>
              </a:r>
              <a:endParaRPr lang="en-US" sz="900" dirty="0"/>
            </a:p>
          </p:txBody>
        </p:sp>
        <p:sp>
          <p:nvSpPr>
            <p:cNvPr id="19" name="TextBox 18">
              <a:extLst>
                <a:ext uri="{FF2B5EF4-FFF2-40B4-BE49-F238E27FC236}">
                  <a16:creationId xmlns:a16="http://schemas.microsoft.com/office/drawing/2014/main" id="{542C34B1-4772-4E82-0A47-CB82A6F02E6F}"/>
                </a:ext>
              </a:extLst>
            </p:cNvPr>
            <p:cNvSpPr txBox="1"/>
            <p:nvPr/>
          </p:nvSpPr>
          <p:spPr>
            <a:xfrm>
              <a:off x="111212" y="6190322"/>
              <a:ext cx="11964150" cy="369332"/>
            </a:xfrm>
            <a:prstGeom prst="rect">
              <a:avLst/>
            </a:prstGeom>
            <a:noFill/>
          </p:spPr>
          <p:txBody>
            <a:bodyPr wrap="square">
              <a:spAutoFit/>
            </a:bodyPr>
            <a:lstStyle/>
            <a:p>
              <a:r>
                <a:rPr lang="en-US" sz="900" b="0" i="0" dirty="0">
                  <a:solidFill>
                    <a:srgbClr val="222222"/>
                  </a:solidFill>
                  <a:effectLst/>
                  <a:latin typeface="Arial" panose="020B0604020202020204" pitchFamily="34" charset="0"/>
                </a:rPr>
                <a:t>[3] Zhang, Q., Weng, S., Hamel, C. M., Montgomery, S. M., Wu, J., Kuang, X., ... &amp; Qi, H. J. (2021). Design for the reduction of volume shrinkage-induced distortion in digital light processing 3D printing. </a:t>
              </a:r>
              <a:r>
                <a:rPr lang="en-US" sz="900" b="0" i="1" dirty="0">
                  <a:solidFill>
                    <a:srgbClr val="222222"/>
                  </a:solidFill>
                  <a:effectLst/>
                  <a:latin typeface="Arial" panose="020B0604020202020204" pitchFamily="34" charset="0"/>
                </a:rPr>
                <a:t>Extreme Mechanics Letters</a:t>
              </a:r>
              <a:r>
                <a:rPr lang="en-US" sz="900" b="0" i="0" dirty="0">
                  <a:solidFill>
                    <a:srgbClr val="222222"/>
                  </a:solidFill>
                  <a:effectLst/>
                  <a:latin typeface="Arial" panose="020B0604020202020204" pitchFamily="34" charset="0"/>
                </a:rPr>
                <a:t>, </a:t>
              </a:r>
              <a:r>
                <a:rPr lang="en-US" sz="900" b="0" i="1" dirty="0">
                  <a:solidFill>
                    <a:srgbClr val="222222"/>
                  </a:solidFill>
                  <a:effectLst/>
                  <a:latin typeface="Arial" panose="020B0604020202020204" pitchFamily="34" charset="0"/>
                </a:rPr>
                <a:t>48</a:t>
              </a:r>
              <a:r>
                <a:rPr lang="en-US" sz="900" b="0" i="0" dirty="0">
                  <a:solidFill>
                    <a:srgbClr val="222222"/>
                  </a:solidFill>
                  <a:effectLst/>
                  <a:latin typeface="Arial" panose="020B0604020202020204" pitchFamily="34" charset="0"/>
                </a:rPr>
                <a:t>, 101403.</a:t>
              </a:r>
              <a:endParaRPr lang="en-US" sz="900" dirty="0"/>
            </a:p>
          </p:txBody>
        </p:sp>
      </p:grpSp>
      <p:grpSp>
        <p:nvGrpSpPr>
          <p:cNvPr id="24" name="Group 23">
            <a:extLst>
              <a:ext uri="{FF2B5EF4-FFF2-40B4-BE49-F238E27FC236}">
                <a16:creationId xmlns:a16="http://schemas.microsoft.com/office/drawing/2014/main" id="{361CEE1C-D1A1-FE9F-1047-1BE6C9105408}"/>
              </a:ext>
            </a:extLst>
          </p:cNvPr>
          <p:cNvGrpSpPr/>
          <p:nvPr/>
        </p:nvGrpSpPr>
        <p:grpSpPr>
          <a:xfrm>
            <a:off x="8552030" y="1510675"/>
            <a:ext cx="3321263" cy="2926589"/>
            <a:chOff x="8465533" y="900053"/>
            <a:chExt cx="3321263" cy="2926589"/>
          </a:xfrm>
        </p:grpSpPr>
        <p:pic>
          <p:nvPicPr>
            <p:cNvPr id="20" name="Picture 19">
              <a:extLst>
                <a:ext uri="{FF2B5EF4-FFF2-40B4-BE49-F238E27FC236}">
                  <a16:creationId xmlns:a16="http://schemas.microsoft.com/office/drawing/2014/main" id="{EFB10B1D-044A-B612-BDF7-48572CBF4C6C}"/>
                </a:ext>
              </a:extLst>
            </p:cNvPr>
            <p:cNvPicPr>
              <a:picLocks noChangeAspect="1"/>
            </p:cNvPicPr>
            <p:nvPr/>
          </p:nvPicPr>
          <p:blipFill>
            <a:blip r:embed="rId5">
              <a:extLst>
                <a:ext uri="{28A0092B-C50C-407E-A947-70E740481C1C}">
                  <a14:useLocalDpi xmlns:a14="http://schemas.microsoft.com/office/drawing/2010/main" val="0"/>
                </a:ext>
              </a:extLst>
            </a:blip>
            <a:srcRect l="50403" t="11602" b="5728"/>
            <a:stretch>
              <a:fillRect/>
            </a:stretch>
          </p:blipFill>
          <p:spPr>
            <a:xfrm>
              <a:off x="8465533" y="1415014"/>
              <a:ext cx="3321263" cy="2411628"/>
            </a:xfrm>
            <a:prstGeom prst="rect">
              <a:avLst/>
            </a:prstGeom>
          </p:spPr>
        </p:pic>
        <p:sp>
          <p:nvSpPr>
            <p:cNvPr id="21" name="TextBox 20">
              <a:extLst>
                <a:ext uri="{FF2B5EF4-FFF2-40B4-BE49-F238E27FC236}">
                  <a16:creationId xmlns:a16="http://schemas.microsoft.com/office/drawing/2014/main" id="{B042A93A-1D26-E21F-0EA5-E41116661D2B}"/>
                </a:ext>
              </a:extLst>
            </p:cNvPr>
            <p:cNvSpPr txBox="1"/>
            <p:nvPr/>
          </p:nvSpPr>
          <p:spPr>
            <a:xfrm>
              <a:off x="8465533" y="900053"/>
              <a:ext cx="2886210" cy="369332"/>
            </a:xfrm>
            <a:prstGeom prst="rect">
              <a:avLst/>
            </a:prstGeom>
            <a:noFill/>
          </p:spPr>
          <p:txBody>
            <a:bodyPr wrap="square" rtlCol="0">
              <a:spAutoFit/>
            </a:bodyPr>
            <a:lstStyle/>
            <a:p>
              <a:pPr marL="342900" indent="-342900">
                <a:buFont typeface="Arial" panose="020B0604020202020204" pitchFamily="34" charset="0"/>
                <a:buChar char="•"/>
              </a:pPr>
              <a:r>
                <a:rPr lang="en-US" altLang="zh-TW" dirty="0"/>
                <a:t>Volume Shrinkage [3]</a:t>
              </a:r>
            </a:p>
          </p:txBody>
        </p:sp>
      </p:grpSp>
      <p:sp>
        <p:nvSpPr>
          <p:cNvPr id="28" name="TextBox 27">
            <a:extLst>
              <a:ext uri="{FF2B5EF4-FFF2-40B4-BE49-F238E27FC236}">
                <a16:creationId xmlns:a16="http://schemas.microsoft.com/office/drawing/2014/main" id="{BA8A7110-3B61-C5BE-F532-6439F4A2C2F1}"/>
              </a:ext>
            </a:extLst>
          </p:cNvPr>
          <p:cNvSpPr txBox="1"/>
          <p:nvPr/>
        </p:nvSpPr>
        <p:spPr>
          <a:xfrm>
            <a:off x="318707" y="4516963"/>
            <a:ext cx="4051517" cy="954107"/>
          </a:xfrm>
          <a:prstGeom prst="rect">
            <a:avLst/>
          </a:prstGeom>
          <a:noFill/>
        </p:spPr>
        <p:txBody>
          <a:bodyPr wrap="square">
            <a:spAutoFit/>
          </a:bodyPr>
          <a:lstStyle/>
          <a:p>
            <a:r>
              <a:rPr lang="en-US" sz="1400" dirty="0"/>
              <a:t>Pixel-level grayscale control can improve boundary smoothness, but limited projector resolution and light scattering can still cause shape mismatch and overcuring.</a:t>
            </a:r>
          </a:p>
        </p:txBody>
      </p:sp>
      <p:sp>
        <p:nvSpPr>
          <p:cNvPr id="30" name="TextBox 29">
            <a:extLst>
              <a:ext uri="{FF2B5EF4-FFF2-40B4-BE49-F238E27FC236}">
                <a16:creationId xmlns:a16="http://schemas.microsoft.com/office/drawing/2014/main" id="{08683FCF-85BC-224A-DABA-0B166068AD2D}"/>
              </a:ext>
            </a:extLst>
          </p:cNvPr>
          <p:cNvSpPr txBox="1"/>
          <p:nvPr/>
        </p:nvSpPr>
        <p:spPr>
          <a:xfrm>
            <a:off x="5039296" y="4565603"/>
            <a:ext cx="3194957" cy="954107"/>
          </a:xfrm>
          <a:prstGeom prst="rect">
            <a:avLst/>
          </a:prstGeom>
          <a:noFill/>
        </p:spPr>
        <p:txBody>
          <a:bodyPr wrap="square">
            <a:spAutoFit/>
          </a:bodyPr>
          <a:lstStyle/>
          <a:p>
            <a:r>
              <a:rPr lang="en-US" sz="1400" dirty="0"/>
              <a:t>Layer-wise curing and pixelated light projection can create rough or stair-stepped surfaces, especially near curved boundaries.</a:t>
            </a:r>
          </a:p>
        </p:txBody>
      </p:sp>
      <p:sp>
        <p:nvSpPr>
          <p:cNvPr id="32" name="TextBox 31">
            <a:extLst>
              <a:ext uri="{FF2B5EF4-FFF2-40B4-BE49-F238E27FC236}">
                <a16:creationId xmlns:a16="http://schemas.microsoft.com/office/drawing/2014/main" id="{1EB04682-E7F5-76E2-5045-EC16CB9B5D9C}"/>
              </a:ext>
            </a:extLst>
          </p:cNvPr>
          <p:cNvSpPr txBox="1"/>
          <p:nvPr/>
        </p:nvSpPr>
        <p:spPr>
          <a:xfrm>
            <a:off x="8552030" y="4582893"/>
            <a:ext cx="2751290" cy="954107"/>
          </a:xfrm>
          <a:prstGeom prst="rect">
            <a:avLst/>
          </a:prstGeom>
          <a:noFill/>
        </p:spPr>
        <p:txBody>
          <a:bodyPr wrap="square">
            <a:spAutoFit/>
          </a:bodyPr>
          <a:lstStyle/>
          <a:p>
            <a:r>
              <a:rPr lang="en-US" sz="1400" dirty="0"/>
              <a:t>Photopolymerization-induced shrinkage can distort printed geometries and cause deviation from the CAD model.</a:t>
            </a:r>
          </a:p>
        </p:txBody>
      </p:sp>
    </p:spTree>
    <p:extLst>
      <p:ext uri="{BB962C8B-B14F-4D97-AF65-F5344CB8AC3E}">
        <p14:creationId xmlns:p14="http://schemas.microsoft.com/office/powerpoint/2010/main" val="4173202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4" name="Date Placeholder 3"/>
          <p:cNvSpPr>
            <a:spLocks noGrp="1"/>
          </p:cNvSpPr>
          <p:nvPr>
            <p:ph type="dt" sz="half" idx="10"/>
          </p:nvPr>
        </p:nvSpPr>
        <p:spPr/>
        <p:txBody>
          <a:bodyPr/>
          <a:lstStyle/>
          <a:p>
            <a:fld id="{E4F5E198-6479-4380-8F14-1065308CC0DC}" type="datetime1">
              <a:rPr lang="en-US" smtClean="0"/>
              <a:t>9/24/26</a:t>
            </a:fld>
            <a:endParaRPr lang="en-US" dirty="0"/>
          </a:p>
        </p:txBody>
      </p:sp>
      <p:sp>
        <p:nvSpPr>
          <p:cNvPr id="5" name="Footer Placeholder 4"/>
          <p:cNvSpPr>
            <a:spLocks noGrp="1"/>
          </p:cNvSpPr>
          <p:nvPr>
            <p:ph type="ftr" sz="quarter" idx="11"/>
          </p:nvPr>
        </p:nvSpPr>
        <p:spPr/>
        <p:txBody>
          <a:bodyPr/>
          <a:lstStyle/>
          <a:p>
            <a:r>
              <a:rPr lang="en-US"/>
              <a:t>Nanoscale Design and Manufacturing Laboratory</a:t>
            </a:r>
            <a:endParaRPr lang="en-US" dirty="0"/>
          </a:p>
        </p:txBody>
      </p:sp>
      <p:sp>
        <p:nvSpPr>
          <p:cNvPr id="6" name="Slide Number Placeholder 5"/>
          <p:cNvSpPr>
            <a:spLocks noGrp="1"/>
          </p:cNvSpPr>
          <p:nvPr>
            <p:ph type="sldNum" sz="quarter" idx="12"/>
          </p:nvPr>
        </p:nvSpPr>
        <p:spPr/>
        <p:txBody>
          <a:bodyPr/>
          <a:lstStyle/>
          <a:p>
            <a:fld id="{5A741E56-E3D9-46FF-B47D-3FCBEAE97EB2}" type="slidenum">
              <a:rPr lang="en-US" smtClean="0"/>
              <a:pPr/>
              <a:t>3</a:t>
            </a:fld>
            <a:endParaRPr lang="en-US" dirty="0"/>
          </a:p>
        </p:txBody>
      </p:sp>
      <p:pic>
        <p:nvPicPr>
          <p:cNvPr id="7" name="Picture 6">
            <a:extLst>
              <a:ext uri="{FF2B5EF4-FFF2-40B4-BE49-F238E27FC236}">
                <a16:creationId xmlns:a16="http://schemas.microsoft.com/office/drawing/2014/main" id="{65148EF8-CAB8-5AB0-68FB-60329F1C926E}"/>
              </a:ext>
            </a:extLst>
          </p:cNvPr>
          <p:cNvPicPr>
            <a:picLocks noChangeAspect="1"/>
          </p:cNvPicPr>
          <p:nvPr/>
        </p:nvPicPr>
        <p:blipFill>
          <a:blip r:embed="rId3"/>
          <a:stretch>
            <a:fillRect/>
          </a:stretch>
        </p:blipFill>
        <p:spPr>
          <a:xfrm>
            <a:off x="5689090" y="1398603"/>
            <a:ext cx="6502909" cy="4052186"/>
          </a:xfrm>
          <a:prstGeom prst="rect">
            <a:avLst/>
          </a:prstGeom>
        </p:spPr>
      </p:pic>
      <p:sp>
        <p:nvSpPr>
          <p:cNvPr id="8" name="TextBox 7">
            <a:extLst>
              <a:ext uri="{FF2B5EF4-FFF2-40B4-BE49-F238E27FC236}">
                <a16:creationId xmlns:a16="http://schemas.microsoft.com/office/drawing/2014/main" id="{AE914058-E2C0-3751-0126-2DC82E88679F}"/>
              </a:ext>
            </a:extLst>
          </p:cNvPr>
          <p:cNvSpPr txBox="1"/>
          <p:nvPr/>
        </p:nvSpPr>
        <p:spPr>
          <a:xfrm>
            <a:off x="594360" y="5979568"/>
            <a:ext cx="11647170" cy="461665"/>
          </a:xfrm>
          <a:prstGeom prst="rect">
            <a:avLst/>
          </a:prstGeom>
          <a:noFill/>
        </p:spPr>
        <p:txBody>
          <a:bodyPr wrap="square" rtlCol="0">
            <a:spAutoFit/>
          </a:bodyPr>
          <a:lstStyle/>
          <a:p>
            <a:r>
              <a:rPr lang="en-US" altLang="zh-TW" sz="1200" dirty="0"/>
              <a:t>Ref. Yap, T., Singh, K., Chen, X., O’Dea, C., Crawford, N. K., Bae, K., Page, Z. A., &amp; Cullinan, M. (2026, June 14–18). </a:t>
            </a:r>
            <a:r>
              <a:rPr lang="en-US" altLang="zh-TW" sz="1200" i="1" dirty="0"/>
              <a:t>Inversely designed projection image generation for vat photopolymerization in a machine learning framework</a:t>
            </a:r>
            <a:r>
              <a:rPr lang="en-US" altLang="zh-TW" sz="1200" dirty="0"/>
              <a:t>. In </a:t>
            </a:r>
            <a:r>
              <a:rPr lang="en-US" altLang="zh-TW" sz="1200" i="1" dirty="0"/>
              <a:t>Proceedings of the ASME 2026 21st International Manufacturing Science and Engineering Conference (MSEC2026)</a:t>
            </a:r>
            <a:r>
              <a:rPr lang="en-US" altLang="zh-TW" sz="1200" dirty="0"/>
              <a:t>, </a:t>
            </a:r>
            <a:endParaRPr lang="zh-TW" altLang="en-US" sz="12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6BB0638-B062-F8F4-6DC1-DD08FBF6EFED}"/>
                  </a:ext>
                </a:extLst>
              </p:cNvPr>
              <p:cNvSpPr txBox="1"/>
              <p:nvPr/>
            </p:nvSpPr>
            <p:spPr>
              <a:xfrm>
                <a:off x="190251" y="1162538"/>
                <a:ext cx="5498839" cy="4524315"/>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Part 1: Optimize a single DMD mask through </a:t>
                </a:r>
                <a:r>
                  <a:rPr lang="en-US" altLang="zh-TW" b="1" dirty="0"/>
                  <a:t>offline open-loop inverse design</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Part 2: Optimize a sequence of DMD masks using </a:t>
                </a:r>
                <a:r>
                  <a:rPr lang="en-US" altLang="zh-TW" b="1" dirty="0"/>
                  <a:t>offline nominal open-loop optimization</a:t>
                </a:r>
                <a:r>
                  <a:rPr lang="en-US" altLang="zh-TW" dirty="0"/>
                  <a:t> and </a:t>
                </a:r>
                <a:r>
                  <a:rPr lang="en-US" altLang="zh-TW" b="1" dirty="0"/>
                  <a:t>online blurring feedback correction in a closed-loop framework</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Objective: Mitigate blurring effects to enable </a:t>
                </a:r>
                <a:r>
                  <a:rPr lang="en-US" altLang="zh-TW" b="1" dirty="0"/>
                  <a:t>accurate and high-speed vat photopolymerization (VPP)</a:t>
                </a:r>
              </a:p>
              <a:p>
                <a:pPr marL="285750" indent="-285750">
                  <a:buFont typeface="Arial" panose="020B0604020202020204" pitchFamily="34" charset="0"/>
                  <a:buChar char="•"/>
                </a:pPr>
                <a:endParaRPr lang="en-US" altLang="zh-TW" b="1" dirty="0"/>
              </a:p>
              <a:p>
                <a:pPr marL="285750" indent="-285750">
                  <a:buFont typeface="Arial" panose="020B0604020202020204" pitchFamily="34" charset="0"/>
                  <a:buChar char="•"/>
                </a:pPr>
                <a:r>
                  <a:rPr lang="en-US" altLang="zh-TW" dirty="0"/>
                  <a:t>State Space Model</a:t>
                </a:r>
              </a:p>
              <a:p>
                <a:pPr/>
                <a14:m>
                  <m:oMathPara xmlns:m="http://schemas.openxmlformats.org/officeDocument/2006/math">
                    <m:oMath>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𝑘</m:t>
                          </m:r>
                          <m:r>
                            <a:rPr lang="en-US" altLang="zh-TW" i="1">
                              <a:latin typeface="Cambria Math" panose="02040503050406030204" pitchFamily="18" charset="0"/>
                            </a:rPr>
                            <m:t>+1</m:t>
                          </m:r>
                        </m:sub>
                      </m:sSub>
                      <m:r>
                        <a:rPr lang="en-US" altLang="zh-TW" i="1">
                          <a:latin typeface="Cambria Math" panose="02040503050406030204" pitchFamily="18" charset="0"/>
                        </a:rPr>
                        <m:t>=</m:t>
                      </m:r>
                      <m:r>
                        <a:rPr lang="en-US" altLang="zh-TW" i="1">
                          <a:latin typeface="Cambria Math" panose="02040503050406030204" pitchFamily="18" charset="0"/>
                        </a:rPr>
                        <m:t>𝑓</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𝑘</m:t>
                              </m:r>
                            </m:sub>
                          </m:sSub>
                          <m:r>
                            <a:rPr lang="en-US" altLang="zh-TW" i="1">
                              <a:latin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𝑢</m:t>
                              </m:r>
                            </m:e>
                            <m:sub>
                              <m:r>
                                <a:rPr lang="en-US" altLang="zh-TW" i="1">
                                  <a:latin typeface="Cambria Math" panose="02040503050406030204" pitchFamily="18" charset="0"/>
                                </a:rPr>
                                <m:t>𝑘</m:t>
                              </m:r>
                            </m:sub>
                          </m:sSub>
                          <m:r>
                            <a:rPr lang="en-US" altLang="zh-TW" i="1">
                              <a:latin typeface="Cambria Math" panose="02040503050406030204" pitchFamily="18" charset="0"/>
                            </a:rPr>
                            <m:t>, </m:t>
                          </m:r>
                          <m:r>
                            <a:rPr lang="en-US" altLang="zh-TW" i="1">
                              <a:latin typeface="Cambria Math" panose="02040503050406030204" pitchFamily="18" charset="0"/>
                            </a:rPr>
                            <m:t>𝜃</m:t>
                          </m:r>
                        </m:e>
                      </m:d>
                    </m:oMath>
                  </m:oMathPara>
                </a14:m>
                <a:endParaRPr lang="en-US" altLang="zh-TW" dirty="0"/>
              </a:p>
              <a:p>
                <a:pPr/>
                <a14:m>
                  <m:oMathPara xmlns:m="http://schemas.openxmlformats.org/officeDocument/2006/math">
                    <m:oMath>
                      <m:sSub>
                        <m:sSubPr>
                          <m:ctrlPr>
                            <a:rPr lang="en-US" altLang="zh-TW" i="1">
                              <a:latin typeface="Cambria Math" panose="02040503050406030204" pitchFamily="18" charset="0"/>
                            </a:rPr>
                          </m:ctrlPr>
                        </m:sSubPr>
                        <m:e>
                          <m:r>
                            <a:rPr lang="en-US" altLang="zh-TW" i="1">
                              <a:latin typeface="Cambria Math" panose="02040503050406030204" pitchFamily="18" charset="0"/>
                            </a:rPr>
                            <m:t>𝑦</m:t>
                          </m:r>
                        </m:e>
                        <m:sub>
                          <m:r>
                            <a:rPr lang="en-US" altLang="zh-TW" i="1">
                              <a:latin typeface="Cambria Math" panose="02040503050406030204" pitchFamily="18" charset="0"/>
                            </a:rPr>
                            <m:t>𝑘</m:t>
                          </m:r>
                        </m:sub>
                      </m:sSub>
                      <m:r>
                        <a:rPr lang="en-US" altLang="zh-TW" i="1">
                          <a:latin typeface="Cambria Math" panose="02040503050406030204" pitchFamily="18" charset="0"/>
                        </a:rPr>
                        <m:t>=</m:t>
                      </m:r>
                      <m:r>
                        <a:rPr lang="en-US" altLang="zh-TW" i="1">
                          <a:latin typeface="Cambria Math" panose="02040503050406030204" pitchFamily="18" charset="0"/>
                        </a:rPr>
                        <m:t>ℎ</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𝑘</m:t>
                              </m:r>
                            </m:sub>
                          </m:sSub>
                        </m:e>
                      </m:d>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𝑘</m:t>
                          </m:r>
                        </m:sub>
                      </m:sSub>
                    </m:oMath>
                  </m:oMathPara>
                </a14:m>
                <a:endParaRPr lang="en-US" altLang="zh-TW" dirty="0"/>
              </a:p>
              <a:p>
                <a:r>
                  <a:rPr lang="en-US" altLang="zh-TW" dirty="0"/>
                  <a:t>where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𝑘</m:t>
                        </m:r>
                      </m:sub>
                    </m:sSub>
                  </m:oMath>
                </a14:m>
                <a:r>
                  <a:rPr lang="zh-TW" altLang="en-US" dirty="0"/>
                  <a:t> </a:t>
                </a:r>
                <a:r>
                  <a:rPr lang="en-US" altLang="zh-TW" dirty="0"/>
                  <a:t>is the state of each pixel (e.g., DoC, oxygen), </a:t>
                </a:r>
                <a14:m>
                  <m:oMath xmlns:m="http://schemas.openxmlformats.org/officeDocument/2006/math">
                    <m:r>
                      <a:rPr lang="en-US" altLang="zh-TW" i="1">
                        <a:latin typeface="Cambria Math" panose="02040503050406030204" pitchFamily="18" charset="0"/>
                      </a:rPr>
                      <m:t>𝜃</m:t>
                    </m:r>
                  </m:oMath>
                </a14:m>
                <a:r>
                  <a:rPr lang="en-US" altLang="zh-TW" dirty="0"/>
                  <a:t> 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𝑘</m:t>
                        </m:r>
                      </m:sub>
                    </m:sSub>
                  </m:oMath>
                </a14:m>
                <a:r>
                  <a:rPr lang="en-US" altLang="zh-TW" dirty="0"/>
                  <a:t>are process and sensor uncertainty.</a:t>
                </a:r>
                <a:r>
                  <a:rPr lang="zh-TW" altLang="en-US" dirty="0"/>
                  <a:t> </a:t>
                </a:r>
              </a:p>
            </p:txBody>
          </p:sp>
        </mc:Choice>
        <mc:Fallback xmlns="">
          <p:sp>
            <p:nvSpPr>
              <p:cNvPr id="10" name="TextBox 9">
                <a:extLst>
                  <a:ext uri="{FF2B5EF4-FFF2-40B4-BE49-F238E27FC236}">
                    <a16:creationId xmlns:a16="http://schemas.microsoft.com/office/drawing/2014/main" id="{E6BB0638-B062-F8F4-6DC1-DD08FBF6EFED}"/>
                  </a:ext>
                </a:extLst>
              </p:cNvPr>
              <p:cNvSpPr txBox="1">
                <a:spLocks noRot="1" noChangeAspect="1" noMove="1" noResize="1" noEditPoints="1" noAdjustHandles="1" noChangeArrowheads="1" noChangeShapeType="1" noTextEdit="1"/>
              </p:cNvSpPr>
              <p:nvPr/>
            </p:nvSpPr>
            <p:spPr>
              <a:xfrm>
                <a:off x="190251" y="1162538"/>
                <a:ext cx="5498839" cy="4524315"/>
              </a:xfrm>
              <a:prstGeom prst="rect">
                <a:avLst/>
              </a:prstGeom>
              <a:blipFill>
                <a:blip r:embed="rId4"/>
                <a:stretch>
                  <a:fillRect l="-887" t="-809" r="-1552" b="-121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11459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89249-3A10-30F9-C18C-A5E8DFDED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047DC5-CD96-945C-4BBE-77CAB677EE03}"/>
              </a:ext>
            </a:extLst>
          </p:cNvPr>
          <p:cNvSpPr>
            <a:spLocks noGrp="1"/>
          </p:cNvSpPr>
          <p:nvPr>
            <p:ph type="title"/>
          </p:nvPr>
        </p:nvSpPr>
        <p:spPr/>
        <p:txBody>
          <a:bodyPr/>
          <a:lstStyle/>
          <a:p>
            <a:r>
              <a:rPr lang="en-US" altLang="zh-TW" dirty="0"/>
              <a:t>Offline Optimization Overview</a:t>
            </a:r>
            <a:endParaRPr lang="en-US" dirty="0"/>
          </a:p>
        </p:txBody>
      </p:sp>
      <p:sp>
        <p:nvSpPr>
          <p:cNvPr id="4" name="Date Placeholder 3">
            <a:extLst>
              <a:ext uri="{FF2B5EF4-FFF2-40B4-BE49-F238E27FC236}">
                <a16:creationId xmlns:a16="http://schemas.microsoft.com/office/drawing/2014/main" id="{68D544F8-16A9-D9EC-967B-DF1E229D7F46}"/>
              </a:ext>
            </a:extLst>
          </p:cNvPr>
          <p:cNvSpPr>
            <a:spLocks noGrp="1"/>
          </p:cNvSpPr>
          <p:nvPr>
            <p:ph type="dt" sz="half" idx="10"/>
          </p:nvPr>
        </p:nvSpPr>
        <p:spPr/>
        <p:txBody>
          <a:bodyPr/>
          <a:lstStyle/>
          <a:p>
            <a:fld id="{E4F5E198-6479-4380-8F14-1065308CC0DC}" type="datetime1">
              <a:rPr lang="en-US" smtClean="0"/>
              <a:t>9/24/26</a:t>
            </a:fld>
            <a:endParaRPr lang="en-US" dirty="0"/>
          </a:p>
        </p:txBody>
      </p:sp>
      <p:sp>
        <p:nvSpPr>
          <p:cNvPr id="5" name="Footer Placeholder 4">
            <a:extLst>
              <a:ext uri="{FF2B5EF4-FFF2-40B4-BE49-F238E27FC236}">
                <a16:creationId xmlns:a16="http://schemas.microsoft.com/office/drawing/2014/main" id="{CBFC0610-4789-3162-7132-A4D1F9D185F4}"/>
              </a:ext>
            </a:extLst>
          </p:cNvPr>
          <p:cNvSpPr>
            <a:spLocks noGrp="1"/>
          </p:cNvSpPr>
          <p:nvPr>
            <p:ph type="ftr" sz="quarter" idx="11"/>
          </p:nvPr>
        </p:nvSpPr>
        <p:spPr/>
        <p:txBody>
          <a:bodyPr/>
          <a:lstStyle/>
          <a:p>
            <a:r>
              <a:rPr lang="en-US"/>
              <a:t>Nanoscale Design and Manufacturing Laboratory</a:t>
            </a:r>
            <a:endParaRPr lang="en-US" dirty="0"/>
          </a:p>
        </p:txBody>
      </p:sp>
      <p:sp>
        <p:nvSpPr>
          <p:cNvPr id="6" name="Slide Number Placeholder 5">
            <a:extLst>
              <a:ext uri="{FF2B5EF4-FFF2-40B4-BE49-F238E27FC236}">
                <a16:creationId xmlns:a16="http://schemas.microsoft.com/office/drawing/2014/main" id="{FE5B5A22-87F6-E679-78AD-975006C4BBC8}"/>
              </a:ext>
            </a:extLst>
          </p:cNvPr>
          <p:cNvSpPr>
            <a:spLocks noGrp="1"/>
          </p:cNvSpPr>
          <p:nvPr>
            <p:ph type="sldNum" sz="quarter" idx="12"/>
          </p:nvPr>
        </p:nvSpPr>
        <p:spPr/>
        <p:txBody>
          <a:bodyPr/>
          <a:lstStyle/>
          <a:p>
            <a:fld id="{5A741E56-E3D9-46FF-B47D-3FCBEAE97EB2}" type="slidenum">
              <a:rPr lang="en-US" smtClean="0"/>
              <a:pPr/>
              <a:t>4</a:t>
            </a:fld>
            <a:endParaRPr lang="en-US" dirty="0"/>
          </a:p>
        </p:txBody>
      </p:sp>
      <p:grpSp>
        <p:nvGrpSpPr>
          <p:cNvPr id="45" name="Group 44">
            <a:extLst>
              <a:ext uri="{FF2B5EF4-FFF2-40B4-BE49-F238E27FC236}">
                <a16:creationId xmlns:a16="http://schemas.microsoft.com/office/drawing/2014/main" id="{D0EC46CF-2BAC-BB1F-87F9-A527534683C0}"/>
              </a:ext>
            </a:extLst>
          </p:cNvPr>
          <p:cNvGrpSpPr/>
          <p:nvPr/>
        </p:nvGrpSpPr>
        <p:grpSpPr>
          <a:xfrm>
            <a:off x="338671" y="2929189"/>
            <a:ext cx="11665069" cy="2551522"/>
            <a:chOff x="405202" y="892885"/>
            <a:chExt cx="11665069" cy="2551522"/>
          </a:xfrm>
        </p:grpSpPr>
        <p:sp>
          <p:nvSpPr>
            <p:cNvPr id="3" name="TextBox 2">
              <a:extLst>
                <a:ext uri="{FF2B5EF4-FFF2-40B4-BE49-F238E27FC236}">
                  <a16:creationId xmlns:a16="http://schemas.microsoft.com/office/drawing/2014/main" id="{C8F9BDE6-E299-6D0B-9C40-8E02CB94E10F}"/>
                </a:ext>
              </a:extLst>
            </p:cNvPr>
            <p:cNvSpPr txBox="1"/>
            <p:nvPr/>
          </p:nvSpPr>
          <p:spPr>
            <a:xfrm>
              <a:off x="405204" y="892885"/>
              <a:ext cx="11381590" cy="400110"/>
            </a:xfrm>
            <a:prstGeom prst="rect">
              <a:avLst/>
            </a:prstGeom>
            <a:noFill/>
          </p:spPr>
          <p:txBody>
            <a:bodyPr wrap="square" rtlCol="0">
              <a:spAutoFit/>
            </a:bodyPr>
            <a:lstStyle/>
            <a:p>
              <a:r>
                <a:rPr lang="en-US" altLang="zh-TW" sz="2000" b="1" dirty="0"/>
                <a:t>Optimization-Based Approaches </a:t>
              </a:r>
            </a:p>
          </p:txBody>
        </p:sp>
        <p:sp>
          <p:nvSpPr>
            <p:cNvPr id="10" name="TextBox 9">
              <a:extLst>
                <a:ext uri="{FF2B5EF4-FFF2-40B4-BE49-F238E27FC236}">
                  <a16:creationId xmlns:a16="http://schemas.microsoft.com/office/drawing/2014/main" id="{7B18AB82-B476-EE04-7871-2CE9E5DFEE07}"/>
                </a:ext>
              </a:extLst>
            </p:cNvPr>
            <p:cNvSpPr txBox="1"/>
            <p:nvPr/>
          </p:nvSpPr>
          <p:spPr>
            <a:xfrm>
              <a:off x="405202" y="2120968"/>
              <a:ext cx="11665069" cy="1323439"/>
            </a:xfrm>
            <a:prstGeom prst="rect">
              <a:avLst/>
            </a:prstGeom>
            <a:noFill/>
          </p:spPr>
          <p:txBody>
            <a:bodyPr wrap="square" rtlCol="0">
              <a:spAutoFit/>
            </a:bodyPr>
            <a:lstStyle/>
            <a:p>
              <a:r>
                <a:rPr lang="en-US" altLang="zh-TW" sz="2000" dirty="0"/>
                <a:t>2. Model-based [2] [3] [4]</a:t>
              </a:r>
            </a:p>
            <a:p>
              <a:r>
                <a:rPr lang="en-US" sz="2000" dirty="0"/>
                <a:t>Uses either more detailed physical models to improve prediction fidelity or r</a:t>
              </a:r>
              <a:r>
                <a:rPr lang="en-US" altLang="zh-TW" sz="2000" dirty="0"/>
                <a:t>educed-order model </a:t>
              </a:r>
              <a:r>
                <a:rPr lang="en-US" sz="2000" dirty="0"/>
                <a:t>by simplifying curing models to reduce computational cost while preserving key process trends. </a:t>
              </a:r>
            </a:p>
            <a:p>
              <a:endParaRPr lang="en-US" altLang="zh-TW" sz="2000" dirty="0"/>
            </a:p>
          </p:txBody>
        </p:sp>
        <p:sp>
          <p:nvSpPr>
            <p:cNvPr id="44" name="TextBox 43">
              <a:extLst>
                <a:ext uri="{FF2B5EF4-FFF2-40B4-BE49-F238E27FC236}">
                  <a16:creationId xmlns:a16="http://schemas.microsoft.com/office/drawing/2014/main" id="{10B1A203-34F5-6A50-4857-3939EED35543}"/>
                </a:ext>
              </a:extLst>
            </p:cNvPr>
            <p:cNvSpPr txBox="1"/>
            <p:nvPr/>
          </p:nvSpPr>
          <p:spPr>
            <a:xfrm>
              <a:off x="405203" y="1205944"/>
              <a:ext cx="8717026" cy="707886"/>
            </a:xfrm>
            <a:prstGeom prst="rect">
              <a:avLst/>
            </a:prstGeom>
            <a:noFill/>
          </p:spPr>
          <p:txBody>
            <a:bodyPr wrap="square" rtlCol="0">
              <a:spAutoFit/>
            </a:bodyPr>
            <a:lstStyle/>
            <a:p>
              <a:pPr marL="457200" indent="-457200">
                <a:buAutoNum type="arabicPeriod"/>
              </a:pPr>
              <a:r>
                <a:rPr lang="en-US" altLang="zh-TW" sz="2000" dirty="0"/>
                <a:t>Data-driven [1]</a:t>
              </a:r>
            </a:p>
            <a:p>
              <a:r>
                <a:rPr lang="en-US" sz="2000" dirty="0"/>
                <a:t>Learns boundary correction directly from printed experimental data.</a:t>
              </a:r>
              <a:endParaRPr lang="en-US" altLang="zh-TW" sz="2000" dirty="0"/>
            </a:p>
          </p:txBody>
        </p:sp>
      </p:gr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E5CF6D2-DA7F-94D2-BC1C-BAE9AE518AAE}"/>
                  </a:ext>
                </a:extLst>
              </p:cNvPr>
              <p:cNvSpPr txBox="1"/>
              <p:nvPr/>
            </p:nvSpPr>
            <p:spPr>
              <a:xfrm>
                <a:off x="338672" y="872463"/>
                <a:ext cx="11514654" cy="1785104"/>
              </a:xfrm>
              <a:prstGeom prst="rect">
                <a:avLst/>
              </a:prstGeom>
              <a:noFill/>
            </p:spPr>
            <p:txBody>
              <a:bodyPr wrap="square">
                <a:spAutoFit/>
              </a:bodyPr>
              <a:lstStyle/>
              <a:p>
                <a:pPr>
                  <a:buNone/>
                </a:pPr>
                <a:r>
                  <a:rPr lang="en-US" sz="2000" b="1" dirty="0"/>
                  <a:t>Why Optimization-Based Approaches?</a:t>
                </a:r>
              </a:p>
              <a:p>
                <a:pPr>
                  <a:buNone/>
                </a:pPr>
                <a:r>
                  <a:rPr lang="en-US" dirty="0"/>
                  <a:t>Vat photopolymerization is governed by highly nonlinear and spatially coupled phenomena, the process is difficult to describe accurately using a simple linear state-space model:</a:t>
                </a:r>
              </a:p>
              <a:p>
                <a:pPr>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𝑘</m:t>
                          </m:r>
                          <m:r>
                            <a:rPr lang="en-US" i="0">
                              <a:latin typeface="Cambria Math" panose="02040503050406030204" pitchFamily="18" charset="0"/>
                            </a:rPr>
                            <m:t>+1</m:t>
                          </m:r>
                        </m:sub>
                      </m:sSub>
                      <m:r>
                        <a:rPr lang="en-US" i="0">
                          <a:latin typeface="Cambria Math" panose="02040503050406030204" pitchFamily="18" charset="0"/>
                        </a:rPr>
                        <m:t>=</m:t>
                      </m:r>
                      <m:r>
                        <a:rPr lang="en-US" i="1">
                          <a:latin typeface="Cambria Math" panose="02040503050406030204" pitchFamily="18" charset="0"/>
                        </a:rPr>
                        <m:t>𝐴</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𝑘</m:t>
                          </m:r>
                        </m:sub>
                      </m:sSub>
                      <m:r>
                        <a:rPr lang="en-US" i="0">
                          <a:latin typeface="Cambria Math" panose="02040503050406030204" pitchFamily="18" charset="0"/>
                        </a:rPr>
                        <m:t>+</m:t>
                      </m:r>
                      <m:r>
                        <a:rPr lang="en-US" i="1">
                          <a:latin typeface="Cambria Math" panose="02040503050406030204" pitchFamily="18" charset="0"/>
                        </a:rPr>
                        <m:t>𝐵</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𝑘</m:t>
                          </m:r>
                        </m:sub>
                      </m:sSub>
                    </m:oMath>
                  </m:oMathPara>
                </a14:m>
                <a:endParaRPr lang="en-US" dirty="0"/>
              </a:p>
              <a:p>
                <a:pPr>
                  <a:buNone/>
                </a:pPr>
                <a:endParaRPr lang="en-US" altLang="zh-TW" i="1" dirty="0">
                  <a:latin typeface="Cambria Math" panose="02040503050406030204" pitchFamily="18" charset="0"/>
                </a:endParaRPr>
              </a:p>
              <a:p>
                <a:pPr>
                  <a:buNone/>
                </a:pPr>
                <a14:m>
                  <m:oMathPara xmlns:m="http://schemas.openxmlformats.org/officeDocument/2006/math">
                    <m:oMath>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𝑘</m:t>
                          </m:r>
                          <m:r>
                            <a:rPr lang="en-US" altLang="zh-TW" i="1">
                              <a:latin typeface="Cambria Math" panose="02040503050406030204" pitchFamily="18" charset="0"/>
                            </a:rPr>
                            <m:t>+1</m:t>
                          </m:r>
                        </m:sub>
                      </m:sSub>
                      <m:r>
                        <a:rPr lang="en-US" altLang="zh-TW" i="1">
                          <a:latin typeface="Cambria Math" panose="02040503050406030204" pitchFamily="18" charset="0"/>
                        </a:rPr>
                        <m:t>=</m:t>
                      </m:r>
                      <m:r>
                        <a:rPr lang="en-US" altLang="zh-TW" i="1">
                          <a:latin typeface="Cambria Math" panose="02040503050406030204" pitchFamily="18" charset="0"/>
                        </a:rPr>
                        <m:t>𝑓</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𝑘</m:t>
                              </m:r>
                            </m:sub>
                          </m:sSub>
                          <m:r>
                            <a:rPr lang="en-US" altLang="zh-TW" i="1">
                              <a:latin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𝑢</m:t>
                              </m:r>
                            </m:e>
                            <m:sub>
                              <m:r>
                                <a:rPr lang="en-US" altLang="zh-TW" i="1">
                                  <a:latin typeface="Cambria Math" panose="02040503050406030204" pitchFamily="18" charset="0"/>
                                </a:rPr>
                                <m:t>𝑘</m:t>
                              </m:r>
                            </m:sub>
                          </m:sSub>
                          <m:r>
                            <a:rPr lang="en-US" altLang="zh-TW" i="1">
                              <a:latin typeface="Cambria Math" panose="02040503050406030204" pitchFamily="18" charset="0"/>
                            </a:rPr>
                            <m:t>, </m:t>
                          </m:r>
                          <m:r>
                            <a:rPr lang="en-US" altLang="zh-TW" i="1">
                              <a:latin typeface="Cambria Math" panose="02040503050406030204" pitchFamily="18" charset="0"/>
                            </a:rPr>
                            <m:t>𝜃</m:t>
                          </m:r>
                        </m:e>
                      </m:d>
                    </m:oMath>
                  </m:oMathPara>
                </a14:m>
                <a:endParaRPr lang="en-US" dirty="0"/>
              </a:p>
            </p:txBody>
          </p:sp>
        </mc:Choice>
        <mc:Fallback xmlns="">
          <p:sp>
            <p:nvSpPr>
              <p:cNvPr id="47" name="TextBox 46">
                <a:extLst>
                  <a:ext uri="{FF2B5EF4-FFF2-40B4-BE49-F238E27FC236}">
                    <a16:creationId xmlns:a16="http://schemas.microsoft.com/office/drawing/2014/main" id="{BE5CF6D2-DA7F-94D2-BC1C-BAE9AE518AAE}"/>
                  </a:ext>
                </a:extLst>
              </p:cNvPr>
              <p:cNvSpPr txBox="1">
                <a:spLocks noRot="1" noChangeAspect="1" noMove="1" noResize="1" noEditPoints="1" noAdjustHandles="1" noChangeArrowheads="1" noChangeShapeType="1" noTextEdit="1"/>
              </p:cNvSpPr>
              <p:nvPr/>
            </p:nvSpPr>
            <p:spPr>
              <a:xfrm>
                <a:off x="338672" y="872463"/>
                <a:ext cx="11514654" cy="1785104"/>
              </a:xfrm>
              <a:prstGeom prst="rect">
                <a:avLst/>
              </a:prstGeom>
              <a:blipFill>
                <a:blip r:embed="rId3"/>
                <a:stretch>
                  <a:fillRect l="-583" t="-1706" b="-2048"/>
                </a:stretch>
              </a:blipFill>
            </p:spPr>
            <p:txBody>
              <a:bodyPr/>
              <a:lstStyle/>
              <a:p>
                <a:r>
                  <a:rPr lang="en-US">
                    <a:noFill/>
                  </a:rPr>
                  <a:t> </a:t>
                </a:r>
              </a:p>
            </p:txBody>
          </p:sp>
        </mc:Fallback>
      </mc:AlternateContent>
      <p:sp>
        <p:nvSpPr>
          <p:cNvPr id="49" name="TextBox 48">
            <a:extLst>
              <a:ext uri="{FF2B5EF4-FFF2-40B4-BE49-F238E27FC236}">
                <a16:creationId xmlns:a16="http://schemas.microsoft.com/office/drawing/2014/main" id="{7A1E63BC-5EDF-4B54-B0B9-1AAD9BAFE40E}"/>
              </a:ext>
            </a:extLst>
          </p:cNvPr>
          <p:cNvSpPr txBox="1"/>
          <p:nvPr/>
        </p:nvSpPr>
        <p:spPr>
          <a:xfrm>
            <a:off x="338672" y="2663909"/>
            <a:ext cx="8821656" cy="369332"/>
          </a:xfrm>
          <a:prstGeom prst="rect">
            <a:avLst/>
          </a:prstGeom>
          <a:noFill/>
        </p:spPr>
        <p:txBody>
          <a:bodyPr wrap="square">
            <a:spAutoFit/>
          </a:bodyPr>
          <a:lstStyle/>
          <a:p>
            <a:pPr>
              <a:buNone/>
            </a:pPr>
            <a:r>
              <a:rPr lang="en-US" dirty="0"/>
              <a:t>ML-based methods can effectively learn the nonlinear relationship.</a:t>
            </a:r>
          </a:p>
        </p:txBody>
      </p:sp>
      <p:grpSp>
        <p:nvGrpSpPr>
          <p:cNvPr id="60" name="Group 59">
            <a:extLst>
              <a:ext uri="{FF2B5EF4-FFF2-40B4-BE49-F238E27FC236}">
                <a16:creationId xmlns:a16="http://schemas.microsoft.com/office/drawing/2014/main" id="{082D907C-CFFB-8CD5-B06B-D0981D55340C}"/>
              </a:ext>
            </a:extLst>
          </p:cNvPr>
          <p:cNvGrpSpPr/>
          <p:nvPr/>
        </p:nvGrpSpPr>
        <p:grpSpPr>
          <a:xfrm>
            <a:off x="7206344" y="1761909"/>
            <a:ext cx="283028" cy="307053"/>
            <a:chOff x="7249886" y="1723770"/>
            <a:chExt cx="365279" cy="407472"/>
          </a:xfrm>
        </p:grpSpPr>
        <p:cxnSp>
          <p:nvCxnSpPr>
            <p:cNvPr id="51" name="Straight Connector 50">
              <a:extLst>
                <a:ext uri="{FF2B5EF4-FFF2-40B4-BE49-F238E27FC236}">
                  <a16:creationId xmlns:a16="http://schemas.microsoft.com/office/drawing/2014/main" id="{E7192207-0B74-4BC1-C60A-AFB50A1EB2E1}"/>
                </a:ext>
              </a:extLst>
            </p:cNvPr>
            <p:cNvCxnSpPr>
              <a:cxnSpLocks/>
            </p:cNvCxnSpPr>
            <p:nvPr/>
          </p:nvCxnSpPr>
          <p:spPr>
            <a:xfrm>
              <a:off x="7249886" y="1723770"/>
              <a:ext cx="365279" cy="40747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E6F71FF-0BC4-30FF-2C96-C10413132B09}"/>
                </a:ext>
              </a:extLst>
            </p:cNvPr>
            <p:cNvCxnSpPr>
              <a:cxnSpLocks/>
            </p:cNvCxnSpPr>
            <p:nvPr/>
          </p:nvCxnSpPr>
          <p:spPr>
            <a:xfrm flipV="1">
              <a:off x="7249886" y="1723770"/>
              <a:ext cx="365279" cy="38653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847231D2-7059-2005-2B7A-B4AC796940C8}"/>
              </a:ext>
            </a:extLst>
          </p:cNvPr>
          <p:cNvGrpSpPr/>
          <p:nvPr/>
        </p:nvGrpSpPr>
        <p:grpSpPr>
          <a:xfrm>
            <a:off x="7206341" y="2283476"/>
            <a:ext cx="283029" cy="286514"/>
            <a:chOff x="7432535" y="1634430"/>
            <a:chExt cx="365281" cy="380215"/>
          </a:xfrm>
        </p:grpSpPr>
        <p:cxnSp>
          <p:nvCxnSpPr>
            <p:cNvPr id="62" name="Straight Connector 61">
              <a:extLst>
                <a:ext uri="{FF2B5EF4-FFF2-40B4-BE49-F238E27FC236}">
                  <a16:creationId xmlns:a16="http://schemas.microsoft.com/office/drawing/2014/main" id="{F2B2C79F-8740-18EF-432B-A13ABBE86255}"/>
                </a:ext>
              </a:extLst>
            </p:cNvPr>
            <p:cNvCxnSpPr>
              <a:cxnSpLocks/>
            </p:cNvCxnSpPr>
            <p:nvPr/>
          </p:nvCxnSpPr>
          <p:spPr>
            <a:xfrm>
              <a:off x="7432535" y="1864399"/>
              <a:ext cx="182629" cy="15024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DF1620E-FD25-E48D-8275-1CEF48402C4D}"/>
                </a:ext>
              </a:extLst>
            </p:cNvPr>
            <p:cNvCxnSpPr>
              <a:cxnSpLocks/>
            </p:cNvCxnSpPr>
            <p:nvPr/>
          </p:nvCxnSpPr>
          <p:spPr>
            <a:xfrm flipV="1">
              <a:off x="7615163" y="1634430"/>
              <a:ext cx="182653" cy="37674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8CE86093-D77A-BC00-C06E-FA0631EAED23}"/>
              </a:ext>
            </a:extLst>
          </p:cNvPr>
          <p:cNvGrpSpPr/>
          <p:nvPr/>
        </p:nvGrpSpPr>
        <p:grpSpPr>
          <a:xfrm>
            <a:off x="113924" y="5527790"/>
            <a:ext cx="11964150" cy="733192"/>
            <a:chOff x="111212" y="5739600"/>
            <a:chExt cx="11964150" cy="733192"/>
          </a:xfrm>
        </p:grpSpPr>
        <p:sp>
          <p:nvSpPr>
            <p:cNvPr id="8" name="TextBox 7">
              <a:extLst>
                <a:ext uri="{FF2B5EF4-FFF2-40B4-BE49-F238E27FC236}">
                  <a16:creationId xmlns:a16="http://schemas.microsoft.com/office/drawing/2014/main" id="{4EE9488F-318D-1950-4A78-E2C3AF5E1280}"/>
                </a:ext>
              </a:extLst>
            </p:cNvPr>
            <p:cNvSpPr txBox="1"/>
            <p:nvPr/>
          </p:nvSpPr>
          <p:spPr>
            <a:xfrm>
              <a:off x="111212" y="5964961"/>
              <a:ext cx="11964150" cy="507831"/>
            </a:xfrm>
            <a:prstGeom prst="rect">
              <a:avLst/>
            </a:prstGeom>
            <a:noFill/>
          </p:spPr>
          <p:txBody>
            <a:bodyPr wrap="square">
              <a:spAutoFit/>
            </a:bodyPr>
            <a:lstStyle/>
            <a:p>
              <a:r>
                <a:rPr lang="en-US" sz="900" b="0" i="0" dirty="0">
                  <a:solidFill>
                    <a:srgbClr val="222222"/>
                  </a:solidFill>
                  <a:effectLst/>
                </a:rPr>
                <a:t>[2] Xu, Y., Huang, P., To, S., Zhu, L. M., &amp; Zhu, Z. (2022). Low‐cost volumetric 3D printing of high‐precision miniature lenses in seconds. </a:t>
              </a:r>
              <a:r>
                <a:rPr lang="en-US" sz="900" b="0" i="1" dirty="0">
                  <a:solidFill>
                    <a:srgbClr val="222222"/>
                  </a:solidFill>
                  <a:effectLst/>
                </a:rPr>
                <a:t>Advanced Optical Materials</a:t>
              </a:r>
              <a:r>
                <a:rPr lang="en-US" sz="900" b="0" i="0" dirty="0">
                  <a:solidFill>
                    <a:srgbClr val="222222"/>
                  </a:solidFill>
                  <a:effectLst/>
                </a:rPr>
                <a:t>, </a:t>
              </a:r>
              <a:r>
                <a:rPr lang="en-US" sz="900" b="0" i="1" dirty="0">
                  <a:solidFill>
                    <a:srgbClr val="222222"/>
                  </a:solidFill>
                  <a:effectLst/>
                </a:rPr>
                <a:t>10</a:t>
              </a:r>
              <a:r>
                <a:rPr lang="en-US" sz="900" b="0" i="0" dirty="0">
                  <a:solidFill>
                    <a:srgbClr val="222222"/>
                  </a:solidFill>
                  <a:effectLst/>
                </a:rPr>
                <a:t>(17), 2200488.</a:t>
              </a:r>
            </a:p>
            <a:p>
              <a:r>
                <a:rPr lang="en-US" sz="900" dirty="0"/>
                <a:t>[3]Kumar, H., Ambhorkar, P., Foulds, I., Golovin, K., &amp; Kim, K. (2022). A kinetic model for predicting imperfections in bioink photopolymerization during visible-light stereolithography printing. </a:t>
              </a:r>
              <a:r>
                <a:rPr lang="en-US" sz="900" i="1" dirty="0"/>
                <a:t>Additive Manufacturing</a:t>
              </a:r>
              <a:r>
                <a:rPr lang="en-US" sz="900" dirty="0"/>
                <a:t>, </a:t>
              </a:r>
              <a:r>
                <a:rPr lang="en-US" sz="900" i="1" dirty="0"/>
                <a:t>55</a:t>
              </a:r>
              <a:r>
                <a:rPr lang="en-US" sz="900" dirty="0"/>
                <a:t>, 102808.</a:t>
              </a:r>
            </a:p>
            <a:p>
              <a:r>
                <a:rPr lang="en-US" sz="900" dirty="0">
                  <a:solidFill>
                    <a:srgbClr val="222222"/>
                  </a:solidFill>
                </a:rPr>
                <a:t>[4] Zhang, Q., Weng, S., Hamel, C. M., Montgomery, S. M., Wu, J., Kuang, X., ... &amp; Qi, H. J. (2021). Design for the reduction of volume shrinkage-induced distortion in digital light processing 3D printing. </a:t>
              </a:r>
              <a:r>
                <a:rPr lang="en-US" sz="900" i="1" dirty="0">
                  <a:solidFill>
                    <a:srgbClr val="222222"/>
                  </a:solidFill>
                </a:rPr>
                <a:t>Extreme Mechanics Letters</a:t>
              </a:r>
              <a:r>
                <a:rPr lang="en-US" sz="900" dirty="0">
                  <a:solidFill>
                    <a:srgbClr val="222222"/>
                  </a:solidFill>
                </a:rPr>
                <a:t>, </a:t>
              </a:r>
              <a:r>
                <a:rPr lang="en-US" sz="900" i="1" dirty="0">
                  <a:solidFill>
                    <a:srgbClr val="222222"/>
                  </a:solidFill>
                </a:rPr>
                <a:t>48</a:t>
              </a:r>
              <a:r>
                <a:rPr lang="en-US" sz="900" dirty="0">
                  <a:solidFill>
                    <a:srgbClr val="222222"/>
                  </a:solidFill>
                </a:rPr>
                <a:t>, 101403.</a:t>
              </a:r>
              <a:endParaRPr lang="en-US" sz="900" dirty="0"/>
            </a:p>
          </p:txBody>
        </p:sp>
        <p:sp>
          <p:nvSpPr>
            <p:cNvPr id="9" name="TextBox 8">
              <a:extLst>
                <a:ext uri="{FF2B5EF4-FFF2-40B4-BE49-F238E27FC236}">
                  <a16:creationId xmlns:a16="http://schemas.microsoft.com/office/drawing/2014/main" id="{57B125A0-3988-8D78-4099-13AD3D2F9E4E}"/>
                </a:ext>
              </a:extLst>
            </p:cNvPr>
            <p:cNvSpPr txBox="1"/>
            <p:nvPr/>
          </p:nvSpPr>
          <p:spPr>
            <a:xfrm>
              <a:off x="111212" y="5739600"/>
              <a:ext cx="11964150" cy="230832"/>
            </a:xfrm>
            <a:prstGeom prst="rect">
              <a:avLst/>
            </a:prstGeom>
            <a:noFill/>
          </p:spPr>
          <p:txBody>
            <a:bodyPr wrap="square">
              <a:spAutoFit/>
            </a:bodyPr>
            <a:lstStyle/>
            <a:p>
              <a:r>
                <a:rPr lang="en-US" sz="900" b="0" i="0" dirty="0">
                  <a:solidFill>
                    <a:srgbClr val="222222"/>
                  </a:solidFill>
                  <a:effectLst/>
                </a:rPr>
                <a:t>[1] Ma, Y., Tian, Z., Wang, B., Zhao, Y., Nie, Y., Wildman, R. D., ... &amp; He, Y. (2024). Enhancing the 3D printing fidelity of vat photopolymerization with machine learning-driven boundary prediction. </a:t>
              </a:r>
              <a:r>
                <a:rPr lang="en-US" sz="900" b="0" i="1" dirty="0">
                  <a:solidFill>
                    <a:srgbClr val="222222"/>
                  </a:solidFill>
                  <a:effectLst/>
                </a:rPr>
                <a:t>Materials &amp; Design</a:t>
              </a:r>
              <a:r>
                <a:rPr lang="en-US" sz="900" b="0" i="0" dirty="0">
                  <a:solidFill>
                    <a:srgbClr val="222222"/>
                  </a:solidFill>
                  <a:effectLst/>
                </a:rPr>
                <a:t>, </a:t>
              </a:r>
              <a:r>
                <a:rPr lang="en-US" sz="900" b="0" i="1" dirty="0">
                  <a:solidFill>
                    <a:srgbClr val="222222"/>
                  </a:solidFill>
                  <a:effectLst/>
                </a:rPr>
                <a:t>241</a:t>
              </a:r>
              <a:r>
                <a:rPr lang="en-US" sz="900" b="0" i="0" dirty="0">
                  <a:solidFill>
                    <a:srgbClr val="222222"/>
                  </a:solidFill>
                  <a:effectLst/>
                </a:rPr>
                <a:t>, 112978.</a:t>
              </a:r>
              <a:endParaRPr lang="en-US" sz="900" dirty="0"/>
            </a:p>
          </p:txBody>
        </p:sp>
      </p:grpSp>
    </p:spTree>
    <p:extLst>
      <p:ext uri="{BB962C8B-B14F-4D97-AF65-F5344CB8AC3E}">
        <p14:creationId xmlns:p14="http://schemas.microsoft.com/office/powerpoint/2010/main" val="3887548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AB5C9-939B-DEA9-1E9C-FB762955A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85155-4647-77F0-136A-E53F9116090F}"/>
              </a:ext>
            </a:extLst>
          </p:cNvPr>
          <p:cNvSpPr>
            <a:spLocks noGrp="1"/>
          </p:cNvSpPr>
          <p:nvPr>
            <p:ph type="title"/>
          </p:nvPr>
        </p:nvSpPr>
        <p:spPr/>
        <p:txBody>
          <a:bodyPr/>
          <a:lstStyle/>
          <a:p>
            <a:r>
              <a:rPr lang="en-US" dirty="0"/>
              <a:t>Inverse Design</a:t>
            </a:r>
          </a:p>
        </p:txBody>
      </p:sp>
      <p:sp>
        <p:nvSpPr>
          <p:cNvPr id="4" name="Date Placeholder 3">
            <a:extLst>
              <a:ext uri="{FF2B5EF4-FFF2-40B4-BE49-F238E27FC236}">
                <a16:creationId xmlns:a16="http://schemas.microsoft.com/office/drawing/2014/main" id="{8ECB2104-BCB2-D62D-3B36-5F8C6E432B05}"/>
              </a:ext>
            </a:extLst>
          </p:cNvPr>
          <p:cNvSpPr>
            <a:spLocks noGrp="1"/>
          </p:cNvSpPr>
          <p:nvPr>
            <p:ph type="dt" sz="half" idx="10"/>
          </p:nvPr>
        </p:nvSpPr>
        <p:spPr/>
        <p:txBody>
          <a:bodyPr/>
          <a:lstStyle/>
          <a:p>
            <a:fld id="{E4F5E198-6479-4380-8F14-1065308CC0DC}" type="datetime1">
              <a:rPr lang="en-US" smtClean="0"/>
              <a:t>9/24/26</a:t>
            </a:fld>
            <a:endParaRPr lang="en-US" dirty="0"/>
          </a:p>
        </p:txBody>
      </p:sp>
      <p:sp>
        <p:nvSpPr>
          <p:cNvPr id="5" name="Footer Placeholder 4">
            <a:extLst>
              <a:ext uri="{FF2B5EF4-FFF2-40B4-BE49-F238E27FC236}">
                <a16:creationId xmlns:a16="http://schemas.microsoft.com/office/drawing/2014/main" id="{52989F4E-D860-B580-07F5-01217AB0A762}"/>
              </a:ext>
            </a:extLst>
          </p:cNvPr>
          <p:cNvSpPr>
            <a:spLocks noGrp="1"/>
          </p:cNvSpPr>
          <p:nvPr>
            <p:ph type="ftr" sz="quarter" idx="11"/>
          </p:nvPr>
        </p:nvSpPr>
        <p:spPr/>
        <p:txBody>
          <a:bodyPr/>
          <a:lstStyle/>
          <a:p>
            <a:r>
              <a:rPr lang="en-US"/>
              <a:t>Nanoscale Design and Manufacturing Laboratory</a:t>
            </a:r>
            <a:endParaRPr lang="en-US" dirty="0"/>
          </a:p>
        </p:txBody>
      </p:sp>
      <p:sp>
        <p:nvSpPr>
          <p:cNvPr id="6" name="Slide Number Placeholder 5">
            <a:extLst>
              <a:ext uri="{FF2B5EF4-FFF2-40B4-BE49-F238E27FC236}">
                <a16:creationId xmlns:a16="http://schemas.microsoft.com/office/drawing/2014/main" id="{EBF526FB-121D-FF88-7FBB-65F4AD4950E6}"/>
              </a:ext>
            </a:extLst>
          </p:cNvPr>
          <p:cNvSpPr>
            <a:spLocks noGrp="1"/>
          </p:cNvSpPr>
          <p:nvPr>
            <p:ph type="sldNum" sz="quarter" idx="12"/>
          </p:nvPr>
        </p:nvSpPr>
        <p:spPr/>
        <p:txBody>
          <a:bodyPr/>
          <a:lstStyle/>
          <a:p>
            <a:fld id="{5A741E56-E3D9-46FF-B47D-3FCBEAE97EB2}" type="slidenum">
              <a:rPr lang="en-US" smtClean="0"/>
              <a:pPr/>
              <a:t>5</a:t>
            </a:fld>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4CE56C9-4B3C-DA44-CDF4-3AFD5FB99099}"/>
                  </a:ext>
                </a:extLst>
              </p:cNvPr>
              <p:cNvSpPr txBox="1"/>
              <p:nvPr/>
            </p:nvSpPr>
            <p:spPr>
              <a:xfrm>
                <a:off x="462579" y="1183341"/>
                <a:ext cx="11381590" cy="3896836"/>
              </a:xfrm>
              <a:prstGeom prst="rect">
                <a:avLst/>
              </a:prstGeom>
              <a:noFill/>
            </p:spPr>
            <p:txBody>
              <a:bodyPr wrap="square" rtlCol="0">
                <a:spAutoFit/>
              </a:bodyPr>
              <a:lstStyle/>
              <a:p>
                <a:pPr marL="285750" indent="-285750">
                  <a:buFont typeface="Arial" panose="020B0604020202020204" pitchFamily="34" charset="0"/>
                  <a:buChar char="•"/>
                </a:pPr>
                <a:r>
                  <a:rPr lang="en-US" altLang="zh-TW" sz="2000" dirty="0"/>
                  <a:t>Constant control Input</a:t>
                </a:r>
              </a:p>
              <a:p>
                <a:pPr/>
                <a14:m>
                  <m:oMathPara xmlns:m="http://schemas.openxmlformats.org/officeDocument/2006/math">
                    <m:o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𝑢</m:t>
                          </m:r>
                        </m:e>
                        <m:sub>
                          <m:r>
                            <a:rPr lang="en-US" altLang="zh-TW" sz="2000" b="0" i="1" smtClean="0">
                              <a:latin typeface="Cambria Math" panose="02040503050406030204" pitchFamily="18" charset="0"/>
                            </a:rPr>
                            <m:t>𝑘</m:t>
                          </m:r>
                        </m:sub>
                      </m:sSub>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𝑢</m:t>
                      </m:r>
                      <m:r>
                        <a:rPr lang="en-US" altLang="zh-TW" sz="2000" b="0" i="1" smtClean="0">
                          <a:latin typeface="Cambria Math" panose="02040503050406030204" pitchFamily="18" charset="0"/>
                        </a:rPr>
                        <m:t>, ∀ </m:t>
                      </m:r>
                      <m:r>
                        <a:rPr lang="en-US" altLang="zh-TW" sz="2000" b="0" i="1" smtClean="0">
                          <a:latin typeface="Cambria Math" panose="02040503050406030204" pitchFamily="18" charset="0"/>
                        </a:rPr>
                        <m:t>𝑘</m:t>
                      </m:r>
                    </m:oMath>
                  </m:oMathPara>
                </a14:m>
                <a:endParaRPr lang="en-US" altLang="zh-TW" sz="2000" dirty="0"/>
              </a:p>
              <a:p>
                <a:endParaRPr lang="en-US" altLang="zh-TW" sz="2000" dirty="0"/>
              </a:p>
              <a:p>
                <a:pPr marL="342900" indent="-342900">
                  <a:buFont typeface="Arial" panose="020B0604020202020204" pitchFamily="34" charset="0"/>
                  <a:buChar char="•"/>
                </a:pPr>
                <a:r>
                  <a:rPr lang="en-US" altLang="zh-TW" sz="2000" dirty="0"/>
                  <a:t>Optimization formulation (similar to the loss function in PyTorch)</a:t>
                </a:r>
              </a:p>
              <a:p>
                <a:pPr/>
                <a14:m>
                  <m:oMathPara xmlns:m="http://schemas.openxmlformats.org/officeDocument/2006/math">
                    <m:oMath>
                      <m:func>
                        <m:funcPr>
                          <m:ctrlPr>
                            <a:rPr lang="en-US" altLang="zh-TW" sz="2000" i="1" smtClean="0">
                              <a:latin typeface="Cambria Math" panose="02040503050406030204" pitchFamily="18" charset="0"/>
                            </a:rPr>
                          </m:ctrlPr>
                        </m:funcPr>
                        <m:fName>
                          <m:limLow>
                            <m:limLowPr>
                              <m:ctrlPr>
                                <a:rPr lang="en-US" altLang="zh-TW" sz="2000" i="0" smtClean="0">
                                  <a:latin typeface="Cambria Math" panose="02040503050406030204" pitchFamily="18" charset="0"/>
                                </a:rPr>
                              </m:ctrlPr>
                            </m:limLowPr>
                            <m:e>
                              <m:r>
                                <m:rPr>
                                  <m:sty m:val="p"/>
                                </m:rPr>
                                <a:rPr lang="en-US" altLang="zh-TW" sz="2000" i="0" smtClean="0">
                                  <a:latin typeface="Cambria Math" panose="02040503050406030204" pitchFamily="18" charset="0"/>
                                </a:rPr>
                                <m:t>min</m:t>
                              </m:r>
                            </m:e>
                            <m:lim>
                              <m:r>
                                <a:rPr lang="en-US" altLang="zh-TW" sz="2000" b="0" i="1" smtClean="0">
                                  <a:latin typeface="Cambria Math" panose="02040503050406030204" pitchFamily="18" charset="0"/>
                                </a:rPr>
                                <m:t>𝑢</m:t>
                              </m:r>
                            </m:lim>
                          </m:limLow>
                        </m:fName>
                        <m:e>
                          <m:r>
                            <a:rPr lang="en-US" altLang="zh-TW" sz="2000" b="0" i="1" smtClean="0">
                              <a:latin typeface="Cambria Math" panose="02040503050406030204" pitchFamily="18" charset="0"/>
                            </a:rPr>
                            <m:t>𝐽</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𝑢</m:t>
                              </m:r>
                            </m:e>
                          </m:d>
                        </m:e>
                      </m:func>
                    </m:oMath>
                  </m:oMathPara>
                </a14:m>
                <a:endParaRPr lang="en-US" altLang="zh-TW" sz="2000" dirty="0"/>
              </a:p>
              <a:p>
                <a:pPr/>
                <a14:m>
                  <m:oMathPara xmlns:m="http://schemas.openxmlformats.org/officeDocument/2006/math">
                    <m:oMath>
                      <m:r>
                        <a:rPr lang="en-US" altLang="zh-TW" sz="2000" i="1">
                          <a:latin typeface="Cambria Math" panose="02040503050406030204" pitchFamily="18" charset="0"/>
                        </a:rPr>
                        <m:t>𝐽</m:t>
                      </m:r>
                      <m:d>
                        <m:dPr>
                          <m:ctrlPr>
                            <a:rPr lang="en-US" altLang="zh-TW" sz="2000" i="1">
                              <a:latin typeface="Cambria Math" panose="02040503050406030204" pitchFamily="18" charset="0"/>
                            </a:rPr>
                          </m:ctrlPr>
                        </m:dPr>
                        <m:e>
                          <m:r>
                            <a:rPr lang="en-US" altLang="zh-TW" sz="2000" i="1">
                              <a:latin typeface="Cambria Math" panose="02040503050406030204" pitchFamily="18" charset="0"/>
                            </a:rPr>
                            <m:t>𝑢</m:t>
                          </m:r>
                        </m:e>
                      </m:d>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𝜆</m:t>
                          </m:r>
                        </m:e>
                        <m:sub>
                          <m:r>
                            <a:rPr lang="en-US" altLang="zh-TW" sz="2000" b="0" i="1" smtClean="0">
                              <a:latin typeface="Cambria Math" panose="02040503050406030204" pitchFamily="18" charset="0"/>
                            </a:rPr>
                            <m:t>0</m:t>
                          </m:r>
                        </m:sub>
                      </m:sSub>
                      <m:sSubSup>
                        <m:sSubSupPr>
                          <m:ctrlPr>
                            <a:rPr lang="en-US" altLang="zh-TW" sz="2000" b="0" i="1" smtClean="0">
                              <a:latin typeface="Cambria Math" panose="02040503050406030204" pitchFamily="18" charset="0"/>
                            </a:rPr>
                          </m:ctrlPr>
                        </m:sSubSupPr>
                        <m:e>
                          <m:d>
                            <m:dPr>
                              <m:begChr m:val="‖"/>
                              <m:endChr m:val="‖"/>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𝑋</m:t>
                              </m:r>
                              <m:d>
                                <m:dPr>
                                  <m:ctrlPr>
                                    <a:rPr lang="en-US" altLang="zh-TW" sz="2000" b="0" i="1" smtClean="0">
                                      <a:latin typeface="Cambria Math" panose="02040503050406030204" pitchFamily="18" charset="0"/>
                                    </a:rPr>
                                  </m:ctrlPr>
                                </m:dPr>
                                <m:e>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𝑡</m:t>
                                      </m:r>
                                    </m:e>
                                    <m:sub>
                                      <m:r>
                                        <a:rPr lang="en-US" altLang="zh-TW" sz="2000" b="0" i="1" smtClean="0">
                                          <a:latin typeface="Cambria Math" panose="02040503050406030204" pitchFamily="18" charset="0"/>
                                        </a:rPr>
                                        <m:t>0</m:t>
                                      </m:r>
                                    </m:sub>
                                  </m:sSub>
                                </m:e>
                              </m:d>
                            </m:e>
                          </m:d>
                        </m:e>
                        <m:sub>
                          <m:r>
                            <a:rPr lang="en-US" altLang="zh-TW" sz="2000" b="0" i="1" smtClean="0">
                              <a:latin typeface="Cambria Math" panose="02040503050406030204" pitchFamily="18" charset="0"/>
                            </a:rPr>
                            <m:t>𝐹</m:t>
                          </m:r>
                        </m:sub>
                        <m:sup>
                          <m:r>
                            <a:rPr lang="en-US" altLang="zh-TW" sz="2000" b="0" i="1" smtClean="0">
                              <a:latin typeface="Cambria Math" panose="02040503050406030204" pitchFamily="18" charset="0"/>
                            </a:rPr>
                            <m:t>2</m:t>
                          </m:r>
                        </m:sup>
                      </m:sSubSup>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𝜆</m:t>
                          </m:r>
                        </m:e>
                        <m:sub>
                          <m:r>
                            <a:rPr lang="en-US" altLang="zh-TW" sz="2000" b="0" i="1" smtClean="0">
                              <a:latin typeface="Cambria Math" panose="02040503050406030204" pitchFamily="18" charset="0"/>
                            </a:rPr>
                            <m:t>1</m:t>
                          </m:r>
                        </m:sub>
                      </m:sSub>
                      <m:sSubSup>
                        <m:sSubSupPr>
                          <m:ctrlPr>
                            <a:rPr lang="en-US" altLang="zh-TW" sz="2000" i="1">
                              <a:latin typeface="Cambria Math" panose="02040503050406030204" pitchFamily="18" charset="0"/>
                            </a:rPr>
                          </m:ctrlPr>
                        </m:sSubSupPr>
                        <m:e>
                          <m:d>
                            <m:dPr>
                              <m:begChr m:val="‖"/>
                              <m:endChr m:val="‖"/>
                              <m:ctrlPr>
                                <a:rPr lang="en-US" altLang="zh-TW" sz="2000" i="1">
                                  <a:latin typeface="Cambria Math" panose="02040503050406030204" pitchFamily="18" charset="0"/>
                                </a:rPr>
                              </m:ctrlPr>
                            </m:dPr>
                            <m:e>
                              <m:r>
                                <a:rPr lang="en-US" altLang="zh-TW" sz="2000" i="1">
                                  <a:latin typeface="Cambria Math" panose="02040503050406030204" pitchFamily="18" charset="0"/>
                                </a:rPr>
                                <m:t>𝑋</m:t>
                              </m:r>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𝑡</m:t>
                                      </m:r>
                                    </m:e>
                                    <m:sub>
                                      <m:r>
                                        <a:rPr lang="en-US" altLang="zh-TW" sz="2000" b="0" i="1" smtClean="0">
                                          <a:latin typeface="Cambria Math" panose="02040503050406030204" pitchFamily="18" charset="0"/>
                                        </a:rPr>
                                        <m:t>1</m:t>
                                      </m:r>
                                    </m:sub>
                                  </m:sSub>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𝑆</m:t>
                              </m:r>
                            </m:e>
                          </m:d>
                        </m:e>
                        <m:sub>
                          <m:r>
                            <a:rPr lang="en-US" altLang="zh-TW" sz="2000" i="1">
                              <a:latin typeface="Cambria Math" panose="02040503050406030204" pitchFamily="18" charset="0"/>
                            </a:rPr>
                            <m:t>𝐹</m:t>
                          </m:r>
                        </m:sub>
                        <m:sup>
                          <m:r>
                            <a:rPr lang="en-US" altLang="zh-TW" sz="2000" i="1">
                              <a:latin typeface="Cambria Math" panose="02040503050406030204" pitchFamily="18" charset="0"/>
                            </a:rPr>
                            <m:t>2</m:t>
                          </m:r>
                        </m:sup>
                      </m:sSubSup>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𝜆</m:t>
                          </m:r>
                        </m:e>
                        <m:sub>
                          <m:r>
                            <a:rPr lang="en-US" altLang="zh-TW" sz="2000" b="0" i="1" smtClean="0">
                              <a:latin typeface="Cambria Math" panose="02040503050406030204" pitchFamily="18" charset="0"/>
                            </a:rPr>
                            <m:t>2</m:t>
                          </m:r>
                        </m:sub>
                      </m:sSub>
                      <m:sSubSup>
                        <m:sSubSupPr>
                          <m:ctrlPr>
                            <a:rPr lang="en-US" altLang="zh-TW" sz="2000" i="1">
                              <a:latin typeface="Cambria Math" panose="02040503050406030204" pitchFamily="18" charset="0"/>
                            </a:rPr>
                          </m:ctrlPr>
                        </m:sSubSupPr>
                        <m:e>
                          <m:d>
                            <m:dPr>
                              <m:begChr m:val="‖"/>
                              <m:endChr m:val="‖"/>
                              <m:ctrlPr>
                                <a:rPr lang="en-US" altLang="zh-TW" sz="2000" i="1">
                                  <a:latin typeface="Cambria Math" panose="02040503050406030204" pitchFamily="18" charset="0"/>
                                </a:rPr>
                              </m:ctrlPr>
                            </m:dPr>
                            <m:e>
                              <m:r>
                                <a:rPr lang="en-US" altLang="zh-TW" sz="2000" i="1">
                                  <a:latin typeface="Cambria Math" panose="02040503050406030204" pitchFamily="18" charset="0"/>
                                </a:rPr>
                                <m:t>𝑋</m:t>
                              </m:r>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𝑡</m:t>
                                      </m:r>
                                    </m:e>
                                    <m:sub>
                                      <m:r>
                                        <a:rPr lang="en-US" altLang="zh-TW" sz="2000" b="0" i="1" smtClean="0">
                                          <a:latin typeface="Cambria Math" panose="02040503050406030204" pitchFamily="18" charset="0"/>
                                        </a:rPr>
                                        <m:t>2</m:t>
                                      </m:r>
                                    </m:sub>
                                  </m:sSub>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𝑆</m:t>
                              </m:r>
                            </m:e>
                          </m:d>
                        </m:e>
                        <m:sub>
                          <m:r>
                            <a:rPr lang="en-US" altLang="zh-TW" sz="2000" i="1">
                              <a:latin typeface="Cambria Math" panose="02040503050406030204" pitchFamily="18" charset="0"/>
                            </a:rPr>
                            <m:t>𝐹</m:t>
                          </m:r>
                        </m:sub>
                        <m:sup>
                          <m:r>
                            <a:rPr lang="en-US" altLang="zh-TW" sz="2000" i="1">
                              <a:latin typeface="Cambria Math" panose="02040503050406030204" pitchFamily="18" charset="0"/>
                            </a:rPr>
                            <m:t>2</m:t>
                          </m:r>
                        </m:sup>
                      </m:sSubSup>
                      <m:r>
                        <a:rPr lang="en-US" altLang="zh-TW" sz="2000" b="0" i="1" smtClean="0">
                          <a:latin typeface="Cambria Math" panose="02040503050406030204" pitchFamily="18" charset="0"/>
                        </a:rPr>
                        <m:t>+</m:t>
                      </m:r>
                      <m:sSub>
                        <m:sSubPr>
                          <m:ctrlPr>
                            <a:rPr lang="en-US" altLang="zh-TW" sz="2000" b="1" i="1" smtClean="0">
                              <a:latin typeface="Cambria Math" panose="02040503050406030204" pitchFamily="18" charset="0"/>
                            </a:rPr>
                          </m:ctrlPr>
                        </m:sSubPr>
                        <m:e>
                          <m:r>
                            <a:rPr lang="en-US" altLang="zh-TW" sz="2000" b="1" i="1" smtClean="0">
                              <a:latin typeface="Cambria Math" panose="02040503050406030204" pitchFamily="18" charset="0"/>
                            </a:rPr>
                            <m:t>𝝀</m:t>
                          </m:r>
                        </m:e>
                        <m:sub>
                          <m:r>
                            <a:rPr lang="en-US" altLang="zh-TW" sz="2000" b="1" i="1" smtClean="0">
                              <a:latin typeface="Cambria Math" panose="02040503050406030204" pitchFamily="18" charset="0"/>
                            </a:rPr>
                            <m:t>𝟑</m:t>
                          </m:r>
                        </m:sub>
                      </m:sSub>
                      <m:sSubSup>
                        <m:sSubSupPr>
                          <m:ctrlPr>
                            <a:rPr lang="en-US" altLang="zh-TW" sz="2000" b="1" i="1" smtClean="0">
                              <a:latin typeface="Cambria Math" panose="02040503050406030204" pitchFamily="18" charset="0"/>
                            </a:rPr>
                          </m:ctrlPr>
                        </m:sSubSupPr>
                        <m:e>
                          <m:d>
                            <m:dPr>
                              <m:begChr m:val="‖"/>
                              <m:endChr m:val="‖"/>
                              <m:ctrlPr>
                                <a:rPr lang="en-US" altLang="zh-TW" sz="2000" b="1" i="1" smtClean="0">
                                  <a:latin typeface="Cambria Math" panose="02040503050406030204" pitchFamily="18" charset="0"/>
                                </a:rPr>
                              </m:ctrlPr>
                            </m:dPr>
                            <m:e>
                              <m:r>
                                <a:rPr lang="en-US" altLang="zh-TW" sz="2000" b="1" i="1" smtClean="0">
                                  <a:latin typeface="Cambria Math" panose="02040503050406030204" pitchFamily="18" charset="0"/>
                                </a:rPr>
                                <m:t>𝒖</m:t>
                              </m:r>
                            </m:e>
                          </m:d>
                        </m:e>
                        <m:sub>
                          <m:r>
                            <a:rPr lang="en-US" altLang="zh-TW" sz="2000" b="1" i="1">
                              <a:latin typeface="Cambria Math" panose="02040503050406030204" pitchFamily="18" charset="0"/>
                            </a:rPr>
                            <m:t>𝑭</m:t>
                          </m:r>
                        </m:sub>
                        <m:sup>
                          <m:r>
                            <a:rPr lang="en-US" altLang="zh-TW" sz="2000" b="1" i="1">
                              <a:latin typeface="Cambria Math" panose="02040503050406030204" pitchFamily="18" charset="0"/>
                            </a:rPr>
                            <m:t>𝟐</m:t>
                          </m:r>
                        </m:sup>
                      </m:sSubSup>
                    </m:oMath>
                  </m:oMathPara>
                </a14:m>
                <a:endParaRPr lang="en-US" altLang="zh-TW" sz="2000" b="1" dirty="0"/>
              </a:p>
              <a:p>
                <a:endParaRPr lang="en-US" altLang="zh-TW" sz="2000" dirty="0"/>
              </a:p>
              <a:p>
                <a:r>
                  <a:rPr lang="en-US" altLang="zh-TW" sz="2000" dirty="0"/>
                  <a:t>where </a:t>
                </a:r>
                <a14:m>
                  <m:oMath xmlns:m="http://schemas.openxmlformats.org/officeDocument/2006/math">
                    <m:r>
                      <a:rPr lang="en-US" altLang="zh-TW" sz="2000" i="1">
                        <a:latin typeface="Cambria Math" panose="02040503050406030204" pitchFamily="18" charset="0"/>
                      </a:rPr>
                      <m:t>𝑋</m:t>
                    </m:r>
                    <m:d>
                      <m:dPr>
                        <m:ctrlPr>
                          <a:rPr lang="en-US" altLang="zh-TW" sz="2000" i="1">
                            <a:latin typeface="Cambria Math" panose="02040503050406030204" pitchFamily="18" charset="0"/>
                          </a:rPr>
                        </m:ctrlPr>
                      </m:dPr>
                      <m:e>
                        <m:r>
                          <a:rPr lang="en-US" altLang="zh-TW" sz="2000" i="1">
                            <a:latin typeface="Cambria Math" panose="02040503050406030204" pitchFamily="18" charset="0"/>
                          </a:rPr>
                          <m:t>𝑡</m:t>
                        </m:r>
                      </m:e>
                    </m:d>
                    <m:r>
                      <a:rPr lang="en-US" altLang="zh-TW" sz="2000" i="1">
                        <a:latin typeface="Cambria Math" panose="02040503050406030204" pitchFamily="18" charset="0"/>
                      </a:rPr>
                      <m:t>∈</m:t>
                    </m:r>
                    <m:sSup>
                      <m:sSupPr>
                        <m:ctrlPr>
                          <a:rPr lang="en-US" altLang="zh-TW" sz="2000" i="1">
                            <a:latin typeface="Cambria Math" panose="02040503050406030204" pitchFamily="18" charset="0"/>
                            <a:ea typeface="Cambria Math" panose="02040503050406030204" pitchFamily="18" charset="0"/>
                          </a:rPr>
                        </m:ctrlPr>
                      </m:sSupPr>
                      <m:e>
                        <m:r>
                          <a:rPr lang="en-US" altLang="zh-TW" sz="2000" i="1">
                            <a:latin typeface="Cambria Math" panose="02040503050406030204" pitchFamily="18" charset="0"/>
                            <a:ea typeface="Cambria Math" panose="02040503050406030204" pitchFamily="18" charset="0"/>
                          </a:rPr>
                          <m:t>ℝ</m:t>
                        </m:r>
                      </m:e>
                      <m:sup>
                        <m:r>
                          <a:rPr lang="en-US" altLang="zh-TW" sz="2000" i="1">
                            <a:latin typeface="Cambria Math" panose="02040503050406030204" pitchFamily="18" charset="0"/>
                            <a:ea typeface="Cambria Math" panose="02040503050406030204" pitchFamily="18" charset="0"/>
                          </a:rPr>
                          <m:t>𝐻</m:t>
                        </m:r>
                        <m:r>
                          <a:rPr lang="en-US" altLang="zh-TW" sz="2000" i="1">
                            <a:latin typeface="Cambria Math" panose="02040503050406030204" pitchFamily="18" charset="0"/>
                            <a:ea typeface="Cambria Math" panose="02040503050406030204" pitchFamily="18" charset="0"/>
                          </a:rPr>
                          <m:t>×</m:t>
                        </m:r>
                        <m:r>
                          <a:rPr lang="en-US" altLang="zh-TW" sz="2000" i="1">
                            <a:latin typeface="Cambria Math" panose="02040503050406030204" pitchFamily="18" charset="0"/>
                            <a:ea typeface="Cambria Math" panose="02040503050406030204" pitchFamily="18" charset="0"/>
                          </a:rPr>
                          <m:t>𝑊</m:t>
                        </m:r>
                      </m:sup>
                    </m:sSup>
                  </m:oMath>
                </a14:m>
                <a:r>
                  <a:rPr lang="en-US" altLang="zh-TW" sz="2000" dirty="0"/>
                  <a:t> is the</a:t>
                </a:r>
                <a:r>
                  <a:rPr lang="zh-TW" altLang="en-US" sz="2000" dirty="0"/>
                  <a:t> </a:t>
                </a:r>
                <a:r>
                  <a:rPr lang="en-US" altLang="zh-TW" sz="2000" dirty="0"/>
                  <a:t>predicted state at time </a:t>
                </a:r>
                <a:r>
                  <a:rPr lang="en-US" altLang="zh-TW" sz="2000" i="1" dirty="0"/>
                  <a:t>t</a:t>
                </a:r>
                <a:r>
                  <a:rPr lang="en-US" altLang="zh-TW" sz="2000" dirty="0"/>
                  <a:t>, and </a:t>
                </a:r>
                <a14:m>
                  <m:oMath xmlns:m="http://schemas.openxmlformats.org/officeDocument/2006/math">
                    <m:r>
                      <a:rPr lang="en-US" altLang="zh-TW" sz="2000" b="0" i="1" smtClean="0">
                        <a:latin typeface="Cambria Math" panose="02040503050406030204" pitchFamily="18" charset="0"/>
                      </a:rPr>
                      <m:t>𝑆</m:t>
                    </m:r>
                    <m:r>
                      <a:rPr lang="en-US" altLang="zh-TW" sz="2000" b="0" i="1" smtClean="0">
                        <a:latin typeface="Cambria Math" panose="02040503050406030204" pitchFamily="18" charset="0"/>
                      </a:rPr>
                      <m:t>∈</m:t>
                    </m:r>
                    <m:sSup>
                      <m:sSupPr>
                        <m:ctrlPr>
                          <a:rPr lang="en-US" altLang="zh-TW" sz="2000" b="0" i="1" smtClean="0">
                            <a:latin typeface="Cambria Math" panose="02040503050406030204" pitchFamily="18" charset="0"/>
                            <a:ea typeface="Cambria Math" panose="02040503050406030204" pitchFamily="18" charset="0"/>
                          </a:rPr>
                        </m:ctrlPr>
                      </m:sSupPr>
                      <m:e>
                        <m:r>
                          <a:rPr lang="en-US" altLang="zh-TW" sz="2000" b="0" i="1" smtClean="0">
                            <a:latin typeface="Cambria Math" panose="02040503050406030204" pitchFamily="18" charset="0"/>
                            <a:ea typeface="Cambria Math" panose="02040503050406030204" pitchFamily="18" charset="0"/>
                          </a:rPr>
                          <m:t>ℝ</m:t>
                        </m:r>
                      </m:e>
                      <m:sup>
                        <m:r>
                          <a:rPr lang="en-US" altLang="zh-TW" sz="2000" b="0" i="1" smtClean="0">
                            <a:latin typeface="Cambria Math" panose="02040503050406030204" pitchFamily="18" charset="0"/>
                            <a:ea typeface="Cambria Math" panose="02040503050406030204" pitchFamily="18" charset="0"/>
                          </a:rPr>
                          <m:t>𝐻</m:t>
                        </m:r>
                        <m:r>
                          <a:rPr lang="en-US" altLang="zh-TW" sz="2000" b="0" i="1" smtClean="0">
                            <a:latin typeface="Cambria Math" panose="02040503050406030204" pitchFamily="18" charset="0"/>
                            <a:ea typeface="Cambria Math" panose="02040503050406030204" pitchFamily="18" charset="0"/>
                          </a:rPr>
                          <m:t>×</m:t>
                        </m:r>
                        <m:r>
                          <a:rPr lang="en-US" altLang="zh-TW" sz="2000" b="0" i="1" smtClean="0">
                            <a:latin typeface="Cambria Math" panose="02040503050406030204" pitchFamily="18" charset="0"/>
                            <a:ea typeface="Cambria Math" panose="02040503050406030204" pitchFamily="18" charset="0"/>
                          </a:rPr>
                          <m:t>𝑊</m:t>
                        </m:r>
                      </m:sup>
                    </m:sSup>
                  </m:oMath>
                </a14:m>
                <a:r>
                  <a:rPr lang="en-US" altLang="zh-TW" sz="2000" dirty="0"/>
                  <a:t> is the target mask.</a:t>
                </a:r>
              </a:p>
              <a:p>
                <a:endParaRPr lang="en-US" altLang="zh-TW" sz="2000" dirty="0"/>
              </a:p>
              <a:p>
                <a:pPr marL="342900" indent="-342900">
                  <a:buFont typeface="Arial" panose="020B0604020202020204" pitchFamily="34" charset="0"/>
                  <a:buChar char="•"/>
                </a:pPr>
                <a:r>
                  <a:rPr lang="en-US" altLang="zh-TW" sz="2000" dirty="0"/>
                  <a:t>Optimization approach</a:t>
                </a:r>
              </a:p>
              <a:p>
                <a:pPr marL="800100" lvl="1" indent="-342900">
                  <a:buFont typeface="Arial" panose="020B0604020202020204" pitchFamily="34" charset="0"/>
                  <a:buChar char="•"/>
                </a:pPr>
                <a:r>
                  <a:rPr lang="en-US" altLang="zh-TW" sz="2000" dirty="0"/>
                  <a:t>Gradient-decent optimization (Adam, PyTorch)</a:t>
                </a:r>
              </a:p>
              <a:p>
                <a:pPr marL="800100" lvl="1" indent="-342900">
                  <a:buFont typeface="Arial" panose="020B0604020202020204" pitchFamily="34" charset="0"/>
                  <a:buChar char="•"/>
                </a:pPr>
                <a:r>
                  <a:rPr lang="en-US" altLang="zh-TW" sz="2000" dirty="0"/>
                  <a:t>Nonlinear</a:t>
                </a:r>
                <a:r>
                  <a:rPr lang="zh-TW" altLang="en-US" sz="2000" dirty="0"/>
                  <a:t> </a:t>
                </a:r>
                <a:r>
                  <a:rPr lang="en-US" altLang="zh-TW" sz="2000" dirty="0"/>
                  <a:t>constrained programming, etc.</a:t>
                </a:r>
              </a:p>
            </p:txBody>
          </p:sp>
        </mc:Choice>
        <mc:Fallback xmlns="">
          <p:sp>
            <p:nvSpPr>
              <p:cNvPr id="3" name="TextBox 2">
                <a:extLst>
                  <a:ext uri="{FF2B5EF4-FFF2-40B4-BE49-F238E27FC236}">
                    <a16:creationId xmlns:a16="http://schemas.microsoft.com/office/drawing/2014/main" id="{64CE56C9-4B3C-DA44-CDF4-3AFD5FB99099}"/>
                  </a:ext>
                </a:extLst>
              </p:cNvPr>
              <p:cNvSpPr txBox="1">
                <a:spLocks noRot="1" noChangeAspect="1" noMove="1" noResize="1" noEditPoints="1" noAdjustHandles="1" noChangeArrowheads="1" noChangeShapeType="1" noTextEdit="1"/>
              </p:cNvSpPr>
              <p:nvPr/>
            </p:nvSpPr>
            <p:spPr>
              <a:xfrm>
                <a:off x="462579" y="1183341"/>
                <a:ext cx="11381590" cy="3896836"/>
              </a:xfrm>
              <a:prstGeom prst="rect">
                <a:avLst/>
              </a:prstGeom>
              <a:blipFill>
                <a:blip r:embed="rId3"/>
                <a:stretch>
                  <a:fillRect l="-589" t="-782" b="-187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53950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E9732-0A82-35C1-FBEA-1BCA916777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BCE85-38D0-7D71-CA81-A635DB3E00A0}"/>
              </a:ext>
            </a:extLst>
          </p:cNvPr>
          <p:cNvSpPr>
            <a:spLocks noGrp="1"/>
          </p:cNvSpPr>
          <p:nvPr>
            <p:ph type="title"/>
          </p:nvPr>
        </p:nvSpPr>
        <p:spPr/>
        <p:txBody>
          <a:bodyPr/>
          <a:lstStyle/>
          <a:p>
            <a:r>
              <a:rPr lang="en-US" altLang="zh-TW" dirty="0"/>
              <a:t>Offline Optimization (Open Loop Control)</a:t>
            </a:r>
            <a:endParaRPr lang="en-US" dirty="0"/>
          </a:p>
        </p:txBody>
      </p:sp>
      <p:sp>
        <p:nvSpPr>
          <p:cNvPr id="4" name="Date Placeholder 3">
            <a:extLst>
              <a:ext uri="{FF2B5EF4-FFF2-40B4-BE49-F238E27FC236}">
                <a16:creationId xmlns:a16="http://schemas.microsoft.com/office/drawing/2014/main" id="{819E6F4B-A421-0CCB-1EEB-2FEF4148A4A9}"/>
              </a:ext>
            </a:extLst>
          </p:cNvPr>
          <p:cNvSpPr>
            <a:spLocks noGrp="1"/>
          </p:cNvSpPr>
          <p:nvPr>
            <p:ph type="dt" sz="half" idx="10"/>
          </p:nvPr>
        </p:nvSpPr>
        <p:spPr/>
        <p:txBody>
          <a:bodyPr/>
          <a:lstStyle/>
          <a:p>
            <a:fld id="{E4F5E198-6479-4380-8F14-1065308CC0DC}" type="datetime1">
              <a:rPr lang="en-US" smtClean="0"/>
              <a:t>9/24/26</a:t>
            </a:fld>
            <a:endParaRPr lang="en-US" dirty="0"/>
          </a:p>
        </p:txBody>
      </p:sp>
      <p:sp>
        <p:nvSpPr>
          <p:cNvPr id="5" name="Footer Placeholder 4">
            <a:extLst>
              <a:ext uri="{FF2B5EF4-FFF2-40B4-BE49-F238E27FC236}">
                <a16:creationId xmlns:a16="http://schemas.microsoft.com/office/drawing/2014/main" id="{C95C5E7F-4A3A-AACB-ADE9-E091029FCF25}"/>
              </a:ext>
            </a:extLst>
          </p:cNvPr>
          <p:cNvSpPr>
            <a:spLocks noGrp="1"/>
          </p:cNvSpPr>
          <p:nvPr>
            <p:ph type="ftr" sz="quarter" idx="11"/>
          </p:nvPr>
        </p:nvSpPr>
        <p:spPr/>
        <p:txBody>
          <a:bodyPr/>
          <a:lstStyle/>
          <a:p>
            <a:r>
              <a:rPr lang="en-US"/>
              <a:t>Nanoscale Design and Manufacturing Laboratory</a:t>
            </a:r>
            <a:endParaRPr lang="en-US" dirty="0"/>
          </a:p>
        </p:txBody>
      </p:sp>
      <p:sp>
        <p:nvSpPr>
          <p:cNvPr id="6" name="Slide Number Placeholder 5">
            <a:extLst>
              <a:ext uri="{FF2B5EF4-FFF2-40B4-BE49-F238E27FC236}">
                <a16:creationId xmlns:a16="http://schemas.microsoft.com/office/drawing/2014/main" id="{4B2A5715-09DD-F539-E997-3475D198F33F}"/>
              </a:ext>
            </a:extLst>
          </p:cNvPr>
          <p:cNvSpPr>
            <a:spLocks noGrp="1"/>
          </p:cNvSpPr>
          <p:nvPr>
            <p:ph type="sldNum" sz="quarter" idx="12"/>
          </p:nvPr>
        </p:nvSpPr>
        <p:spPr/>
        <p:txBody>
          <a:bodyPr/>
          <a:lstStyle/>
          <a:p>
            <a:fld id="{5A741E56-E3D9-46FF-B47D-3FCBEAE97EB2}" type="slidenum">
              <a:rPr lang="en-US" smtClean="0"/>
              <a:pPr/>
              <a:t>6</a:t>
            </a:fld>
            <a:endParaRPr lang="en-US" dirty="0"/>
          </a:p>
        </p:txBody>
      </p:sp>
      <p:sp>
        <p:nvSpPr>
          <p:cNvPr id="11" name="TextBox 10">
            <a:extLst>
              <a:ext uri="{FF2B5EF4-FFF2-40B4-BE49-F238E27FC236}">
                <a16:creationId xmlns:a16="http://schemas.microsoft.com/office/drawing/2014/main" id="{29A4881F-4C58-E88C-04EB-00E6C08FD97C}"/>
              </a:ext>
            </a:extLst>
          </p:cNvPr>
          <p:cNvSpPr txBox="1"/>
          <p:nvPr/>
        </p:nvSpPr>
        <p:spPr>
          <a:xfrm>
            <a:off x="405204" y="998807"/>
            <a:ext cx="11381590" cy="400110"/>
          </a:xfrm>
          <a:prstGeom prst="rect">
            <a:avLst/>
          </a:prstGeom>
          <a:noFill/>
        </p:spPr>
        <p:txBody>
          <a:bodyPr wrap="square" rtlCol="0">
            <a:spAutoFit/>
          </a:bodyPr>
          <a:lstStyle/>
          <a:p>
            <a:r>
              <a:rPr lang="en-US" altLang="zh-TW" sz="2000" dirty="0"/>
              <a:t>1. Data-driven [1]</a:t>
            </a:r>
          </a:p>
        </p:txBody>
      </p:sp>
      <p:sp>
        <p:nvSpPr>
          <p:cNvPr id="7" name="TextBox 6">
            <a:extLst>
              <a:ext uri="{FF2B5EF4-FFF2-40B4-BE49-F238E27FC236}">
                <a16:creationId xmlns:a16="http://schemas.microsoft.com/office/drawing/2014/main" id="{D5E09C5D-EDC5-844A-0040-269E79864622}"/>
              </a:ext>
            </a:extLst>
          </p:cNvPr>
          <p:cNvSpPr txBox="1"/>
          <p:nvPr/>
        </p:nvSpPr>
        <p:spPr>
          <a:xfrm>
            <a:off x="405204" y="1407550"/>
            <a:ext cx="11381590" cy="707886"/>
          </a:xfrm>
          <a:prstGeom prst="rect">
            <a:avLst/>
          </a:prstGeom>
          <a:noFill/>
        </p:spPr>
        <p:txBody>
          <a:bodyPr wrap="square" rtlCol="0">
            <a:spAutoFit/>
          </a:bodyPr>
          <a:lstStyle/>
          <a:p>
            <a:r>
              <a:rPr lang="en-US" altLang="zh-TW" sz="2000" dirty="0"/>
              <a:t>Motivation: </a:t>
            </a:r>
            <a:r>
              <a:rPr lang="en-US" sz="2000" dirty="0"/>
              <a:t>This method uses machine learning to predict optimized grayscale boundary pixels without relying on full physics-based simulation. </a:t>
            </a:r>
            <a:endParaRPr lang="en-US" altLang="zh-TW" sz="20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EA55574-0C93-F2A2-DD35-3C1FDE2563C0}"/>
                  </a:ext>
                </a:extLst>
              </p:cNvPr>
              <p:cNvSpPr txBox="1"/>
              <p:nvPr/>
            </p:nvSpPr>
            <p:spPr>
              <a:xfrm>
                <a:off x="405204" y="2113584"/>
                <a:ext cx="11019152" cy="1200329"/>
              </a:xfrm>
              <a:prstGeom prst="rect">
                <a:avLst/>
              </a:prstGeom>
              <a:noFill/>
            </p:spPr>
            <p:txBody>
              <a:bodyPr wrap="square">
                <a:spAutoFit/>
              </a:bodyPr>
              <a:lstStyle/>
              <a:p>
                <a:pPr marL="285750" indent="-285750">
                  <a:buFont typeface="Arial" panose="020B0604020202020204" pitchFamily="34" charset="0"/>
                  <a:buChar char="•"/>
                </a:pPr>
                <a:r>
                  <a:rPr lang="en-US" dirty="0"/>
                  <a:t>Method</a:t>
                </a:r>
              </a:p>
              <a:p>
                <a:pPr>
                  <a:buNone/>
                </a:pPr>
                <a:r>
                  <a:rPr lang="en-US" dirty="0"/>
                  <a:t>A data-driven model is trained using printed chessboard patterns to learn the relationship between:</a:t>
                </a:r>
              </a:p>
              <a:p>
                <a:pPr>
                  <a:buNone/>
                </a:pPr>
                <a14:m>
                  <m:oMathPara xmlns:m="http://schemas.openxmlformats.org/officeDocument/2006/math">
                    <m:oMath>
                      <m:r>
                        <m:rPr>
                          <m:nor/>
                        </m:rPr>
                        <a:rPr lang="en-US" b="0" i="1"/>
                        <m:t>Projected grayscale pattern</m:t>
                      </m:r>
                      <m:r>
                        <a:rPr lang="en-US" b="0" i="1">
                          <a:latin typeface="Cambria Math" panose="02040503050406030204" pitchFamily="18" charset="0"/>
                        </a:rPr>
                        <m:t>→</m:t>
                      </m:r>
                      <m:r>
                        <m:rPr>
                          <m:nor/>
                        </m:rPr>
                        <a:rPr lang="en-US" b="0" i="1"/>
                        <m:t>Printed boundary profile</m:t>
                      </m:r>
                    </m:oMath>
                  </m:oMathPara>
                </a14:m>
                <a:endParaRPr lang="en-US" b="0" i="1" dirty="0"/>
              </a:p>
              <a:p>
                <a:pPr>
                  <a:buNone/>
                </a:pPr>
                <a:r>
                  <a:rPr lang="en-US" dirty="0"/>
                  <a:t>Then, the trained model predicts grayscale boundary corrections for target geometries.</a:t>
                </a:r>
              </a:p>
            </p:txBody>
          </p:sp>
        </mc:Choice>
        <mc:Fallback xmlns="">
          <p:sp>
            <p:nvSpPr>
              <p:cNvPr id="10" name="TextBox 9">
                <a:extLst>
                  <a:ext uri="{FF2B5EF4-FFF2-40B4-BE49-F238E27FC236}">
                    <a16:creationId xmlns:a16="http://schemas.microsoft.com/office/drawing/2014/main" id="{DEA55574-0C93-F2A2-DD35-3C1FDE2563C0}"/>
                  </a:ext>
                </a:extLst>
              </p:cNvPr>
              <p:cNvSpPr txBox="1">
                <a:spLocks noRot="1" noChangeAspect="1" noMove="1" noResize="1" noEditPoints="1" noAdjustHandles="1" noChangeArrowheads="1" noChangeShapeType="1" noTextEdit="1"/>
              </p:cNvSpPr>
              <p:nvPr/>
            </p:nvSpPr>
            <p:spPr>
              <a:xfrm>
                <a:off x="405204" y="2113584"/>
                <a:ext cx="11019152" cy="1200329"/>
              </a:xfrm>
              <a:prstGeom prst="rect">
                <a:avLst/>
              </a:prstGeom>
              <a:blipFill>
                <a:blip r:embed="rId3"/>
                <a:stretch>
                  <a:fillRect l="-460" t="-2083" b="-7292"/>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99EDE652-6E72-A672-4EB8-5BBF5017E8D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5204" y="3381390"/>
            <a:ext cx="4430280" cy="2477803"/>
          </a:xfrm>
          <a:prstGeom prst="rect">
            <a:avLst/>
          </a:prstGeom>
        </p:spPr>
      </p:pic>
      <p:sp>
        <p:nvSpPr>
          <p:cNvPr id="15" name="TextBox 14">
            <a:extLst>
              <a:ext uri="{FF2B5EF4-FFF2-40B4-BE49-F238E27FC236}">
                <a16:creationId xmlns:a16="http://schemas.microsoft.com/office/drawing/2014/main" id="{50D1C1B7-13A0-E444-80F1-F1946050E035}"/>
              </a:ext>
            </a:extLst>
          </p:cNvPr>
          <p:cNvSpPr txBox="1"/>
          <p:nvPr/>
        </p:nvSpPr>
        <p:spPr>
          <a:xfrm>
            <a:off x="405204" y="5971704"/>
            <a:ext cx="11381590" cy="415498"/>
          </a:xfrm>
          <a:prstGeom prst="rect">
            <a:avLst/>
          </a:prstGeom>
          <a:noFill/>
        </p:spPr>
        <p:txBody>
          <a:bodyPr wrap="square">
            <a:spAutoFit/>
          </a:bodyPr>
          <a:lstStyle/>
          <a:p>
            <a:r>
              <a:rPr lang="en-US" sz="1050" dirty="0">
                <a:solidFill>
                  <a:srgbClr val="222222"/>
                </a:solidFill>
                <a:latin typeface="Arial" panose="020B0604020202020204" pitchFamily="34" charset="0"/>
              </a:rPr>
              <a:t>[1] </a:t>
            </a:r>
            <a:r>
              <a:rPr lang="en-US" sz="1050" b="0" i="0" dirty="0">
                <a:solidFill>
                  <a:srgbClr val="222222"/>
                </a:solidFill>
                <a:effectLst/>
                <a:latin typeface="Arial" panose="020B0604020202020204" pitchFamily="34" charset="0"/>
              </a:rPr>
              <a:t>Ma, Y., Tian, Z., Wang, B., Zhao, Y., Nie, Y., Wildman, R. D., ... &amp; He, Y. (2024). Enhancing the 3D printing fidelity of vat photopolymerization with machine learning-driven boundary prediction. </a:t>
            </a:r>
            <a:r>
              <a:rPr lang="en-US" sz="1050" b="0" i="1" dirty="0">
                <a:solidFill>
                  <a:srgbClr val="222222"/>
                </a:solidFill>
                <a:effectLst/>
                <a:latin typeface="Arial" panose="020B0604020202020204" pitchFamily="34" charset="0"/>
              </a:rPr>
              <a:t>Materials &amp; Design</a:t>
            </a:r>
            <a:r>
              <a:rPr lang="en-US" sz="1050" b="0" i="0" dirty="0">
                <a:solidFill>
                  <a:srgbClr val="222222"/>
                </a:solidFill>
                <a:effectLst/>
                <a:latin typeface="Arial" panose="020B0604020202020204" pitchFamily="34" charset="0"/>
              </a:rPr>
              <a:t>, </a:t>
            </a:r>
            <a:r>
              <a:rPr lang="en-US" sz="1050" b="0" i="1" dirty="0">
                <a:solidFill>
                  <a:srgbClr val="222222"/>
                </a:solidFill>
                <a:effectLst/>
                <a:latin typeface="Arial" panose="020B0604020202020204" pitchFamily="34" charset="0"/>
              </a:rPr>
              <a:t>241</a:t>
            </a:r>
            <a:r>
              <a:rPr lang="en-US" sz="1050" b="0" i="0" dirty="0">
                <a:solidFill>
                  <a:srgbClr val="222222"/>
                </a:solidFill>
                <a:effectLst/>
                <a:latin typeface="Arial" panose="020B0604020202020204" pitchFamily="34" charset="0"/>
              </a:rPr>
              <a:t>, 112978.</a:t>
            </a:r>
            <a:endParaRPr lang="en-US" sz="1050" dirty="0"/>
          </a:p>
        </p:txBody>
      </p:sp>
      <p:sp>
        <p:nvSpPr>
          <p:cNvPr id="17" name="TextBox 16">
            <a:extLst>
              <a:ext uri="{FF2B5EF4-FFF2-40B4-BE49-F238E27FC236}">
                <a16:creationId xmlns:a16="http://schemas.microsoft.com/office/drawing/2014/main" id="{902CF86E-151A-973A-C62C-2071158747FD}"/>
              </a:ext>
            </a:extLst>
          </p:cNvPr>
          <p:cNvSpPr txBox="1"/>
          <p:nvPr/>
        </p:nvSpPr>
        <p:spPr>
          <a:xfrm>
            <a:off x="5012871" y="5042505"/>
            <a:ext cx="6128656" cy="646331"/>
          </a:xfrm>
          <a:prstGeom prst="rect">
            <a:avLst/>
          </a:prstGeom>
          <a:noFill/>
        </p:spPr>
        <p:txBody>
          <a:bodyPr wrap="square">
            <a:spAutoFit/>
          </a:bodyPr>
          <a:lstStyle/>
          <a:p>
            <a:pPr marL="285750" indent="-285750">
              <a:buFont typeface="Arial" panose="020B0604020202020204" pitchFamily="34" charset="0"/>
              <a:buChar char="•"/>
            </a:pPr>
            <a:r>
              <a:rPr lang="en-US" dirty="0"/>
              <a:t>Pros: Fast prediction after training</a:t>
            </a:r>
          </a:p>
          <a:p>
            <a:pPr marL="285750" indent="-285750">
              <a:buFont typeface="Arial" panose="020B0604020202020204" pitchFamily="34" charset="0"/>
              <a:buChar char="•"/>
            </a:pPr>
            <a:r>
              <a:rPr lang="en-US" dirty="0"/>
              <a:t>Cons: Data preparation can be labor-intensive.</a:t>
            </a:r>
          </a:p>
        </p:txBody>
      </p:sp>
    </p:spTree>
    <p:extLst>
      <p:ext uri="{BB962C8B-B14F-4D97-AF65-F5344CB8AC3E}">
        <p14:creationId xmlns:p14="http://schemas.microsoft.com/office/powerpoint/2010/main" val="2824393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30F69-73B1-1781-C1CC-4D9E2C5DD2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E22D8-3188-C16C-36D0-B935308AA325}"/>
              </a:ext>
            </a:extLst>
          </p:cNvPr>
          <p:cNvSpPr>
            <a:spLocks noGrp="1"/>
          </p:cNvSpPr>
          <p:nvPr>
            <p:ph type="title"/>
          </p:nvPr>
        </p:nvSpPr>
        <p:spPr/>
        <p:txBody>
          <a:bodyPr/>
          <a:lstStyle/>
          <a:p>
            <a:r>
              <a:rPr lang="en-US" altLang="zh-TW" dirty="0"/>
              <a:t>Offline Optimization (Open Loop Control)</a:t>
            </a:r>
            <a:endParaRPr lang="en-US" dirty="0"/>
          </a:p>
        </p:txBody>
      </p:sp>
      <p:sp>
        <p:nvSpPr>
          <p:cNvPr id="4" name="Date Placeholder 3">
            <a:extLst>
              <a:ext uri="{FF2B5EF4-FFF2-40B4-BE49-F238E27FC236}">
                <a16:creationId xmlns:a16="http://schemas.microsoft.com/office/drawing/2014/main" id="{F003FDE9-349F-A67E-E8B6-3E69C6F76CC2}"/>
              </a:ext>
            </a:extLst>
          </p:cNvPr>
          <p:cNvSpPr>
            <a:spLocks noGrp="1"/>
          </p:cNvSpPr>
          <p:nvPr>
            <p:ph type="dt" sz="half" idx="10"/>
          </p:nvPr>
        </p:nvSpPr>
        <p:spPr/>
        <p:txBody>
          <a:bodyPr/>
          <a:lstStyle/>
          <a:p>
            <a:fld id="{E4F5E198-6479-4380-8F14-1065308CC0DC}" type="datetime1">
              <a:rPr lang="en-US" smtClean="0"/>
              <a:t>9/24/26</a:t>
            </a:fld>
            <a:endParaRPr lang="en-US" dirty="0"/>
          </a:p>
        </p:txBody>
      </p:sp>
      <p:sp>
        <p:nvSpPr>
          <p:cNvPr id="5" name="Footer Placeholder 4">
            <a:extLst>
              <a:ext uri="{FF2B5EF4-FFF2-40B4-BE49-F238E27FC236}">
                <a16:creationId xmlns:a16="http://schemas.microsoft.com/office/drawing/2014/main" id="{AE331BFC-5924-60DB-BE3D-5710A0580917}"/>
              </a:ext>
            </a:extLst>
          </p:cNvPr>
          <p:cNvSpPr>
            <a:spLocks noGrp="1"/>
          </p:cNvSpPr>
          <p:nvPr>
            <p:ph type="ftr" sz="quarter" idx="11"/>
          </p:nvPr>
        </p:nvSpPr>
        <p:spPr/>
        <p:txBody>
          <a:bodyPr/>
          <a:lstStyle/>
          <a:p>
            <a:r>
              <a:rPr lang="en-US"/>
              <a:t>Nanoscale Design and Manufacturing Laboratory</a:t>
            </a:r>
            <a:endParaRPr lang="en-US" dirty="0"/>
          </a:p>
        </p:txBody>
      </p:sp>
      <p:sp>
        <p:nvSpPr>
          <p:cNvPr id="6" name="Slide Number Placeholder 5">
            <a:extLst>
              <a:ext uri="{FF2B5EF4-FFF2-40B4-BE49-F238E27FC236}">
                <a16:creationId xmlns:a16="http://schemas.microsoft.com/office/drawing/2014/main" id="{8253993D-BD1E-09A4-92FE-342D64348A68}"/>
              </a:ext>
            </a:extLst>
          </p:cNvPr>
          <p:cNvSpPr>
            <a:spLocks noGrp="1"/>
          </p:cNvSpPr>
          <p:nvPr>
            <p:ph type="sldNum" sz="quarter" idx="12"/>
          </p:nvPr>
        </p:nvSpPr>
        <p:spPr/>
        <p:txBody>
          <a:bodyPr/>
          <a:lstStyle/>
          <a:p>
            <a:fld id="{5A741E56-E3D9-46FF-B47D-3FCBEAE97EB2}" type="slidenum">
              <a:rPr lang="en-US" smtClean="0"/>
              <a:pPr/>
              <a:t>7</a:t>
            </a:fld>
            <a:endParaRPr lang="en-US" dirty="0"/>
          </a:p>
        </p:txBody>
      </p:sp>
      <p:sp>
        <p:nvSpPr>
          <p:cNvPr id="11" name="TextBox 10">
            <a:extLst>
              <a:ext uri="{FF2B5EF4-FFF2-40B4-BE49-F238E27FC236}">
                <a16:creationId xmlns:a16="http://schemas.microsoft.com/office/drawing/2014/main" id="{3871B4AB-F5AB-524E-08E0-EEFA69F20686}"/>
              </a:ext>
            </a:extLst>
          </p:cNvPr>
          <p:cNvSpPr txBox="1"/>
          <p:nvPr/>
        </p:nvSpPr>
        <p:spPr>
          <a:xfrm>
            <a:off x="405204" y="998807"/>
            <a:ext cx="11381590" cy="400110"/>
          </a:xfrm>
          <a:prstGeom prst="rect">
            <a:avLst/>
          </a:prstGeom>
          <a:noFill/>
        </p:spPr>
        <p:txBody>
          <a:bodyPr wrap="square" rtlCol="0">
            <a:spAutoFit/>
          </a:bodyPr>
          <a:lstStyle/>
          <a:p>
            <a:r>
              <a:rPr lang="en-US" altLang="zh-TW" sz="2000" dirty="0"/>
              <a:t>2. Model-Based [2] [3] [4]</a:t>
            </a:r>
          </a:p>
        </p:txBody>
      </p:sp>
      <p:sp>
        <p:nvSpPr>
          <p:cNvPr id="13" name="TextBox 12">
            <a:extLst>
              <a:ext uri="{FF2B5EF4-FFF2-40B4-BE49-F238E27FC236}">
                <a16:creationId xmlns:a16="http://schemas.microsoft.com/office/drawing/2014/main" id="{E3696D72-8FA9-E15F-7FEB-FAA0F312F65A}"/>
              </a:ext>
            </a:extLst>
          </p:cNvPr>
          <p:cNvSpPr txBox="1"/>
          <p:nvPr/>
        </p:nvSpPr>
        <p:spPr>
          <a:xfrm>
            <a:off x="358920" y="3160216"/>
            <a:ext cx="8149084" cy="923330"/>
          </a:xfrm>
          <a:prstGeom prst="rect">
            <a:avLst/>
          </a:prstGeom>
          <a:noFill/>
        </p:spPr>
        <p:txBody>
          <a:bodyPr wrap="square">
            <a:spAutoFit/>
          </a:bodyPr>
          <a:lstStyle/>
          <a:p>
            <a:pPr marL="285750" indent="-285750">
              <a:buFont typeface="Arial" panose="020B0604020202020204" pitchFamily="34" charset="0"/>
              <a:buChar char="•"/>
            </a:pPr>
            <a:r>
              <a:rPr lang="en-US" dirty="0"/>
              <a:t>Pros:</a:t>
            </a:r>
          </a:p>
          <a:p>
            <a:pPr>
              <a:buNone/>
            </a:pPr>
            <a:r>
              <a:rPr lang="en-US" dirty="0"/>
              <a:t>Fast prediction and lower computational cost, which is suitable for large-scale offline mask generation</a:t>
            </a:r>
          </a:p>
        </p:txBody>
      </p:sp>
      <p:sp>
        <p:nvSpPr>
          <p:cNvPr id="15" name="TextBox 14">
            <a:extLst>
              <a:ext uri="{FF2B5EF4-FFF2-40B4-BE49-F238E27FC236}">
                <a16:creationId xmlns:a16="http://schemas.microsoft.com/office/drawing/2014/main" id="{8F78BA57-6C9D-5438-2AE1-C8E8702BDFB8}"/>
              </a:ext>
            </a:extLst>
          </p:cNvPr>
          <p:cNvSpPr txBox="1"/>
          <p:nvPr/>
        </p:nvSpPr>
        <p:spPr>
          <a:xfrm>
            <a:off x="358920" y="4417243"/>
            <a:ext cx="8840397" cy="1200329"/>
          </a:xfrm>
          <a:prstGeom prst="rect">
            <a:avLst/>
          </a:prstGeom>
          <a:noFill/>
        </p:spPr>
        <p:txBody>
          <a:bodyPr wrap="square">
            <a:spAutoFit/>
          </a:bodyPr>
          <a:lstStyle/>
          <a:p>
            <a:pPr marL="285750" indent="-285750">
              <a:buFont typeface="Arial" panose="020B0604020202020204" pitchFamily="34" charset="0"/>
              <a:buChar char="•"/>
            </a:pPr>
            <a:r>
              <a:rPr lang="en-US" dirty="0"/>
              <a:t>Cons</a:t>
            </a:r>
          </a:p>
          <a:p>
            <a:r>
              <a:rPr lang="en-US" dirty="0"/>
              <a:t>Requires resin-specific DoC and light-profile calibration</a:t>
            </a:r>
            <a:br>
              <a:rPr lang="en-US" dirty="0"/>
            </a:br>
            <a:r>
              <a:rPr lang="en-US" dirty="0"/>
              <a:t>Less physically detailed than high-fidelity photobleaching models</a:t>
            </a:r>
            <a:br>
              <a:rPr lang="en-US" dirty="0"/>
            </a:br>
            <a:r>
              <a:rPr lang="en-US" dirty="0"/>
              <a:t>May require retraining when resin composition changes</a:t>
            </a:r>
          </a:p>
        </p:txBody>
      </p:sp>
      <p:pic>
        <p:nvPicPr>
          <p:cNvPr id="23" name="Picture 22">
            <a:extLst>
              <a:ext uri="{FF2B5EF4-FFF2-40B4-BE49-F238E27FC236}">
                <a16:creationId xmlns:a16="http://schemas.microsoft.com/office/drawing/2014/main" id="{6975C038-D3CC-2B28-4B9C-9D6E386C51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920" y="1668349"/>
            <a:ext cx="4074612" cy="1210129"/>
          </a:xfrm>
          <a:prstGeom prst="rect">
            <a:avLst/>
          </a:prstGeom>
        </p:spPr>
      </p:pic>
      <p:sp>
        <p:nvSpPr>
          <p:cNvPr id="24" name="TextBox 23">
            <a:extLst>
              <a:ext uri="{FF2B5EF4-FFF2-40B4-BE49-F238E27FC236}">
                <a16:creationId xmlns:a16="http://schemas.microsoft.com/office/drawing/2014/main" id="{70C88485-0643-3551-B36B-E258A52E0870}"/>
              </a:ext>
            </a:extLst>
          </p:cNvPr>
          <p:cNvSpPr txBox="1"/>
          <p:nvPr/>
        </p:nvSpPr>
        <p:spPr>
          <a:xfrm>
            <a:off x="4433463" y="1883793"/>
            <a:ext cx="4765854" cy="369332"/>
          </a:xfrm>
          <a:prstGeom prst="rect">
            <a:avLst/>
          </a:prstGeom>
          <a:noFill/>
        </p:spPr>
        <p:txBody>
          <a:bodyPr wrap="square" rtlCol="0">
            <a:spAutoFit/>
          </a:bodyPr>
          <a:lstStyle/>
          <a:p>
            <a:r>
              <a:rPr lang="en-US" dirty="0"/>
              <a:t>➡️ Purely curve fitting means fast computation</a:t>
            </a:r>
          </a:p>
        </p:txBody>
      </p:sp>
      <p:pic>
        <p:nvPicPr>
          <p:cNvPr id="8" name="Picture 7">
            <a:extLst>
              <a:ext uri="{FF2B5EF4-FFF2-40B4-BE49-F238E27FC236}">
                <a16:creationId xmlns:a16="http://schemas.microsoft.com/office/drawing/2014/main" id="{12458F08-2B2A-A695-EA91-A6010DC84FA0}"/>
              </a:ext>
            </a:extLst>
          </p:cNvPr>
          <p:cNvPicPr>
            <a:picLocks noChangeAspect="1"/>
          </p:cNvPicPr>
          <p:nvPr/>
        </p:nvPicPr>
        <p:blipFill>
          <a:blip r:embed="rId4"/>
          <a:stretch>
            <a:fillRect/>
          </a:stretch>
        </p:blipFill>
        <p:spPr>
          <a:xfrm>
            <a:off x="9199317" y="1863950"/>
            <a:ext cx="2767294" cy="3932911"/>
          </a:xfrm>
          <a:prstGeom prst="rect">
            <a:avLst/>
          </a:prstGeom>
        </p:spPr>
      </p:pic>
    </p:spTree>
    <p:extLst>
      <p:ext uri="{BB962C8B-B14F-4D97-AF65-F5344CB8AC3E}">
        <p14:creationId xmlns:p14="http://schemas.microsoft.com/office/powerpoint/2010/main" val="2338903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55291-AEC5-E879-BC0B-267EF5A3A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6D5B2C-4EC3-B6CF-16B8-CD0FD3E08E90}"/>
              </a:ext>
            </a:extLst>
          </p:cNvPr>
          <p:cNvSpPr>
            <a:spLocks noGrp="1"/>
          </p:cNvSpPr>
          <p:nvPr>
            <p:ph type="title"/>
          </p:nvPr>
        </p:nvSpPr>
        <p:spPr/>
        <p:txBody>
          <a:bodyPr/>
          <a:lstStyle/>
          <a:p>
            <a:r>
              <a:rPr lang="en-US" dirty="0"/>
              <a:t>Online Optimization and Control Overview</a:t>
            </a:r>
          </a:p>
        </p:txBody>
      </p:sp>
      <p:sp>
        <p:nvSpPr>
          <p:cNvPr id="4" name="Date Placeholder 3">
            <a:extLst>
              <a:ext uri="{FF2B5EF4-FFF2-40B4-BE49-F238E27FC236}">
                <a16:creationId xmlns:a16="http://schemas.microsoft.com/office/drawing/2014/main" id="{573D1C64-7203-E837-BC25-D9A31194645D}"/>
              </a:ext>
            </a:extLst>
          </p:cNvPr>
          <p:cNvSpPr>
            <a:spLocks noGrp="1"/>
          </p:cNvSpPr>
          <p:nvPr>
            <p:ph type="dt" sz="half" idx="10"/>
          </p:nvPr>
        </p:nvSpPr>
        <p:spPr/>
        <p:txBody>
          <a:bodyPr/>
          <a:lstStyle/>
          <a:p>
            <a:fld id="{E4F5E198-6479-4380-8F14-1065308CC0DC}" type="datetime1">
              <a:rPr lang="en-US" smtClean="0"/>
              <a:t>9/24/26</a:t>
            </a:fld>
            <a:endParaRPr lang="en-US" dirty="0"/>
          </a:p>
        </p:txBody>
      </p:sp>
      <p:sp>
        <p:nvSpPr>
          <p:cNvPr id="5" name="Footer Placeholder 4">
            <a:extLst>
              <a:ext uri="{FF2B5EF4-FFF2-40B4-BE49-F238E27FC236}">
                <a16:creationId xmlns:a16="http://schemas.microsoft.com/office/drawing/2014/main" id="{CDD0EE73-B4A9-D36E-5562-60731F457EBE}"/>
              </a:ext>
            </a:extLst>
          </p:cNvPr>
          <p:cNvSpPr>
            <a:spLocks noGrp="1"/>
          </p:cNvSpPr>
          <p:nvPr>
            <p:ph type="ftr" sz="quarter" idx="11"/>
          </p:nvPr>
        </p:nvSpPr>
        <p:spPr/>
        <p:txBody>
          <a:bodyPr/>
          <a:lstStyle/>
          <a:p>
            <a:r>
              <a:rPr lang="en-US"/>
              <a:t>Nanoscale Design and Manufacturing Laboratory</a:t>
            </a:r>
            <a:endParaRPr lang="en-US" dirty="0"/>
          </a:p>
        </p:txBody>
      </p:sp>
      <p:sp>
        <p:nvSpPr>
          <p:cNvPr id="6" name="Slide Number Placeholder 5">
            <a:extLst>
              <a:ext uri="{FF2B5EF4-FFF2-40B4-BE49-F238E27FC236}">
                <a16:creationId xmlns:a16="http://schemas.microsoft.com/office/drawing/2014/main" id="{4DD6651C-945D-5593-DCD7-59456E506225}"/>
              </a:ext>
            </a:extLst>
          </p:cNvPr>
          <p:cNvSpPr>
            <a:spLocks noGrp="1"/>
          </p:cNvSpPr>
          <p:nvPr>
            <p:ph type="sldNum" sz="quarter" idx="12"/>
          </p:nvPr>
        </p:nvSpPr>
        <p:spPr/>
        <p:txBody>
          <a:bodyPr/>
          <a:lstStyle/>
          <a:p>
            <a:fld id="{5A741E56-E3D9-46FF-B47D-3FCBEAE97EB2}" type="slidenum">
              <a:rPr lang="en-US" smtClean="0"/>
              <a:pPr/>
              <a:t>8</a:t>
            </a:fld>
            <a:endParaRPr lang="en-US" dirty="0"/>
          </a:p>
        </p:txBody>
      </p:sp>
      <p:sp>
        <p:nvSpPr>
          <p:cNvPr id="3" name="TextBox 2">
            <a:extLst>
              <a:ext uri="{FF2B5EF4-FFF2-40B4-BE49-F238E27FC236}">
                <a16:creationId xmlns:a16="http://schemas.microsoft.com/office/drawing/2014/main" id="{5E953FEE-4210-A4A1-7C87-4AF836B002EA}"/>
              </a:ext>
            </a:extLst>
          </p:cNvPr>
          <p:cNvSpPr txBox="1"/>
          <p:nvPr/>
        </p:nvSpPr>
        <p:spPr>
          <a:xfrm>
            <a:off x="338672" y="872463"/>
            <a:ext cx="11514654" cy="1938992"/>
          </a:xfrm>
          <a:prstGeom prst="rect">
            <a:avLst/>
          </a:prstGeom>
          <a:noFill/>
        </p:spPr>
        <p:txBody>
          <a:bodyPr wrap="square">
            <a:spAutoFit/>
          </a:bodyPr>
          <a:lstStyle/>
          <a:p>
            <a:pPr>
              <a:buNone/>
            </a:pPr>
            <a:r>
              <a:rPr lang="en-US" sz="2000" b="1" dirty="0"/>
              <a:t>Why online Approaches?</a:t>
            </a:r>
            <a:endParaRPr lang="en-US" sz="2000" dirty="0"/>
          </a:p>
          <a:p>
            <a:pPr marL="342900" indent="-342900">
              <a:buFont typeface="Arial" panose="020B0604020202020204" pitchFamily="34" charset="0"/>
              <a:buChar char="•"/>
            </a:pPr>
            <a:r>
              <a:rPr lang="en-US" sz="2000" dirty="0"/>
              <a:t>Real-time adjustment can compensate for </a:t>
            </a:r>
            <a:r>
              <a:rPr lang="en-US" sz="2000" b="1" dirty="0"/>
              <a:t>process uncertainty</a:t>
            </a:r>
            <a:r>
              <a:rPr lang="en-US" sz="2000" dirty="0"/>
              <a:t>, </a:t>
            </a:r>
            <a:r>
              <a:rPr lang="en-US" sz="2000" b="1" dirty="0"/>
              <a:t>model mismatch</a:t>
            </a:r>
            <a:r>
              <a:rPr lang="en-US" sz="2000" dirty="0"/>
              <a:t>, and </a:t>
            </a:r>
            <a:r>
              <a:rPr lang="en-US" sz="2000" b="1" dirty="0"/>
              <a:t>accumulated printing errors</a:t>
            </a:r>
          </a:p>
          <a:p>
            <a:pPr marL="342900" indent="-342900">
              <a:buFont typeface="Arial" panose="020B0604020202020204" pitchFamily="34" charset="0"/>
              <a:buChar char="•"/>
            </a:pPr>
            <a:r>
              <a:rPr lang="en-US" sz="2000" dirty="0"/>
              <a:t>The main objective is to track the desired cure state or geometry while satisfying physical and hardware constraints</a:t>
            </a:r>
          </a:p>
          <a:p>
            <a:pPr marL="342900" indent="-342900">
              <a:buFont typeface="Arial" panose="020B0604020202020204" pitchFamily="34" charset="0"/>
              <a:buChar char="•"/>
            </a:pPr>
            <a:r>
              <a:rPr lang="en-US" sz="2000" dirty="0"/>
              <a:t>For DLP/VPP systems, online strategies can be broadly divided into:</a:t>
            </a:r>
          </a:p>
        </p:txBody>
      </p:sp>
      <p:sp>
        <p:nvSpPr>
          <p:cNvPr id="20" name="TextBox 19">
            <a:extLst>
              <a:ext uri="{FF2B5EF4-FFF2-40B4-BE49-F238E27FC236}">
                <a16:creationId xmlns:a16="http://schemas.microsoft.com/office/drawing/2014/main" id="{17496BCB-CFC2-9C39-6212-CF005210C10A}"/>
              </a:ext>
            </a:extLst>
          </p:cNvPr>
          <p:cNvSpPr txBox="1"/>
          <p:nvPr/>
        </p:nvSpPr>
        <p:spPr>
          <a:xfrm>
            <a:off x="185057" y="5554650"/>
            <a:ext cx="12006944" cy="430887"/>
          </a:xfrm>
          <a:prstGeom prst="rect">
            <a:avLst/>
          </a:prstGeom>
          <a:noFill/>
        </p:spPr>
        <p:txBody>
          <a:bodyPr wrap="square">
            <a:spAutoFit/>
          </a:bodyPr>
          <a:lstStyle/>
          <a:p>
            <a:r>
              <a:rPr lang="en-US" sz="1100" b="0" i="0" dirty="0">
                <a:solidFill>
                  <a:srgbClr val="222222"/>
                </a:solidFill>
                <a:effectLst/>
                <a:latin typeface="Arial" panose="020B0604020202020204" pitchFamily="34" charset="0"/>
              </a:rPr>
              <a:t>[1] Zhao, X., &amp; Rosen, D. W. (2018). An implementation of real-time feedback control of cured part height in exposure controlled projection lithography with in-situ interferometric measurement feedback. </a:t>
            </a:r>
            <a:r>
              <a:rPr lang="en-US" sz="1100" b="0" i="1" dirty="0">
                <a:solidFill>
                  <a:srgbClr val="222222"/>
                </a:solidFill>
                <a:effectLst/>
                <a:latin typeface="Arial" panose="020B0604020202020204" pitchFamily="34" charset="0"/>
              </a:rPr>
              <a:t>Additive Manufacturing</a:t>
            </a:r>
            <a:r>
              <a:rPr lang="en-US" sz="1100" b="0" i="0" dirty="0">
                <a:solidFill>
                  <a:srgbClr val="222222"/>
                </a:solidFill>
                <a:effectLst/>
                <a:latin typeface="Arial" panose="020B0604020202020204" pitchFamily="34" charset="0"/>
              </a:rPr>
              <a:t>, </a:t>
            </a:r>
            <a:r>
              <a:rPr lang="en-US" sz="1100" b="0" i="1" dirty="0">
                <a:solidFill>
                  <a:srgbClr val="222222"/>
                </a:solidFill>
                <a:effectLst/>
                <a:latin typeface="Arial" panose="020B0604020202020204" pitchFamily="34" charset="0"/>
              </a:rPr>
              <a:t>23</a:t>
            </a:r>
            <a:r>
              <a:rPr lang="en-US" sz="1100" b="0" i="0" dirty="0">
                <a:solidFill>
                  <a:srgbClr val="222222"/>
                </a:solidFill>
                <a:effectLst/>
                <a:latin typeface="Arial" panose="020B0604020202020204" pitchFamily="34" charset="0"/>
              </a:rPr>
              <a:t>, 253-263.</a:t>
            </a:r>
            <a:endParaRPr lang="en-US" sz="1100" dirty="0"/>
          </a:p>
        </p:txBody>
      </p:sp>
      <p:sp>
        <p:nvSpPr>
          <p:cNvPr id="22" name="TextBox 21">
            <a:extLst>
              <a:ext uri="{FF2B5EF4-FFF2-40B4-BE49-F238E27FC236}">
                <a16:creationId xmlns:a16="http://schemas.microsoft.com/office/drawing/2014/main" id="{4367AC97-4B09-ED66-B0F0-DB3AFEE8AB4D}"/>
              </a:ext>
            </a:extLst>
          </p:cNvPr>
          <p:cNvSpPr txBox="1"/>
          <p:nvPr/>
        </p:nvSpPr>
        <p:spPr>
          <a:xfrm>
            <a:off x="185056" y="6050998"/>
            <a:ext cx="11668270" cy="430887"/>
          </a:xfrm>
          <a:prstGeom prst="rect">
            <a:avLst/>
          </a:prstGeom>
          <a:noFill/>
        </p:spPr>
        <p:txBody>
          <a:bodyPr wrap="square">
            <a:spAutoFit/>
          </a:bodyPr>
          <a:lstStyle/>
          <a:p>
            <a:r>
              <a:rPr lang="en-US" sz="1100" b="0" i="0" dirty="0">
                <a:solidFill>
                  <a:srgbClr val="222222"/>
                </a:solidFill>
                <a:effectLst/>
                <a:latin typeface="Arial" panose="020B0604020202020204" pitchFamily="34" charset="0"/>
              </a:rPr>
              <a:t>[2] Zhou, C., &amp; Chen, Y. (2012). Additive manufacturing based on optimized mask video projection for improved accuracy and resolution. </a:t>
            </a:r>
            <a:r>
              <a:rPr lang="en-US" sz="1100" b="0" i="1" dirty="0">
                <a:solidFill>
                  <a:srgbClr val="222222"/>
                </a:solidFill>
                <a:effectLst/>
                <a:latin typeface="Arial" panose="020B0604020202020204" pitchFamily="34" charset="0"/>
              </a:rPr>
              <a:t>Journal of manufacturing processes</a:t>
            </a:r>
            <a:r>
              <a:rPr lang="en-US" sz="1100" b="0" i="0" dirty="0">
                <a:solidFill>
                  <a:srgbClr val="222222"/>
                </a:solidFill>
                <a:effectLst/>
                <a:latin typeface="Arial" panose="020B0604020202020204" pitchFamily="34" charset="0"/>
              </a:rPr>
              <a:t>, </a:t>
            </a:r>
            <a:r>
              <a:rPr lang="en-US" sz="1100" b="0" i="1" dirty="0">
                <a:solidFill>
                  <a:srgbClr val="222222"/>
                </a:solidFill>
                <a:effectLst/>
                <a:latin typeface="Arial" panose="020B0604020202020204" pitchFamily="34" charset="0"/>
              </a:rPr>
              <a:t>14</a:t>
            </a:r>
            <a:r>
              <a:rPr lang="en-US" sz="1100" b="0" i="0" dirty="0">
                <a:solidFill>
                  <a:srgbClr val="222222"/>
                </a:solidFill>
                <a:effectLst/>
                <a:latin typeface="Arial" panose="020B0604020202020204" pitchFamily="34" charset="0"/>
              </a:rPr>
              <a:t>(2), 107-118.</a:t>
            </a:r>
            <a:endParaRPr lang="en-US" sz="1100" dirty="0"/>
          </a:p>
        </p:txBody>
      </p:sp>
      <p:sp>
        <p:nvSpPr>
          <p:cNvPr id="28" name="TextBox 27">
            <a:extLst>
              <a:ext uri="{FF2B5EF4-FFF2-40B4-BE49-F238E27FC236}">
                <a16:creationId xmlns:a16="http://schemas.microsoft.com/office/drawing/2014/main" id="{C2F6D47A-8238-DDF6-36EF-06EF99B7348D}"/>
              </a:ext>
            </a:extLst>
          </p:cNvPr>
          <p:cNvSpPr txBox="1"/>
          <p:nvPr/>
        </p:nvSpPr>
        <p:spPr>
          <a:xfrm>
            <a:off x="338671" y="2876916"/>
            <a:ext cx="11514653" cy="646331"/>
          </a:xfrm>
          <a:prstGeom prst="rect">
            <a:avLst/>
          </a:prstGeom>
          <a:noFill/>
        </p:spPr>
        <p:txBody>
          <a:bodyPr wrap="square">
            <a:spAutoFit/>
          </a:bodyPr>
          <a:lstStyle/>
          <a:p>
            <a:r>
              <a:rPr lang="en-US" b="1" dirty="0"/>
              <a:t>1. Classical Feedback Control [1]</a:t>
            </a:r>
            <a:br>
              <a:rPr lang="en-US" dirty="0"/>
            </a:br>
            <a:r>
              <a:rPr lang="en-US" dirty="0"/>
              <a:t>Uses real-time measurements to adjust exposure time or light intensity.</a:t>
            </a:r>
          </a:p>
        </p:txBody>
      </p:sp>
      <p:sp>
        <p:nvSpPr>
          <p:cNvPr id="30" name="TextBox 29">
            <a:extLst>
              <a:ext uri="{FF2B5EF4-FFF2-40B4-BE49-F238E27FC236}">
                <a16:creationId xmlns:a16="http://schemas.microsoft.com/office/drawing/2014/main" id="{2A99D1A2-7730-D5F1-1035-9ECE8E936407}"/>
              </a:ext>
            </a:extLst>
          </p:cNvPr>
          <p:cNvSpPr txBox="1"/>
          <p:nvPr/>
        </p:nvSpPr>
        <p:spPr>
          <a:xfrm>
            <a:off x="338671" y="3742002"/>
            <a:ext cx="11514653" cy="646331"/>
          </a:xfrm>
          <a:prstGeom prst="rect">
            <a:avLst/>
          </a:prstGeom>
          <a:noFill/>
        </p:spPr>
        <p:txBody>
          <a:bodyPr wrap="square">
            <a:spAutoFit/>
          </a:bodyPr>
          <a:lstStyle/>
          <a:p>
            <a:r>
              <a:rPr lang="en-US" b="1" dirty="0"/>
              <a:t>2. Sequential Mask Optimization [2]</a:t>
            </a:r>
            <a:br>
              <a:rPr lang="en-US" dirty="0"/>
            </a:br>
            <a:r>
              <a:rPr lang="en-US" dirty="0"/>
              <a:t>Uses a sequence of optimized masks to improve spatial resolution and compensate for light spreading.</a:t>
            </a:r>
          </a:p>
        </p:txBody>
      </p:sp>
    </p:spTree>
    <p:extLst>
      <p:ext uri="{BB962C8B-B14F-4D97-AF65-F5344CB8AC3E}">
        <p14:creationId xmlns:p14="http://schemas.microsoft.com/office/powerpoint/2010/main" val="3654231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8FFE5-DB22-AC37-ACFB-4A91DC8F2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B3606-299B-708C-AB43-62912CD0EBF7}"/>
              </a:ext>
            </a:extLst>
          </p:cNvPr>
          <p:cNvSpPr>
            <a:spLocks noGrp="1"/>
          </p:cNvSpPr>
          <p:nvPr>
            <p:ph type="title"/>
          </p:nvPr>
        </p:nvSpPr>
        <p:spPr/>
        <p:txBody>
          <a:bodyPr>
            <a:normAutofit fontScale="90000"/>
          </a:bodyPr>
          <a:lstStyle/>
          <a:p>
            <a:r>
              <a:rPr lang="en-US" dirty="0"/>
              <a:t>Classical Feedback Control for Cured Height Regulation</a:t>
            </a:r>
            <a:r>
              <a:rPr lang="zh-TW" altLang="en-US" dirty="0"/>
              <a:t> </a:t>
            </a:r>
            <a:r>
              <a:rPr lang="en-US" altLang="zh-TW" dirty="0"/>
              <a:t>[1]</a:t>
            </a:r>
            <a:endParaRPr lang="en-US" dirty="0"/>
          </a:p>
        </p:txBody>
      </p:sp>
      <p:sp>
        <p:nvSpPr>
          <p:cNvPr id="4" name="Date Placeholder 3">
            <a:extLst>
              <a:ext uri="{FF2B5EF4-FFF2-40B4-BE49-F238E27FC236}">
                <a16:creationId xmlns:a16="http://schemas.microsoft.com/office/drawing/2014/main" id="{DF4AD78D-24CD-B6D8-8E16-3F17A7BB7809}"/>
              </a:ext>
            </a:extLst>
          </p:cNvPr>
          <p:cNvSpPr>
            <a:spLocks noGrp="1"/>
          </p:cNvSpPr>
          <p:nvPr>
            <p:ph type="dt" sz="half" idx="10"/>
          </p:nvPr>
        </p:nvSpPr>
        <p:spPr/>
        <p:txBody>
          <a:bodyPr/>
          <a:lstStyle/>
          <a:p>
            <a:fld id="{E4F5E198-6479-4380-8F14-1065308CC0DC}" type="datetime1">
              <a:rPr lang="en-US" smtClean="0"/>
              <a:t>9/24/26</a:t>
            </a:fld>
            <a:endParaRPr lang="en-US" dirty="0"/>
          </a:p>
        </p:txBody>
      </p:sp>
      <p:sp>
        <p:nvSpPr>
          <p:cNvPr id="5" name="Footer Placeholder 4">
            <a:extLst>
              <a:ext uri="{FF2B5EF4-FFF2-40B4-BE49-F238E27FC236}">
                <a16:creationId xmlns:a16="http://schemas.microsoft.com/office/drawing/2014/main" id="{4A78AC2A-3A2D-6B85-03D9-49281822B2BD}"/>
              </a:ext>
            </a:extLst>
          </p:cNvPr>
          <p:cNvSpPr>
            <a:spLocks noGrp="1"/>
          </p:cNvSpPr>
          <p:nvPr>
            <p:ph type="ftr" sz="quarter" idx="11"/>
          </p:nvPr>
        </p:nvSpPr>
        <p:spPr/>
        <p:txBody>
          <a:bodyPr/>
          <a:lstStyle/>
          <a:p>
            <a:r>
              <a:rPr lang="en-US"/>
              <a:t>Nanoscale Design and Manufacturing Laboratory</a:t>
            </a:r>
            <a:endParaRPr lang="en-US" dirty="0"/>
          </a:p>
        </p:txBody>
      </p:sp>
      <p:sp>
        <p:nvSpPr>
          <p:cNvPr id="6" name="Slide Number Placeholder 5">
            <a:extLst>
              <a:ext uri="{FF2B5EF4-FFF2-40B4-BE49-F238E27FC236}">
                <a16:creationId xmlns:a16="http://schemas.microsoft.com/office/drawing/2014/main" id="{680106AA-65D9-D2A7-971F-9502FDF51DDD}"/>
              </a:ext>
            </a:extLst>
          </p:cNvPr>
          <p:cNvSpPr>
            <a:spLocks noGrp="1"/>
          </p:cNvSpPr>
          <p:nvPr>
            <p:ph type="sldNum" sz="quarter" idx="12"/>
          </p:nvPr>
        </p:nvSpPr>
        <p:spPr/>
        <p:txBody>
          <a:bodyPr/>
          <a:lstStyle/>
          <a:p>
            <a:fld id="{5A741E56-E3D9-46FF-B47D-3FCBEAE97EB2}" type="slidenum">
              <a:rPr lang="en-US" smtClean="0"/>
              <a:pPr/>
              <a:t>9</a:t>
            </a:fld>
            <a:endParaRPr lang="en-US" dirty="0"/>
          </a:p>
        </p:txBody>
      </p:sp>
      <p:pic>
        <p:nvPicPr>
          <p:cNvPr id="7" name="Picture 6">
            <a:extLst>
              <a:ext uri="{FF2B5EF4-FFF2-40B4-BE49-F238E27FC236}">
                <a16:creationId xmlns:a16="http://schemas.microsoft.com/office/drawing/2014/main" id="{2E0ADB75-AF3C-6307-0DF3-B883D9189D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076" y="1205635"/>
            <a:ext cx="7955010" cy="4139250"/>
          </a:xfrm>
          <a:prstGeom prst="rect">
            <a:avLst/>
          </a:prstGeom>
        </p:spPr>
      </p:pic>
      <p:sp>
        <p:nvSpPr>
          <p:cNvPr id="9" name="TextBox 8">
            <a:extLst>
              <a:ext uri="{FF2B5EF4-FFF2-40B4-BE49-F238E27FC236}">
                <a16:creationId xmlns:a16="http://schemas.microsoft.com/office/drawing/2014/main" id="{CB24C4C5-6F7C-8ABE-82E5-F18BA5F05F19}"/>
              </a:ext>
            </a:extLst>
          </p:cNvPr>
          <p:cNvSpPr txBox="1"/>
          <p:nvPr/>
        </p:nvSpPr>
        <p:spPr>
          <a:xfrm>
            <a:off x="8047086" y="1982598"/>
            <a:ext cx="3878213" cy="2585323"/>
          </a:xfrm>
          <a:prstGeom prst="rect">
            <a:avLst/>
          </a:prstGeom>
          <a:noFill/>
        </p:spPr>
        <p:txBody>
          <a:bodyPr wrap="square">
            <a:spAutoFit/>
          </a:bodyPr>
          <a:lstStyle/>
          <a:p>
            <a:pPr marL="285750" indent="-285750">
              <a:buFont typeface="Arial" panose="020B0604020202020204" pitchFamily="34" charset="0"/>
              <a:buChar char="•"/>
            </a:pPr>
            <a:r>
              <a:rPr lang="en-US" dirty="0"/>
              <a:t>The controller compares the measured cured height with a reference trigger height. </a:t>
            </a:r>
          </a:p>
          <a:p>
            <a:pPr marL="285750" indent="-285750">
              <a:buFont typeface="Arial" panose="020B0604020202020204" pitchFamily="34" charset="0"/>
              <a:buChar char="•"/>
            </a:pPr>
            <a:r>
              <a:rPr lang="en-US" dirty="0"/>
              <a:t>A compensator accounts for dark curing after the exposure is turned off. </a:t>
            </a:r>
          </a:p>
          <a:p>
            <a:pPr marL="285750" indent="-285750">
              <a:buFont typeface="Arial" panose="020B0604020202020204" pitchFamily="34" charset="0"/>
              <a:buChar char="•"/>
            </a:pPr>
            <a:r>
              <a:rPr lang="en-US" dirty="0"/>
              <a:t>The exposure is terminated when the measured height reaches the target tolerance. </a:t>
            </a:r>
          </a:p>
        </p:txBody>
      </p:sp>
      <p:sp>
        <p:nvSpPr>
          <p:cNvPr id="17" name="TextBox 16">
            <a:extLst>
              <a:ext uri="{FF2B5EF4-FFF2-40B4-BE49-F238E27FC236}">
                <a16:creationId xmlns:a16="http://schemas.microsoft.com/office/drawing/2014/main" id="{F45535A6-5A2D-5362-F57C-7CB77DC820BD}"/>
              </a:ext>
            </a:extLst>
          </p:cNvPr>
          <p:cNvSpPr txBox="1"/>
          <p:nvPr/>
        </p:nvSpPr>
        <p:spPr>
          <a:xfrm>
            <a:off x="89580" y="5595311"/>
            <a:ext cx="12012838" cy="646331"/>
          </a:xfrm>
          <a:prstGeom prst="rect">
            <a:avLst/>
          </a:prstGeom>
          <a:noFill/>
        </p:spPr>
        <p:txBody>
          <a:bodyPr wrap="square">
            <a:spAutoFit/>
          </a:bodyPr>
          <a:lstStyle/>
          <a:p>
            <a:r>
              <a:rPr lang="en-US" dirty="0"/>
              <a:t>Classical feedback control can reduce process uncertainty, but its performance strongly depends on measurement speed, sensor accuracy, and actuation delay.</a:t>
            </a:r>
          </a:p>
        </p:txBody>
      </p:sp>
    </p:spTree>
    <p:extLst>
      <p:ext uri="{BB962C8B-B14F-4D97-AF65-F5344CB8AC3E}">
        <p14:creationId xmlns:p14="http://schemas.microsoft.com/office/powerpoint/2010/main" val="1405309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74D9-496F-20B3-DD59-2DE70404B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3D742-A829-283A-F2A7-3CD7D37088B7}"/>
              </a:ext>
            </a:extLst>
          </p:cNvPr>
          <p:cNvSpPr>
            <a:spLocks noGrp="1"/>
          </p:cNvSpPr>
          <p:nvPr>
            <p:ph type="title"/>
          </p:nvPr>
        </p:nvSpPr>
        <p:spPr/>
        <p:txBody>
          <a:bodyPr/>
          <a:lstStyle/>
          <a:p>
            <a:r>
              <a:rPr lang="en-US" altLang="zh-TW" dirty="0"/>
              <a:t>Sequential Mask Optimization</a:t>
            </a:r>
            <a:endParaRPr lang="en-US" dirty="0"/>
          </a:p>
        </p:txBody>
      </p:sp>
      <p:sp>
        <p:nvSpPr>
          <p:cNvPr id="4" name="Date Placeholder 3">
            <a:extLst>
              <a:ext uri="{FF2B5EF4-FFF2-40B4-BE49-F238E27FC236}">
                <a16:creationId xmlns:a16="http://schemas.microsoft.com/office/drawing/2014/main" id="{04A112AF-9E35-6E6D-C7CE-BBB5604440BB}"/>
              </a:ext>
            </a:extLst>
          </p:cNvPr>
          <p:cNvSpPr>
            <a:spLocks noGrp="1"/>
          </p:cNvSpPr>
          <p:nvPr>
            <p:ph type="dt" sz="half" idx="10"/>
          </p:nvPr>
        </p:nvSpPr>
        <p:spPr/>
        <p:txBody>
          <a:bodyPr/>
          <a:lstStyle/>
          <a:p>
            <a:fld id="{E4F5E198-6479-4380-8F14-1065308CC0DC}" type="datetime1">
              <a:rPr lang="en-US" smtClean="0"/>
              <a:t>9/24/26</a:t>
            </a:fld>
            <a:endParaRPr lang="en-US" dirty="0"/>
          </a:p>
        </p:txBody>
      </p:sp>
      <p:sp>
        <p:nvSpPr>
          <p:cNvPr id="5" name="Footer Placeholder 4">
            <a:extLst>
              <a:ext uri="{FF2B5EF4-FFF2-40B4-BE49-F238E27FC236}">
                <a16:creationId xmlns:a16="http://schemas.microsoft.com/office/drawing/2014/main" id="{C536E496-FC79-1973-5331-5CCEF07721A2}"/>
              </a:ext>
            </a:extLst>
          </p:cNvPr>
          <p:cNvSpPr>
            <a:spLocks noGrp="1"/>
          </p:cNvSpPr>
          <p:nvPr>
            <p:ph type="ftr" sz="quarter" idx="11"/>
          </p:nvPr>
        </p:nvSpPr>
        <p:spPr/>
        <p:txBody>
          <a:bodyPr/>
          <a:lstStyle/>
          <a:p>
            <a:r>
              <a:rPr lang="en-US"/>
              <a:t>Nanoscale Design and Manufacturing Laboratory</a:t>
            </a:r>
            <a:endParaRPr lang="en-US" dirty="0"/>
          </a:p>
        </p:txBody>
      </p:sp>
      <p:sp>
        <p:nvSpPr>
          <p:cNvPr id="6" name="Slide Number Placeholder 5">
            <a:extLst>
              <a:ext uri="{FF2B5EF4-FFF2-40B4-BE49-F238E27FC236}">
                <a16:creationId xmlns:a16="http://schemas.microsoft.com/office/drawing/2014/main" id="{74699BA2-DFF3-FE1E-6930-FBE298EC6A6C}"/>
              </a:ext>
            </a:extLst>
          </p:cNvPr>
          <p:cNvSpPr>
            <a:spLocks noGrp="1"/>
          </p:cNvSpPr>
          <p:nvPr>
            <p:ph type="sldNum" sz="quarter" idx="12"/>
          </p:nvPr>
        </p:nvSpPr>
        <p:spPr/>
        <p:txBody>
          <a:bodyPr/>
          <a:lstStyle/>
          <a:p>
            <a:fld id="{5A741E56-E3D9-46FF-B47D-3FCBEAE97EB2}" type="slidenum">
              <a:rPr lang="en-US" smtClean="0"/>
              <a:pPr/>
              <a:t>10</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FE510E8-E8F3-FDCC-9FE7-6C0339ED6C67}"/>
                  </a:ext>
                </a:extLst>
              </p:cNvPr>
              <p:cNvSpPr txBox="1"/>
              <p:nvPr/>
            </p:nvSpPr>
            <p:spPr>
              <a:xfrm>
                <a:off x="405204" y="892885"/>
                <a:ext cx="11381590" cy="5279459"/>
              </a:xfrm>
              <a:prstGeom prst="rect">
                <a:avLst/>
              </a:prstGeom>
              <a:noFill/>
            </p:spPr>
            <p:txBody>
              <a:bodyPr wrap="square" rtlCol="0">
                <a:spAutoFit/>
              </a:bodyPr>
              <a:lstStyle/>
              <a:p>
                <a:pPr marL="285750" indent="-285750">
                  <a:buFont typeface="Arial" panose="020B0604020202020204" pitchFamily="34" charset="0"/>
                  <a:buChar char="•"/>
                </a:pPr>
                <a:r>
                  <a:rPr lang="en-US" altLang="zh-TW" sz="2000" dirty="0"/>
                  <a:t>Time-varying control Input</a:t>
                </a:r>
              </a:p>
              <a:p>
                <a:pPr/>
                <a14:m>
                  <m:oMathPara xmlns:m="http://schemas.openxmlformats.org/officeDocument/2006/math">
                    <m:o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𝑢</m:t>
                          </m:r>
                        </m:e>
                        <m:sub>
                          <m:r>
                            <a:rPr lang="en-US" altLang="zh-TW" sz="2000" b="0" i="1" smtClean="0">
                              <a:latin typeface="Cambria Math" panose="02040503050406030204" pitchFamily="18" charset="0"/>
                            </a:rPr>
                            <m:t>0</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𝑢</m:t>
                          </m:r>
                        </m:e>
                        <m:sub>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𝑢</m:t>
                          </m:r>
                        </m:e>
                        <m:sub>
                          <m:r>
                            <a:rPr lang="en-US" altLang="zh-TW" sz="2000" b="0" i="1" smtClean="0">
                              <a:latin typeface="Cambria Math" panose="02040503050406030204" pitchFamily="18" charset="0"/>
                            </a:rPr>
                            <m:t>𝑁</m:t>
                          </m:r>
                          <m:r>
                            <a:rPr lang="en-US" altLang="zh-TW" sz="2000" b="0" i="1" smtClean="0">
                              <a:latin typeface="Cambria Math" panose="02040503050406030204" pitchFamily="18" charset="0"/>
                            </a:rPr>
                            <m:t>−1</m:t>
                          </m:r>
                        </m:sub>
                      </m:sSub>
                    </m:oMath>
                  </m:oMathPara>
                </a14:m>
                <a:endParaRPr lang="en-US" altLang="zh-TW" sz="2000" dirty="0"/>
              </a:p>
              <a:p>
                <a:endParaRPr lang="en-US" altLang="zh-TW" sz="2000" dirty="0"/>
              </a:p>
              <a:p>
                <a:pPr marL="342900" indent="-342900">
                  <a:buFont typeface="Arial" panose="020B0604020202020204" pitchFamily="34" charset="0"/>
                  <a:buChar char="•"/>
                </a:pPr>
                <a:r>
                  <a:rPr lang="en-US" altLang="zh-TW" sz="2000" dirty="0"/>
                  <a:t>Offline nominal sequence optimization</a:t>
                </a:r>
                <a:endParaRPr lang="en-US" altLang="zh-TW" sz="2000" i="1" dirty="0">
                  <a:latin typeface="Cambria Math" panose="02040503050406030204" pitchFamily="18" charset="0"/>
                </a:endParaRPr>
              </a:p>
              <a:p>
                <a:pPr/>
                <a14:m>
                  <m:oMathPara xmlns:m="http://schemas.openxmlformats.org/officeDocument/2006/math">
                    <m:oMath>
                      <m:func>
                        <m:funcPr>
                          <m:ctrlPr>
                            <a:rPr lang="en-US" altLang="zh-TW" sz="2000" i="1" smtClean="0">
                              <a:latin typeface="Cambria Math" panose="02040503050406030204" pitchFamily="18" charset="0"/>
                            </a:rPr>
                          </m:ctrlPr>
                        </m:funcPr>
                        <m:fName>
                          <m:limLow>
                            <m:limLowPr>
                              <m:ctrlPr>
                                <a:rPr lang="en-US" altLang="zh-TW" sz="2000" i="0" smtClean="0">
                                  <a:latin typeface="Cambria Math" panose="02040503050406030204" pitchFamily="18" charset="0"/>
                                </a:rPr>
                              </m:ctrlPr>
                            </m:limLowPr>
                            <m:e>
                              <m:r>
                                <m:rPr>
                                  <m:sty m:val="p"/>
                                </m:rPr>
                                <a:rPr lang="en-US" altLang="zh-TW" sz="2000" i="0" smtClean="0">
                                  <a:latin typeface="Cambria Math" panose="02040503050406030204" pitchFamily="18" charset="0"/>
                                </a:rPr>
                                <m:t>min</m:t>
                              </m:r>
                            </m:e>
                            <m:lim>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𝑢</m:t>
                                  </m:r>
                                </m:e>
                                <m:sub>
                                  <m:r>
                                    <a:rPr lang="en-US" altLang="zh-TW" sz="2000" i="1">
                                      <a:latin typeface="Cambria Math" panose="02040503050406030204" pitchFamily="18" charset="0"/>
                                    </a:rPr>
                                    <m:t>0</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𝑢</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 </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𝑢</m:t>
                                  </m:r>
                                </m:e>
                                <m:sub>
                                  <m:r>
                                    <a:rPr lang="en-US" altLang="zh-TW" sz="2000" i="1">
                                      <a:latin typeface="Cambria Math" panose="02040503050406030204" pitchFamily="18" charset="0"/>
                                    </a:rPr>
                                    <m:t>𝑁</m:t>
                                  </m:r>
                                  <m:r>
                                    <a:rPr lang="en-US" altLang="zh-TW" sz="2000" i="1">
                                      <a:latin typeface="Cambria Math" panose="02040503050406030204" pitchFamily="18" charset="0"/>
                                    </a:rPr>
                                    <m:t>−1</m:t>
                                  </m:r>
                                </m:sub>
                              </m:sSub>
                            </m:lim>
                          </m:limLow>
                        </m:fName>
                        <m:e>
                          <m:nary>
                            <m:naryPr>
                              <m:chr m:val="∑"/>
                              <m:ctrlPr>
                                <a:rPr lang="en-US" altLang="zh-TW" sz="2000" b="0" i="1" smtClean="0">
                                  <a:latin typeface="Cambria Math" panose="02040503050406030204" pitchFamily="18" charset="0"/>
                                </a:rPr>
                              </m:ctrlPr>
                            </m:naryPr>
                            <m:sub>
                              <m:r>
                                <m:rPr>
                                  <m:brk m:alnAt="23"/>
                                </m:rPr>
                                <a:rPr lang="en-US" altLang="zh-TW" sz="2000" b="0" i="1" smtClean="0">
                                  <a:latin typeface="Cambria Math" panose="02040503050406030204" pitchFamily="18" charset="0"/>
                                </a:rPr>
                                <m:t>𝑘</m:t>
                              </m:r>
                              <m:r>
                                <a:rPr lang="en-US" altLang="zh-TW" sz="2000" b="0" i="1" smtClean="0">
                                  <a:latin typeface="Cambria Math" panose="02040503050406030204" pitchFamily="18" charset="0"/>
                                </a:rPr>
                                <m:t>=0</m:t>
                              </m:r>
                            </m:sub>
                            <m:sup>
                              <m:r>
                                <a:rPr lang="en-US" altLang="zh-TW" sz="2000" b="0" i="1" smtClean="0">
                                  <a:latin typeface="Cambria Math" panose="02040503050406030204" pitchFamily="18" charset="0"/>
                                </a:rPr>
                                <m:t>𝑁</m:t>
                              </m:r>
                              <m:r>
                                <a:rPr lang="en-US" altLang="zh-TW" sz="2000" b="0" i="1" smtClean="0">
                                  <a:latin typeface="Cambria Math" panose="02040503050406030204" pitchFamily="18" charset="0"/>
                                </a:rPr>
                                <m:t>−1</m:t>
                              </m:r>
                            </m:sup>
                            <m:e>
                              <m:sSubSup>
                                <m:sSubSupPr>
                                  <m:ctrlPr>
                                    <a:rPr lang="en-US" altLang="zh-TW" sz="2000" b="0" i="1" smtClean="0">
                                      <a:latin typeface="Cambria Math" panose="02040503050406030204" pitchFamily="18" charset="0"/>
                                    </a:rPr>
                                  </m:ctrlPr>
                                </m:sSubSupPr>
                                <m:e>
                                  <m:d>
                                    <m:dPr>
                                      <m:begChr m:val="‖"/>
                                      <m:endChr m:val="‖"/>
                                      <m:ctrlPr>
                                        <a:rPr lang="en-US" altLang="zh-TW" sz="2000" b="0" i="1" smtClean="0">
                                          <a:latin typeface="Cambria Math" panose="02040503050406030204" pitchFamily="18" charset="0"/>
                                        </a:rPr>
                                      </m:ctrlPr>
                                    </m:dPr>
                                    <m:e>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𝑦</m:t>
                                          </m:r>
                                        </m:e>
                                        <m:sub>
                                          <m:r>
                                            <a:rPr lang="en-US" altLang="zh-TW" sz="2000" b="0" i="1" smtClean="0">
                                              <a:latin typeface="Cambria Math" panose="02040503050406030204" pitchFamily="18" charset="0"/>
                                            </a:rPr>
                                            <m:t>𝑘</m:t>
                                          </m:r>
                                        </m:sub>
                                      </m:sSub>
                                      <m:r>
                                        <a:rPr lang="en-US" altLang="zh-TW" sz="2000" b="0" i="1" smtClean="0">
                                          <a:latin typeface="Cambria Math" panose="02040503050406030204" pitchFamily="18" charset="0"/>
                                        </a:rPr>
                                        <m:t>−</m:t>
                                      </m:r>
                                      <m:sSubSup>
                                        <m:sSubSupPr>
                                          <m:ctrlPr>
                                            <a:rPr lang="en-US" altLang="zh-TW" sz="2000" b="0" i="1" smtClean="0">
                                              <a:latin typeface="Cambria Math" panose="02040503050406030204" pitchFamily="18" charset="0"/>
                                            </a:rPr>
                                          </m:ctrlPr>
                                        </m:sSubSupPr>
                                        <m:e>
                                          <m:r>
                                            <a:rPr lang="en-US" altLang="zh-TW" sz="2000" b="0" i="1" smtClean="0">
                                              <a:latin typeface="Cambria Math" panose="02040503050406030204" pitchFamily="18" charset="0"/>
                                            </a:rPr>
                                            <m:t>𝑦</m:t>
                                          </m:r>
                                        </m:e>
                                        <m:sub>
                                          <m:r>
                                            <a:rPr lang="en-US" altLang="zh-TW" sz="2000" b="0" i="1" smtClean="0">
                                              <a:latin typeface="Cambria Math" panose="02040503050406030204" pitchFamily="18" charset="0"/>
                                            </a:rPr>
                                            <m:t>𝑘</m:t>
                                          </m:r>
                                        </m:sub>
                                        <m:sup>
                                          <m:r>
                                            <a:rPr lang="en-US" altLang="zh-TW" sz="2000" b="0" i="1" smtClean="0">
                                              <a:latin typeface="Cambria Math" panose="02040503050406030204" pitchFamily="18" charset="0"/>
                                            </a:rPr>
                                            <m:t>𝑟𝑒𝑓</m:t>
                                          </m:r>
                                        </m:sup>
                                      </m:sSubSup>
                                    </m:e>
                                  </m:d>
                                </m:e>
                                <m:sub>
                                  <m:r>
                                    <a:rPr lang="en-US" altLang="zh-TW" sz="2000" b="0" i="1" smtClean="0">
                                      <a:latin typeface="Cambria Math" panose="02040503050406030204" pitchFamily="18" charset="0"/>
                                    </a:rPr>
                                    <m:t>𝑄</m:t>
                                  </m:r>
                                </m:sub>
                                <m:sup>
                                  <m:r>
                                    <a:rPr lang="en-US" altLang="zh-TW" sz="2000" b="0" i="1" smtClean="0">
                                      <a:latin typeface="Cambria Math" panose="02040503050406030204" pitchFamily="18" charset="0"/>
                                    </a:rPr>
                                    <m:t>2</m:t>
                                  </m:r>
                                </m:sup>
                              </m:sSubSup>
                            </m:e>
                          </m:nary>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𝑢</m:t>
                              </m:r>
                            </m:e>
                            <m:sub>
                              <m:r>
                                <a:rPr lang="en-US" altLang="zh-TW" sz="2000" i="1">
                                  <a:latin typeface="Cambria Math" panose="02040503050406030204" pitchFamily="18" charset="0"/>
                                </a:rPr>
                                <m:t>𝑘</m:t>
                              </m:r>
                            </m:sub>
                          </m:sSub>
                          <m:r>
                            <a:rPr lang="en-US" altLang="zh-TW" sz="2000" b="0" i="1" smtClean="0">
                              <a:latin typeface="Cambria Math" panose="02040503050406030204" pitchFamily="18" charset="0"/>
                            </a:rPr>
                            <m:t>𝑅</m:t>
                          </m:r>
                          <m:sSubSup>
                            <m:sSubSupPr>
                              <m:ctrlPr>
                                <a:rPr lang="en-US" altLang="zh-TW" sz="2000" b="0" i="1" smtClean="0">
                                  <a:latin typeface="Cambria Math" panose="02040503050406030204" pitchFamily="18" charset="0"/>
                                </a:rPr>
                              </m:ctrlPr>
                            </m:sSubSupPr>
                            <m:e>
                              <m:r>
                                <a:rPr lang="en-US" altLang="zh-TW" sz="2000" b="0" i="1" smtClean="0">
                                  <a:latin typeface="Cambria Math" panose="02040503050406030204" pitchFamily="18" charset="0"/>
                                </a:rPr>
                                <m:t>𝑢</m:t>
                              </m:r>
                            </m:e>
                            <m:sub>
                              <m:r>
                                <a:rPr lang="en-US" altLang="zh-TW" sz="2000" b="0" i="1" smtClean="0">
                                  <a:latin typeface="Cambria Math" panose="02040503050406030204" pitchFamily="18" charset="0"/>
                                </a:rPr>
                                <m:t>𝑘</m:t>
                              </m:r>
                            </m:sub>
                            <m:sup>
                              <m:r>
                                <a:rPr lang="en-US" altLang="zh-TW" sz="2000" b="0" i="1" smtClean="0">
                                  <a:latin typeface="Cambria Math" panose="02040503050406030204" pitchFamily="18" charset="0"/>
                                </a:rPr>
                                <m:t>𝑇</m:t>
                              </m:r>
                            </m:sup>
                          </m:sSubSup>
                        </m:e>
                      </m:func>
                    </m:oMath>
                  </m:oMathPara>
                </a14:m>
                <a:endParaRPr lang="en-US" altLang="zh-TW" sz="2000" dirty="0"/>
              </a:p>
              <a:p>
                <a:pPr algn="ctr"/>
                <a14:m>
                  <m:oMathPara xmlns:m="http://schemas.openxmlformats.org/officeDocument/2006/math">
                    <m:oMath>
                      <m:r>
                        <a:rPr lang="en-US" altLang="zh-TW" sz="2000" b="0" i="1" smtClean="0">
                          <a:latin typeface="Cambria Math" panose="02040503050406030204" pitchFamily="18" charset="0"/>
                        </a:rPr>
                        <m:t>𝑠</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𝑡</m:t>
                      </m:r>
                      <m:r>
                        <a:rPr lang="en-US" altLang="zh-TW" sz="2000" b="0" i="1" smtClean="0">
                          <a:latin typeface="Cambria Math" panose="02040503050406030204" pitchFamily="18" charset="0"/>
                        </a:rPr>
                        <m:t>.  </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𝑘</m:t>
                          </m:r>
                          <m:r>
                            <a:rPr lang="en-US" altLang="zh-TW" sz="2000" i="1">
                              <a:latin typeface="Cambria Math" panose="02040503050406030204" pitchFamily="18" charset="0"/>
                            </a:rPr>
                            <m:t>+1</m:t>
                          </m:r>
                        </m:sub>
                      </m:sSub>
                      <m:r>
                        <a:rPr lang="en-US" altLang="zh-TW" sz="2000" i="1">
                          <a:latin typeface="Cambria Math" panose="02040503050406030204" pitchFamily="18" charset="0"/>
                        </a:rPr>
                        <m:t>=</m:t>
                      </m:r>
                      <m:r>
                        <a:rPr lang="en-US" altLang="zh-TW" sz="2000" i="1">
                          <a:latin typeface="Cambria Math" panose="02040503050406030204" pitchFamily="18" charset="0"/>
                        </a:rPr>
                        <m:t>𝑓</m:t>
                      </m:r>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𝑘</m:t>
                              </m:r>
                            </m:sub>
                          </m:sSub>
                          <m:r>
                            <a:rPr lang="en-US" altLang="zh-TW" sz="2000" i="1">
                              <a:latin typeface="Cambria Math" panose="02040503050406030204" pitchFamily="18" charset="0"/>
                            </a:rPr>
                            <m:t>, </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𝑢</m:t>
                              </m:r>
                            </m:e>
                            <m:sub>
                              <m:r>
                                <a:rPr lang="en-US" altLang="zh-TW" sz="2000" i="1">
                                  <a:latin typeface="Cambria Math" panose="02040503050406030204" pitchFamily="18" charset="0"/>
                                </a:rPr>
                                <m:t>𝑘</m:t>
                              </m:r>
                            </m:sub>
                          </m:sSub>
                          <m:r>
                            <a:rPr lang="en-US" altLang="zh-TW" sz="2000" i="1">
                              <a:latin typeface="Cambria Math" panose="02040503050406030204" pitchFamily="18" charset="0"/>
                            </a:rPr>
                            <m:t>, </m:t>
                          </m:r>
                          <m:r>
                            <a:rPr lang="en-US" altLang="zh-TW" sz="2000" i="1">
                              <a:latin typeface="Cambria Math" panose="02040503050406030204" pitchFamily="18" charset="0"/>
                            </a:rPr>
                            <m:t>𝜃</m:t>
                          </m:r>
                        </m:e>
                      </m:d>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𝑘</m:t>
                          </m:r>
                        </m:sub>
                      </m:sSub>
                      <m:r>
                        <a:rPr lang="en-US" altLang="zh-TW" sz="2000" i="1">
                          <a:latin typeface="Cambria Math" panose="02040503050406030204" pitchFamily="18" charset="0"/>
                        </a:rPr>
                        <m:t>=</m:t>
                      </m:r>
                      <m:r>
                        <a:rPr lang="en-US" altLang="zh-TW" sz="2000" i="1">
                          <a:latin typeface="Cambria Math" panose="02040503050406030204" pitchFamily="18" charset="0"/>
                        </a:rPr>
                        <m:t>ℎ</m:t>
                      </m:r>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𝑘</m:t>
                              </m:r>
                            </m:sub>
                          </m:sSub>
                        </m:e>
                      </m:d>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𝑣</m:t>
                          </m:r>
                        </m:e>
                        <m:sub>
                          <m:r>
                            <a:rPr lang="en-US" altLang="zh-TW" sz="2000" i="1">
                              <a:latin typeface="Cambria Math" panose="02040503050406030204" pitchFamily="18" charset="0"/>
                            </a:rPr>
                            <m:t>𝑘</m:t>
                          </m:r>
                        </m:sub>
                      </m:sSub>
                    </m:oMath>
                  </m:oMathPara>
                </a14:m>
                <a:endParaRPr lang="en-US" altLang="zh-TW" sz="2000" dirty="0"/>
              </a:p>
              <a:p>
                <a:endParaRPr lang="en-US" altLang="zh-TW" sz="2000" dirty="0"/>
              </a:p>
              <a:p>
                <a:r>
                  <a:rPr lang="en-US" altLang="zh-TW" sz="2000" dirty="0"/>
                  <a:t>where </a:t>
                </a:r>
                <a14:m>
                  <m:oMath xmlns:m="http://schemas.openxmlformats.org/officeDocument/2006/math">
                    <m:sSubSup>
                      <m:sSubSupPr>
                        <m:ctrlPr>
                          <a:rPr lang="en-US" altLang="zh-TW" sz="2000" b="0" i="1" smtClean="0">
                            <a:latin typeface="Cambria Math" panose="02040503050406030204" pitchFamily="18" charset="0"/>
                          </a:rPr>
                        </m:ctrlPr>
                      </m:sSubSupPr>
                      <m:e>
                        <m:r>
                          <a:rPr lang="en-US" altLang="zh-TW" sz="2000" b="0" i="1" smtClean="0">
                            <a:latin typeface="Cambria Math" panose="02040503050406030204" pitchFamily="18" charset="0"/>
                          </a:rPr>
                          <m:t>𝑦</m:t>
                        </m:r>
                      </m:e>
                      <m:sub>
                        <m:r>
                          <a:rPr lang="en-US" altLang="zh-TW" sz="2000" b="0" i="1" smtClean="0">
                            <a:latin typeface="Cambria Math" panose="02040503050406030204" pitchFamily="18" charset="0"/>
                          </a:rPr>
                          <m:t>𝑘</m:t>
                        </m:r>
                      </m:sub>
                      <m:sup>
                        <m:r>
                          <a:rPr lang="en-US" altLang="zh-TW" sz="2000" b="0" i="1" smtClean="0">
                            <a:latin typeface="Cambria Math" panose="02040503050406030204" pitchFamily="18" charset="0"/>
                          </a:rPr>
                          <m:t>𝑟𝑒𝑓</m:t>
                        </m:r>
                      </m:sup>
                    </m:sSubSup>
                    <m:r>
                      <a:rPr lang="en-US" altLang="zh-TW" sz="2000" i="1">
                        <a:latin typeface="Cambria Math" panose="02040503050406030204" pitchFamily="18" charset="0"/>
                      </a:rPr>
                      <m:t>∈</m:t>
                    </m:r>
                    <m:sSup>
                      <m:sSupPr>
                        <m:ctrlPr>
                          <a:rPr lang="en-US" altLang="zh-TW" sz="2000" i="1">
                            <a:latin typeface="Cambria Math" panose="02040503050406030204" pitchFamily="18" charset="0"/>
                            <a:ea typeface="Cambria Math" panose="02040503050406030204" pitchFamily="18" charset="0"/>
                          </a:rPr>
                        </m:ctrlPr>
                      </m:sSupPr>
                      <m:e>
                        <m:r>
                          <a:rPr lang="en-US" altLang="zh-TW" sz="2000" i="1">
                            <a:latin typeface="Cambria Math" panose="02040503050406030204" pitchFamily="18" charset="0"/>
                            <a:ea typeface="Cambria Math" panose="02040503050406030204" pitchFamily="18" charset="0"/>
                          </a:rPr>
                          <m:t>ℝ</m:t>
                        </m:r>
                      </m:e>
                      <m:sup>
                        <m:r>
                          <a:rPr lang="en-US" altLang="zh-TW" sz="2000" i="1">
                            <a:latin typeface="Cambria Math" panose="02040503050406030204" pitchFamily="18" charset="0"/>
                            <a:ea typeface="Cambria Math" panose="02040503050406030204" pitchFamily="18" charset="0"/>
                          </a:rPr>
                          <m:t>𝐻</m:t>
                        </m:r>
                        <m:r>
                          <a:rPr lang="en-US" altLang="zh-TW" sz="2000" i="1">
                            <a:latin typeface="Cambria Math" panose="02040503050406030204" pitchFamily="18" charset="0"/>
                            <a:ea typeface="Cambria Math" panose="02040503050406030204" pitchFamily="18" charset="0"/>
                          </a:rPr>
                          <m:t>×</m:t>
                        </m:r>
                        <m:r>
                          <a:rPr lang="en-US" altLang="zh-TW" sz="2000" i="1">
                            <a:latin typeface="Cambria Math" panose="02040503050406030204" pitchFamily="18" charset="0"/>
                            <a:ea typeface="Cambria Math" panose="02040503050406030204" pitchFamily="18" charset="0"/>
                          </a:rPr>
                          <m:t>𝑊</m:t>
                        </m:r>
                      </m:sup>
                    </m:sSup>
                  </m:oMath>
                </a14:m>
                <a:r>
                  <a:rPr lang="en-US" altLang="zh-TW" sz="2000" dirty="0"/>
                  <a:t> is the reference image, </a:t>
                </a:r>
                <a14:m>
                  <m:oMath xmlns:m="http://schemas.openxmlformats.org/officeDocument/2006/math">
                    <m:r>
                      <a:rPr lang="en-US" altLang="zh-TW" sz="2000" i="1">
                        <a:latin typeface="Cambria Math" panose="02040503050406030204" pitchFamily="18" charset="0"/>
                      </a:rPr>
                      <m:t>𝑄</m:t>
                    </m:r>
                  </m:oMath>
                </a14:m>
                <a:r>
                  <a:rPr lang="en-US" altLang="zh-TW" sz="2000" dirty="0"/>
                  <a:t> and </a:t>
                </a:r>
                <a14:m>
                  <m:oMath xmlns:m="http://schemas.openxmlformats.org/officeDocument/2006/math">
                    <m:r>
                      <a:rPr lang="en-US" altLang="zh-TW" sz="2000" b="0" i="1" smtClean="0">
                        <a:latin typeface="Cambria Math" panose="02040503050406030204" pitchFamily="18" charset="0"/>
                      </a:rPr>
                      <m:t>𝑅</m:t>
                    </m:r>
                  </m:oMath>
                </a14:m>
                <a:r>
                  <a:rPr lang="en-US" altLang="zh-TW" sz="2000" dirty="0"/>
                  <a:t> are the weighting matrices.</a:t>
                </a:r>
              </a:p>
              <a:p>
                <a:pPr marL="342900" indent="-342900">
                  <a:buFont typeface="Arial" panose="020B0604020202020204" pitchFamily="34" charset="0"/>
                  <a:buChar char="•"/>
                </a:pPr>
                <a:r>
                  <a:rPr lang="en-US" altLang="zh-TW" sz="2000" dirty="0"/>
                  <a:t>Online feedback update via MPC</a:t>
                </a:r>
              </a:p>
              <a:p>
                <a:pPr/>
                <a14:m>
                  <m:oMathPara xmlns:m="http://schemas.openxmlformats.org/officeDocument/2006/math">
                    <m:oMath>
                      <m:func>
                        <m:funcPr>
                          <m:ctrlPr>
                            <a:rPr lang="en-US" altLang="zh-TW" sz="2000" i="1">
                              <a:latin typeface="Cambria Math" panose="02040503050406030204" pitchFamily="18" charset="0"/>
                            </a:rPr>
                          </m:ctrlPr>
                        </m:funcPr>
                        <m:fName>
                          <m:limLow>
                            <m:limLowPr>
                              <m:ctrlPr>
                                <a:rPr lang="en-US" altLang="zh-TW" sz="2000">
                                  <a:latin typeface="Cambria Math" panose="02040503050406030204" pitchFamily="18" charset="0"/>
                                </a:rPr>
                              </m:ctrlPr>
                            </m:limLowPr>
                            <m:e>
                              <m:r>
                                <m:rPr>
                                  <m:sty m:val="p"/>
                                </m:rPr>
                                <a:rPr lang="en-US" altLang="zh-TW" sz="2000">
                                  <a:latin typeface="Cambria Math" panose="02040503050406030204" pitchFamily="18" charset="0"/>
                                </a:rPr>
                                <m:t>min</m:t>
                              </m:r>
                            </m:e>
                            <m:lim>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𝑢</m:t>
                                  </m:r>
                                </m:e>
                                <m:sub>
                                  <m:r>
                                    <a:rPr lang="en-US" altLang="zh-TW" sz="2000" b="0" i="1" smtClean="0">
                                      <a:latin typeface="Cambria Math" panose="02040503050406030204" pitchFamily="18" charset="0"/>
                                    </a:rPr>
                                    <m:t>𝑘</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𝑘</m:t>
                                  </m:r>
                                </m:sub>
                              </m:sSub>
                              <m:r>
                                <a:rPr lang="en-US" altLang="zh-TW" sz="2000" i="1">
                                  <a:latin typeface="Cambria Math" panose="02040503050406030204" pitchFamily="18" charset="0"/>
                                </a:rPr>
                                <m:t>,…, </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𝑢</m:t>
                                  </m:r>
                                </m:e>
                                <m:sub>
                                  <m:r>
                                    <a:rPr lang="en-US" altLang="zh-TW" sz="2000" b="0" i="1" smtClean="0">
                                      <a:latin typeface="Cambria Math" panose="02040503050406030204" pitchFamily="18" charset="0"/>
                                    </a:rPr>
                                    <m:t>𝑘</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𝐻</m:t>
                                  </m:r>
                                  <m:r>
                                    <a:rPr lang="en-US" altLang="zh-TW" sz="2000" i="1">
                                      <a:latin typeface="Cambria Math" panose="02040503050406030204" pitchFamily="18" charset="0"/>
                                    </a:rPr>
                                    <m:t>−1</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𝑘</m:t>
                                  </m:r>
                                </m:sub>
                              </m:sSub>
                            </m:lim>
                          </m:limLow>
                        </m:fName>
                        <m:e>
                          <m:nary>
                            <m:naryPr>
                              <m:chr m:val="∑"/>
                              <m:ctrlPr>
                                <a:rPr lang="en-US" altLang="zh-TW" sz="2000" b="0" i="1" smtClean="0">
                                  <a:latin typeface="Cambria Math" panose="02040503050406030204" pitchFamily="18" charset="0"/>
                                </a:rPr>
                              </m:ctrlPr>
                            </m:naryPr>
                            <m:sub>
                              <m:r>
                                <a:rPr lang="en-US" altLang="zh-TW" sz="2000" b="0" i="1" smtClean="0">
                                  <a:latin typeface="Cambria Math" panose="02040503050406030204" pitchFamily="18" charset="0"/>
                                </a:rPr>
                                <m:t>𝑖</m:t>
                              </m:r>
                              <m:r>
                                <a:rPr lang="en-US" altLang="zh-TW" sz="2000" i="1">
                                  <a:latin typeface="Cambria Math" panose="02040503050406030204" pitchFamily="18" charset="0"/>
                                </a:rPr>
                                <m:t>=0</m:t>
                              </m:r>
                            </m:sub>
                            <m:sup>
                              <m:r>
                                <a:rPr lang="en-US" altLang="zh-TW" sz="2000" b="0" i="1" smtClean="0">
                                  <a:latin typeface="Cambria Math" panose="02040503050406030204" pitchFamily="18" charset="0"/>
                                </a:rPr>
                                <m:t>𝐻</m:t>
                              </m:r>
                              <m:r>
                                <a:rPr lang="en-US" altLang="zh-TW" sz="2000" i="1">
                                  <a:latin typeface="Cambria Math" panose="02040503050406030204" pitchFamily="18" charset="0"/>
                                </a:rPr>
                                <m:t>−1</m:t>
                              </m:r>
                            </m:sup>
                            <m:e>
                              <m:sSubSup>
                                <m:sSubSupPr>
                                  <m:ctrlPr>
                                    <a:rPr lang="en-US" altLang="zh-TW" sz="2000" i="1">
                                      <a:latin typeface="Cambria Math" panose="02040503050406030204" pitchFamily="18" charset="0"/>
                                    </a:rPr>
                                  </m:ctrlPr>
                                </m:sSubSupPr>
                                <m:e>
                                  <m:d>
                                    <m:dPr>
                                      <m:begChr m:val="‖"/>
                                      <m:endChr m:val="‖"/>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𝑦</m:t>
                                          </m:r>
                                        </m:e>
                                        <m:sub>
                                          <m:r>
                                            <a:rPr lang="en-US" altLang="zh-TW" sz="2000" i="1">
                                              <a:latin typeface="Cambria Math" panose="02040503050406030204" pitchFamily="18" charset="0"/>
                                            </a:rPr>
                                            <m:t>𝑘</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𝑖</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𝑘</m:t>
                                          </m:r>
                                        </m:sub>
                                      </m:sSub>
                                      <m:r>
                                        <a:rPr lang="en-US" altLang="zh-TW" sz="2000" i="1">
                                          <a:latin typeface="Cambria Math" panose="02040503050406030204" pitchFamily="18" charset="0"/>
                                        </a:rPr>
                                        <m:t>−</m:t>
                                      </m:r>
                                      <m:sSubSup>
                                        <m:sSubSupPr>
                                          <m:ctrlPr>
                                            <a:rPr lang="en-US" altLang="zh-TW" sz="2000" i="1">
                                              <a:latin typeface="Cambria Math" panose="02040503050406030204" pitchFamily="18" charset="0"/>
                                            </a:rPr>
                                          </m:ctrlPr>
                                        </m:sSubSupPr>
                                        <m:e>
                                          <m:r>
                                            <a:rPr lang="en-US" altLang="zh-TW" sz="2000" i="1">
                                              <a:latin typeface="Cambria Math" panose="02040503050406030204" pitchFamily="18" charset="0"/>
                                            </a:rPr>
                                            <m:t>𝑦</m:t>
                                          </m:r>
                                        </m:e>
                                        <m:sub>
                                          <m:r>
                                            <a:rPr lang="en-US" altLang="zh-TW" sz="2000" b="0" i="1" smtClean="0">
                                              <a:latin typeface="Cambria Math" panose="02040503050406030204" pitchFamily="18" charset="0"/>
                                            </a:rPr>
                                            <m:t>𝑘</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𝑖</m:t>
                                          </m:r>
                                        </m:sub>
                                        <m:sup>
                                          <m:r>
                                            <a:rPr lang="en-US" altLang="zh-TW" sz="2000" i="1">
                                              <a:latin typeface="Cambria Math" panose="02040503050406030204" pitchFamily="18" charset="0"/>
                                            </a:rPr>
                                            <m:t>𝑟𝑒𝑓</m:t>
                                          </m:r>
                                        </m:sup>
                                      </m:sSubSup>
                                    </m:e>
                                  </m:d>
                                </m:e>
                                <m:sub>
                                  <m:r>
                                    <a:rPr lang="en-US" altLang="zh-TW" sz="2000" i="1">
                                      <a:latin typeface="Cambria Math" panose="02040503050406030204" pitchFamily="18" charset="0"/>
                                    </a:rPr>
                                    <m:t>𝑄</m:t>
                                  </m:r>
                                </m:sub>
                                <m:sup>
                                  <m:r>
                                    <a:rPr lang="en-US" altLang="zh-TW" sz="2000" i="1">
                                      <a:latin typeface="Cambria Math" panose="02040503050406030204" pitchFamily="18" charset="0"/>
                                    </a:rPr>
                                    <m:t>2</m:t>
                                  </m:r>
                                </m:sup>
                              </m:sSubSup>
                            </m:e>
                          </m:nary>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𝑢</m:t>
                              </m:r>
                            </m:e>
                            <m:sub>
                              <m:r>
                                <a:rPr lang="en-US" altLang="zh-TW" sz="2000" i="1">
                                  <a:latin typeface="Cambria Math" panose="02040503050406030204" pitchFamily="18" charset="0"/>
                                </a:rPr>
                                <m:t>𝑘</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𝑖</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𝑘</m:t>
                              </m:r>
                            </m:sub>
                          </m:sSub>
                          <m:r>
                            <a:rPr lang="en-US" altLang="zh-TW" sz="2000" i="1">
                              <a:latin typeface="Cambria Math" panose="02040503050406030204" pitchFamily="18" charset="0"/>
                            </a:rPr>
                            <m:t>𝑅</m:t>
                          </m:r>
                          <m:sSubSup>
                            <m:sSubSupPr>
                              <m:ctrlPr>
                                <a:rPr lang="en-US" altLang="zh-TW" sz="2000" i="1">
                                  <a:latin typeface="Cambria Math" panose="02040503050406030204" pitchFamily="18" charset="0"/>
                                </a:rPr>
                              </m:ctrlPr>
                            </m:sSubSupPr>
                            <m:e>
                              <m:r>
                                <a:rPr lang="en-US" altLang="zh-TW" sz="2000" i="1">
                                  <a:latin typeface="Cambria Math" panose="02040503050406030204" pitchFamily="18" charset="0"/>
                                </a:rPr>
                                <m:t>𝑢</m:t>
                              </m:r>
                            </m:e>
                            <m:sub>
                              <m:r>
                                <a:rPr lang="en-US" altLang="zh-TW" sz="2000" i="1">
                                  <a:latin typeface="Cambria Math" panose="02040503050406030204" pitchFamily="18" charset="0"/>
                                </a:rPr>
                                <m:t>𝑘</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𝑖</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𝑘</m:t>
                              </m:r>
                            </m:sub>
                            <m:sup>
                              <m:r>
                                <a:rPr lang="en-US" altLang="zh-TW" sz="2000" i="1">
                                  <a:latin typeface="Cambria Math" panose="02040503050406030204" pitchFamily="18" charset="0"/>
                                </a:rPr>
                                <m:t>𝑇</m:t>
                              </m:r>
                            </m:sup>
                          </m:sSubSup>
                        </m:e>
                      </m:func>
                    </m:oMath>
                  </m:oMathPara>
                </a14:m>
                <a:endParaRPr lang="en-US" altLang="zh-TW" sz="2000" dirty="0"/>
              </a:p>
              <a:p>
                <a:pPr marL="342900" indent="-342900">
                  <a:buFont typeface="Arial" panose="020B0604020202020204" pitchFamily="34" charset="0"/>
                  <a:buChar char="•"/>
                </a:pPr>
                <a:r>
                  <a:rPr lang="en-US" altLang="zh-TW" sz="2000" dirty="0"/>
                  <a:t>Receding-horizon optimization: apply the first mask, re-measure, and repeat.</a:t>
                </a:r>
              </a:p>
              <a:p>
                <a:pPr marL="342900" indent="-342900">
                  <a:buFont typeface="Arial" panose="020B0604020202020204" pitchFamily="34" charset="0"/>
                  <a:buChar char="•"/>
                </a:pPr>
                <a:endParaRPr lang="en-US" altLang="zh-TW" sz="2000" dirty="0"/>
              </a:p>
              <a:p>
                <a:pPr marL="342900" indent="-342900">
                  <a:buFont typeface="Arial" panose="020B0604020202020204" pitchFamily="34" charset="0"/>
                  <a:buChar char="•"/>
                </a:pPr>
                <a:r>
                  <a:rPr lang="en-US" altLang="zh-TW" sz="2000" dirty="0"/>
                  <a:t>Iterative Learning Control (ILC)</a:t>
                </a:r>
              </a:p>
            </p:txBody>
          </p:sp>
        </mc:Choice>
        <mc:Fallback xmlns="">
          <p:sp>
            <p:nvSpPr>
              <p:cNvPr id="7" name="TextBox 6">
                <a:extLst>
                  <a:ext uri="{FF2B5EF4-FFF2-40B4-BE49-F238E27FC236}">
                    <a16:creationId xmlns:a16="http://schemas.microsoft.com/office/drawing/2014/main" id="{0FE510E8-E8F3-FDCC-9FE7-6C0339ED6C67}"/>
                  </a:ext>
                </a:extLst>
              </p:cNvPr>
              <p:cNvSpPr txBox="1">
                <a:spLocks noRot="1" noChangeAspect="1" noMove="1" noResize="1" noEditPoints="1" noAdjustHandles="1" noChangeArrowheads="1" noChangeShapeType="1" noTextEdit="1"/>
              </p:cNvSpPr>
              <p:nvPr/>
            </p:nvSpPr>
            <p:spPr>
              <a:xfrm>
                <a:off x="405204" y="892885"/>
                <a:ext cx="11381590" cy="5279459"/>
              </a:xfrm>
              <a:prstGeom prst="rect">
                <a:avLst/>
              </a:prstGeom>
              <a:blipFill>
                <a:blip r:embed="rId3"/>
                <a:stretch>
                  <a:fillRect l="-535" t="-577" b="-1038"/>
                </a:stretch>
              </a:blipFill>
            </p:spPr>
            <p:txBody>
              <a:bodyPr/>
              <a:lstStyle/>
              <a:p>
                <a:r>
                  <a:rPr lang="zh-TW" altLang="en-US">
                    <a:noFill/>
                  </a:rPr>
                  <a:t> </a:t>
                </a:r>
              </a:p>
            </p:txBody>
          </p:sp>
        </mc:Fallback>
      </mc:AlternateContent>
      <p:pic>
        <p:nvPicPr>
          <p:cNvPr id="9" name="Picture 8">
            <a:extLst>
              <a:ext uri="{FF2B5EF4-FFF2-40B4-BE49-F238E27FC236}">
                <a16:creationId xmlns:a16="http://schemas.microsoft.com/office/drawing/2014/main" id="{29D95A12-F571-1D83-5ACA-74E88005001A}"/>
              </a:ext>
            </a:extLst>
          </p:cNvPr>
          <p:cNvPicPr>
            <a:picLocks noChangeAspect="1"/>
          </p:cNvPicPr>
          <p:nvPr/>
        </p:nvPicPr>
        <p:blipFill>
          <a:blip r:embed="rId4"/>
          <a:stretch>
            <a:fillRect/>
          </a:stretch>
        </p:blipFill>
        <p:spPr>
          <a:xfrm>
            <a:off x="9138474" y="2148362"/>
            <a:ext cx="2648320" cy="1076475"/>
          </a:xfrm>
          <a:prstGeom prst="rect">
            <a:avLst/>
          </a:prstGeom>
        </p:spPr>
      </p:pic>
    </p:spTree>
    <p:extLst>
      <p:ext uri="{BB962C8B-B14F-4D97-AF65-F5344CB8AC3E}">
        <p14:creationId xmlns:p14="http://schemas.microsoft.com/office/powerpoint/2010/main" val="4120726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64ED0-A702-2516-399D-84A989739B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AEC552-8279-EE4C-E00F-A6E686C7C0B3}"/>
              </a:ext>
            </a:extLst>
          </p:cNvPr>
          <p:cNvSpPr>
            <a:spLocks noGrp="1"/>
          </p:cNvSpPr>
          <p:nvPr>
            <p:ph type="title"/>
          </p:nvPr>
        </p:nvSpPr>
        <p:spPr/>
        <p:txBody>
          <a:bodyPr>
            <a:normAutofit/>
          </a:bodyPr>
          <a:lstStyle/>
          <a:p>
            <a:r>
              <a:rPr lang="en-US" sz="4000" dirty="0"/>
              <a:t>Can Our Cure Model Enable Sequential Optimization?</a:t>
            </a:r>
          </a:p>
        </p:txBody>
      </p:sp>
      <p:sp>
        <p:nvSpPr>
          <p:cNvPr id="4" name="Date Placeholder 3">
            <a:extLst>
              <a:ext uri="{FF2B5EF4-FFF2-40B4-BE49-F238E27FC236}">
                <a16:creationId xmlns:a16="http://schemas.microsoft.com/office/drawing/2014/main" id="{9E455BB3-F0D6-3803-E400-252CA140B123}"/>
              </a:ext>
            </a:extLst>
          </p:cNvPr>
          <p:cNvSpPr>
            <a:spLocks noGrp="1"/>
          </p:cNvSpPr>
          <p:nvPr>
            <p:ph type="dt" sz="half" idx="10"/>
          </p:nvPr>
        </p:nvSpPr>
        <p:spPr/>
        <p:txBody>
          <a:bodyPr/>
          <a:lstStyle/>
          <a:p>
            <a:fld id="{E4F5E198-6479-4380-8F14-1065308CC0DC}" type="datetime1">
              <a:rPr lang="en-US" smtClean="0"/>
              <a:t>9/24/26</a:t>
            </a:fld>
            <a:endParaRPr lang="en-US" dirty="0"/>
          </a:p>
        </p:txBody>
      </p:sp>
      <p:sp>
        <p:nvSpPr>
          <p:cNvPr id="5" name="Footer Placeholder 4">
            <a:extLst>
              <a:ext uri="{FF2B5EF4-FFF2-40B4-BE49-F238E27FC236}">
                <a16:creationId xmlns:a16="http://schemas.microsoft.com/office/drawing/2014/main" id="{7CE3A2CA-BCD5-B1FE-2CF8-3A8FA6DB7202}"/>
              </a:ext>
            </a:extLst>
          </p:cNvPr>
          <p:cNvSpPr>
            <a:spLocks noGrp="1"/>
          </p:cNvSpPr>
          <p:nvPr>
            <p:ph type="ftr" sz="quarter" idx="11"/>
          </p:nvPr>
        </p:nvSpPr>
        <p:spPr/>
        <p:txBody>
          <a:bodyPr/>
          <a:lstStyle/>
          <a:p>
            <a:r>
              <a:rPr lang="en-US"/>
              <a:t>Nanoscale Design and Manufacturing Laboratory</a:t>
            </a:r>
            <a:endParaRPr lang="en-US" dirty="0"/>
          </a:p>
        </p:txBody>
      </p:sp>
      <p:sp>
        <p:nvSpPr>
          <p:cNvPr id="6" name="Slide Number Placeholder 5">
            <a:extLst>
              <a:ext uri="{FF2B5EF4-FFF2-40B4-BE49-F238E27FC236}">
                <a16:creationId xmlns:a16="http://schemas.microsoft.com/office/drawing/2014/main" id="{78D27DAC-E308-7347-F886-BCC6431DCEE9}"/>
              </a:ext>
            </a:extLst>
          </p:cNvPr>
          <p:cNvSpPr>
            <a:spLocks noGrp="1"/>
          </p:cNvSpPr>
          <p:nvPr>
            <p:ph type="sldNum" sz="quarter" idx="12"/>
          </p:nvPr>
        </p:nvSpPr>
        <p:spPr/>
        <p:txBody>
          <a:bodyPr/>
          <a:lstStyle/>
          <a:p>
            <a:fld id="{5A741E56-E3D9-46FF-B47D-3FCBEAE97EB2}" type="slidenum">
              <a:rPr lang="en-US" smtClean="0"/>
              <a:pPr/>
              <a:t>11</a:t>
            </a:fld>
            <a:endParaRPr lang="en-US"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F5524A-2289-DA59-A4CC-507A35844C7A}"/>
                  </a:ext>
                </a:extLst>
              </p:cNvPr>
              <p:cNvSpPr txBox="1"/>
              <p:nvPr/>
            </p:nvSpPr>
            <p:spPr>
              <a:xfrm>
                <a:off x="609601" y="4161292"/>
                <a:ext cx="11277600" cy="966547"/>
              </a:xfrm>
              <a:prstGeom prst="rect">
                <a:avLst/>
              </a:prstGeom>
              <a:noFill/>
            </p:spPr>
            <p:txBody>
              <a:bodyPr wrap="square" rtlCol="0">
                <a:spAutoFit/>
              </a:bodyPr>
              <a:lstStyle/>
              <a:p>
                <a:r>
                  <a:rPr lang="en-US" dirty="0"/>
                  <a:t>Can our oxygen–DoC model be used as a forward model for mask optimization?</a:t>
                </a:r>
              </a:p>
              <a:p>
                <a:pPr/>
                <a14:m>
                  <m:oMathPara xmlns:m="http://schemas.openxmlformats.org/officeDocument/2006/math">
                    <m:oMath>
                      <m:r>
                        <a:rPr lang="en-US" i="1">
                          <a:latin typeface="Cambria Math" panose="02040503050406030204" pitchFamily="18" charset="0"/>
                        </a:rPr>
                        <m:t>𝐻</m:t>
                      </m:r>
                      <m:d>
                        <m:dPr>
                          <m:sepChr m:val=","/>
                          <m:ctrlPr>
                            <a:rPr lang="en-US" i="1">
                              <a:latin typeface="Cambria Math" panose="02040503050406030204" pitchFamily="18" charset="0"/>
                            </a:rPr>
                          </m:ctrlPr>
                        </m:dPr>
                        <m:e>
                          <m:r>
                            <a:rPr lang="en-US" i="1">
                              <a:latin typeface="Cambria Math" panose="02040503050406030204" pitchFamily="18" charset="0"/>
                            </a:rPr>
                            <m:t>𝑥</m:t>
                          </m:r>
                        </m:e>
                        <m:e>
                          <m:r>
                            <a:rPr lang="en-US" i="1">
                              <a:latin typeface="Cambria Math" panose="02040503050406030204" pitchFamily="18" charset="0"/>
                            </a:rPr>
                            <m:t>𝑦</m:t>
                          </m:r>
                        </m:e>
                        <m:e>
                          <m:r>
                            <a:rPr lang="en-US" i="1">
                              <a:latin typeface="Cambria Math" panose="02040503050406030204" pitchFamily="18" charset="0"/>
                            </a:rPr>
                            <m:t>𝑡</m:t>
                          </m:r>
                        </m:e>
                      </m:d>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a:latin typeface="Cambria Math" panose="02040503050406030204" pitchFamily="18" charset="0"/>
                            </a:rPr>
                            <m:t>2</m:t>
                          </m:r>
                        </m:sub>
                      </m:sSub>
                      <m:d>
                        <m:dPr>
                          <m:sepChr m:val=","/>
                          <m:ctrlPr>
                            <a:rPr lang="en-US" i="1">
                              <a:latin typeface="Cambria Math" panose="02040503050406030204" pitchFamily="18" charset="0"/>
                            </a:rPr>
                          </m:ctrlPr>
                        </m:dPr>
                        <m:e>
                          <m:r>
                            <a:rPr lang="en-US" i="1">
                              <a:latin typeface="Cambria Math" panose="02040503050406030204" pitchFamily="18" charset="0"/>
                            </a:rPr>
                            <m:t>𝑥</m:t>
                          </m:r>
                        </m:e>
                        <m:e>
                          <m:r>
                            <a:rPr lang="en-US" i="1">
                              <a:latin typeface="Cambria Math" panose="02040503050406030204" pitchFamily="18" charset="0"/>
                            </a:rPr>
                            <m:t>𝑦</m:t>
                          </m:r>
                        </m:e>
                        <m:e>
                          <m:r>
                            <a:rPr lang="en-US" i="1">
                              <a:latin typeface="Cambria Math" panose="02040503050406030204" pitchFamily="18" charset="0"/>
                            </a:rPr>
                            <m:t>𝑡</m:t>
                          </m:r>
                        </m:e>
                      </m:d>
                      <m:r>
                        <a:rPr lang="en-US">
                          <a:latin typeface="Cambria Math" panose="02040503050406030204" pitchFamily="18" charset="0"/>
                        </a:rPr>
                        <m:t>,</m:t>
                      </m:r>
                      <m:r>
                        <m:rPr>
                          <m:nor/>
                        </m:rPr>
                        <a:rPr lang="en-US" i="1"/>
                        <m:t> </m:t>
                      </m:r>
                      <m:r>
                        <a:rPr lang="en-US" i="1">
                          <a:latin typeface="Cambria Math" panose="02040503050406030204" pitchFamily="18" charset="0"/>
                        </a:rPr>
                        <m:t>𝐷𝑜𝐶</m:t>
                      </m:r>
                      <m:d>
                        <m:dPr>
                          <m:sepChr m:val=","/>
                          <m:ctrlPr>
                            <a:rPr lang="en-US" i="1">
                              <a:latin typeface="Cambria Math" panose="02040503050406030204" pitchFamily="18" charset="0"/>
                            </a:rPr>
                          </m:ctrlPr>
                        </m:dPr>
                        <m:e>
                          <m:r>
                            <a:rPr lang="en-US" i="1">
                              <a:latin typeface="Cambria Math" panose="02040503050406030204" pitchFamily="18" charset="0"/>
                            </a:rPr>
                            <m:t>𝑥</m:t>
                          </m:r>
                        </m:e>
                        <m:e>
                          <m:r>
                            <a:rPr lang="en-US" i="1">
                              <a:latin typeface="Cambria Math" panose="02040503050406030204" pitchFamily="18" charset="0"/>
                            </a:rPr>
                            <m:t>𝑦</m:t>
                          </m:r>
                        </m:e>
                        <m:e>
                          <m:r>
                            <a:rPr lang="en-US" i="1">
                              <a:latin typeface="Cambria Math" panose="02040503050406030204" pitchFamily="18" charset="0"/>
                            </a:rPr>
                            <m:t>𝑡</m:t>
                          </m:r>
                        </m:e>
                      </m:d>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𝐹</m:t>
                          </m:r>
                        </m:e>
                        <m:sup>
                          <m:r>
                            <a:rPr lang="en-US">
                              <a:latin typeface="Cambria Math" panose="02040503050406030204" pitchFamily="18" charset="0"/>
                            </a:rPr>
                            <m:t>′</m:t>
                          </m:r>
                        </m:sup>
                      </m:sSup>
                    </m:oMath>
                  </m:oMathPara>
                </a14:m>
                <a:endParaRPr lang="en-US" b="0" dirty="0"/>
              </a:p>
              <a:p>
                <a:r>
                  <a:rPr lang="en-US" dirty="0"/>
                  <a:t>where </a:t>
                </a:r>
                <a14:m>
                  <m:oMath xmlns:m="http://schemas.openxmlformats.org/officeDocument/2006/math">
                    <m:r>
                      <a:rPr lang="en-US" i="1">
                        <a:latin typeface="Cambria Math" panose="02040503050406030204" pitchFamily="18" charset="0"/>
                      </a:rPr>
                      <m:t>𝐻</m:t>
                    </m:r>
                  </m:oMath>
                </a14:m>
                <a:r>
                  <a:rPr lang="en-US" dirty="0"/>
                  <a:t> is the projected mask intensity and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𝐹</m:t>
                        </m:r>
                      </m:e>
                      <m:sup>
                        <m:r>
                          <a:rPr lang="en-US">
                            <a:latin typeface="Cambria Math" panose="02040503050406030204" pitchFamily="18" charset="0"/>
                          </a:rPr>
                          <m:t>′</m:t>
                        </m:r>
                      </m:sup>
                    </m:sSup>
                  </m:oMath>
                </a14:m>
                <a:r>
                  <a:rPr lang="en-US" dirty="0"/>
                  <a:t> is the predicted solidified pattern.</a:t>
                </a:r>
              </a:p>
            </p:txBody>
          </p:sp>
        </mc:Choice>
        <mc:Fallback xmlns="">
          <p:sp>
            <p:nvSpPr>
              <p:cNvPr id="36" name="TextBox 35">
                <a:extLst>
                  <a:ext uri="{FF2B5EF4-FFF2-40B4-BE49-F238E27FC236}">
                    <a16:creationId xmlns:a16="http://schemas.microsoft.com/office/drawing/2014/main" id="{89F5524A-2289-DA59-A4CC-507A35844C7A}"/>
                  </a:ext>
                </a:extLst>
              </p:cNvPr>
              <p:cNvSpPr txBox="1">
                <a:spLocks noRot="1" noChangeAspect="1" noMove="1" noResize="1" noEditPoints="1" noAdjustHandles="1" noChangeArrowheads="1" noChangeShapeType="1" noTextEdit="1"/>
              </p:cNvSpPr>
              <p:nvPr/>
            </p:nvSpPr>
            <p:spPr>
              <a:xfrm>
                <a:off x="609601" y="4161292"/>
                <a:ext cx="11277600" cy="966547"/>
              </a:xfrm>
              <a:prstGeom prst="rect">
                <a:avLst/>
              </a:prstGeom>
              <a:blipFill>
                <a:blip r:embed="rId4"/>
                <a:stretch>
                  <a:fillRect l="-450" t="-2597" b="-10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722FEFE-191D-9581-DC3B-D3A25803C70C}"/>
                  </a:ext>
                </a:extLst>
              </p:cNvPr>
              <p:cNvSpPr txBox="1"/>
              <p:nvPr/>
            </p:nvSpPr>
            <p:spPr>
              <a:xfrm>
                <a:off x="609601" y="5232806"/>
                <a:ext cx="10678885" cy="923330"/>
              </a:xfrm>
              <a:prstGeom prst="rect">
                <a:avLst/>
              </a:prstGeom>
              <a:noFill/>
            </p:spPr>
            <p:txBody>
              <a:bodyPr wrap="square">
                <a:spAutoFit/>
              </a:bodyPr>
              <a:lstStyle/>
              <a:p>
                <a:pPr>
                  <a:buNone/>
                </a:pPr>
                <a:r>
                  <a:rPr lang="en-US" b="1" dirty="0"/>
                  <a:t>If this mapping is reliable, then we can formulate the problem as:</a:t>
                </a:r>
                <a:endParaRPr lang="en-US" dirty="0"/>
              </a:p>
              <a:p>
                <a:pPr>
                  <a:buNone/>
                </a:pPr>
                <a14:m>
                  <m:oMathPara xmlns:m="http://schemas.openxmlformats.org/officeDocument/2006/math">
                    <m:oMath>
                      <m:r>
                        <m:rPr>
                          <m:nor/>
                        </m:rPr>
                        <a:rPr lang="en-US" b="0" i="0"/>
                        <m:t>Find</m:t>
                      </m:r>
                      <m:r>
                        <m:rPr>
                          <m:nor/>
                        </m:rPr>
                        <a:rPr lang="en-US" b="0" i="0" smtClean="0"/>
                        <m:t>:</m:t>
                      </m:r>
                      <m:r>
                        <m:rPr>
                          <m:nor/>
                        </m:rPr>
                        <a:rPr lang="en-US" b="0" i="1"/>
                        <m:t> optimized mask sequence </m:t>
                      </m:r>
                      <m:sSub>
                        <m:sSubPr>
                          <m:ctrlPr>
                            <a:rPr lang="en-US" b="0" i="1">
                              <a:latin typeface="Cambria Math" panose="02040503050406030204" pitchFamily="18" charset="0"/>
                            </a:rPr>
                          </m:ctrlPr>
                        </m:sSubPr>
                        <m:e>
                          <m:r>
                            <a:rPr lang="en-US" b="0" i="1">
                              <a:latin typeface="Cambria Math" panose="02040503050406030204" pitchFamily="18" charset="0"/>
                            </a:rPr>
                            <m:t>𝐻</m:t>
                          </m:r>
                        </m:e>
                        <m:sub>
                          <m:r>
                            <a:rPr lang="en-US" b="0" i="0">
                              <a:latin typeface="Cambria Math" panose="02040503050406030204" pitchFamily="18" charset="0"/>
                            </a:rPr>
                            <m:t>1</m:t>
                          </m:r>
                        </m:sub>
                      </m:sSub>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𝐻</m:t>
                          </m:r>
                        </m:e>
                        <m:sub>
                          <m:r>
                            <a:rPr lang="en-US" b="0" i="0">
                              <a:latin typeface="Cambria Math" panose="02040503050406030204" pitchFamily="18" charset="0"/>
                            </a:rPr>
                            <m:t>2</m:t>
                          </m:r>
                        </m:sub>
                      </m:sSub>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𝐻</m:t>
                          </m:r>
                        </m:e>
                        <m:sub>
                          <m:r>
                            <a:rPr lang="en-US" b="0" i="1">
                              <a:latin typeface="Cambria Math" panose="02040503050406030204" pitchFamily="18" charset="0"/>
                            </a:rPr>
                            <m:t>𝑚</m:t>
                          </m:r>
                        </m:sub>
                      </m:sSub>
                    </m:oMath>
                  </m:oMathPara>
                </a14:m>
                <a:endParaRPr lang="en-US" b="0" dirty="0"/>
              </a:p>
              <a:p>
                <a:pPr>
                  <a:buNone/>
                </a:pPr>
                <a14:m>
                  <m:oMathPara xmlns:m="http://schemas.openxmlformats.org/officeDocument/2006/math">
                    <m:oMath>
                      <m:r>
                        <m:rPr>
                          <m:nor/>
                        </m:rPr>
                        <a:rPr lang="en-US" b="0" i="0"/>
                        <m:t>Minimize</m:t>
                      </m:r>
                      <m:r>
                        <m:rPr>
                          <m:nor/>
                        </m:rPr>
                        <a:rPr lang="en-US" b="0" i="0" smtClean="0"/>
                        <m:t>:</m:t>
                      </m:r>
                      <m:r>
                        <m:rPr>
                          <m:nor/>
                        </m:rPr>
                        <a:rPr lang="en-US" b="0" i="1"/>
                        <m:t> mismatch between target pattern </m:t>
                      </m:r>
                      <m:r>
                        <a:rPr lang="en-US" b="0" i="1">
                          <a:latin typeface="Cambria Math" panose="02040503050406030204" pitchFamily="18" charset="0"/>
                        </a:rPr>
                        <m:t>𝐹</m:t>
                      </m:r>
                      <m:r>
                        <m:rPr>
                          <m:nor/>
                        </m:rPr>
                        <a:rPr lang="en-US" b="0" i="1"/>
                        <m:t> and predicted cured pattern </m:t>
                      </m:r>
                      <m:sSup>
                        <m:sSupPr>
                          <m:ctrlPr>
                            <a:rPr lang="en-US" b="0" i="1">
                              <a:latin typeface="Cambria Math" panose="02040503050406030204" pitchFamily="18" charset="0"/>
                            </a:rPr>
                          </m:ctrlPr>
                        </m:sSupPr>
                        <m:e>
                          <m:r>
                            <a:rPr lang="en-US" b="0" i="1">
                              <a:latin typeface="Cambria Math" panose="02040503050406030204" pitchFamily="18" charset="0"/>
                            </a:rPr>
                            <m:t>𝐹</m:t>
                          </m:r>
                        </m:e>
                        <m:sup>
                          <m:r>
                            <a:rPr lang="en-US" b="0" i="0">
                              <a:latin typeface="Cambria Math" panose="02040503050406030204" pitchFamily="18" charset="0"/>
                            </a:rPr>
                            <m:t>′</m:t>
                          </m:r>
                        </m:sup>
                      </m:sSup>
                    </m:oMath>
                  </m:oMathPara>
                </a14:m>
                <a:endParaRPr lang="en-US" b="0" dirty="0"/>
              </a:p>
            </p:txBody>
          </p:sp>
        </mc:Choice>
        <mc:Fallback xmlns="">
          <p:sp>
            <p:nvSpPr>
              <p:cNvPr id="38" name="TextBox 37">
                <a:extLst>
                  <a:ext uri="{FF2B5EF4-FFF2-40B4-BE49-F238E27FC236}">
                    <a16:creationId xmlns:a16="http://schemas.microsoft.com/office/drawing/2014/main" id="{2722FEFE-191D-9581-DC3B-D3A25803C70C}"/>
                  </a:ext>
                </a:extLst>
              </p:cNvPr>
              <p:cNvSpPr txBox="1">
                <a:spLocks noRot="1" noChangeAspect="1" noMove="1" noResize="1" noEditPoints="1" noAdjustHandles="1" noChangeArrowheads="1" noChangeShapeType="1" noTextEdit="1"/>
              </p:cNvSpPr>
              <p:nvPr/>
            </p:nvSpPr>
            <p:spPr>
              <a:xfrm>
                <a:off x="609601" y="5232806"/>
                <a:ext cx="10678885" cy="923330"/>
              </a:xfrm>
              <a:prstGeom prst="rect">
                <a:avLst/>
              </a:prstGeom>
              <a:blipFill>
                <a:blip r:embed="rId5"/>
                <a:stretch>
                  <a:fillRect l="-476" t="-2703" b="-675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CCB3FD3B-6B6D-51C9-4E5F-D0231B06B188}"/>
              </a:ext>
            </a:extLst>
          </p:cNvPr>
          <p:cNvPicPr>
            <a:picLocks noChangeAspect="1"/>
          </p:cNvPicPr>
          <p:nvPr/>
        </p:nvPicPr>
        <p:blipFill>
          <a:blip r:embed="rId6"/>
          <a:stretch>
            <a:fillRect/>
          </a:stretch>
        </p:blipFill>
        <p:spPr>
          <a:xfrm>
            <a:off x="4092612" y="998807"/>
            <a:ext cx="4311578" cy="2936333"/>
          </a:xfrm>
          <a:prstGeom prst="rect">
            <a:avLst/>
          </a:prstGeom>
        </p:spPr>
      </p:pic>
    </p:spTree>
    <p:extLst>
      <p:ext uri="{BB962C8B-B14F-4D97-AF65-F5344CB8AC3E}">
        <p14:creationId xmlns:p14="http://schemas.microsoft.com/office/powerpoint/2010/main" val="1508485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7AC68-72B5-48E2-702D-7D61512B2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97C22-B7C2-6535-7825-4174D801580A}"/>
              </a:ext>
            </a:extLst>
          </p:cNvPr>
          <p:cNvSpPr>
            <a:spLocks noGrp="1"/>
          </p:cNvSpPr>
          <p:nvPr>
            <p:ph type="title"/>
          </p:nvPr>
        </p:nvSpPr>
        <p:spPr/>
        <p:txBody>
          <a:bodyPr/>
          <a:lstStyle/>
          <a:p>
            <a:r>
              <a:rPr lang="en-US" dirty="0"/>
              <a:t>Implementation Challenges for Real-Time Control</a:t>
            </a:r>
          </a:p>
        </p:txBody>
      </p:sp>
      <p:sp>
        <p:nvSpPr>
          <p:cNvPr id="4" name="Date Placeholder 3">
            <a:extLst>
              <a:ext uri="{FF2B5EF4-FFF2-40B4-BE49-F238E27FC236}">
                <a16:creationId xmlns:a16="http://schemas.microsoft.com/office/drawing/2014/main" id="{80A06377-FCFC-CBA2-B901-CDE2D8E20ED7}"/>
              </a:ext>
            </a:extLst>
          </p:cNvPr>
          <p:cNvSpPr>
            <a:spLocks noGrp="1"/>
          </p:cNvSpPr>
          <p:nvPr>
            <p:ph type="dt" sz="half" idx="10"/>
          </p:nvPr>
        </p:nvSpPr>
        <p:spPr/>
        <p:txBody>
          <a:bodyPr/>
          <a:lstStyle/>
          <a:p>
            <a:fld id="{E4F5E198-6479-4380-8F14-1065308CC0DC}" type="datetime1">
              <a:rPr lang="en-US" smtClean="0"/>
              <a:t>9/24/26</a:t>
            </a:fld>
            <a:endParaRPr lang="en-US" dirty="0"/>
          </a:p>
        </p:txBody>
      </p:sp>
      <p:sp>
        <p:nvSpPr>
          <p:cNvPr id="5" name="Footer Placeholder 4">
            <a:extLst>
              <a:ext uri="{FF2B5EF4-FFF2-40B4-BE49-F238E27FC236}">
                <a16:creationId xmlns:a16="http://schemas.microsoft.com/office/drawing/2014/main" id="{063FF8B5-09F6-DF33-341E-84BC75B0999B}"/>
              </a:ext>
            </a:extLst>
          </p:cNvPr>
          <p:cNvSpPr>
            <a:spLocks noGrp="1"/>
          </p:cNvSpPr>
          <p:nvPr>
            <p:ph type="ftr" sz="quarter" idx="11"/>
          </p:nvPr>
        </p:nvSpPr>
        <p:spPr/>
        <p:txBody>
          <a:bodyPr/>
          <a:lstStyle/>
          <a:p>
            <a:r>
              <a:rPr lang="en-US"/>
              <a:t>Nanoscale Design and Manufacturing Laboratory</a:t>
            </a:r>
            <a:endParaRPr lang="en-US" dirty="0"/>
          </a:p>
        </p:txBody>
      </p:sp>
      <p:sp>
        <p:nvSpPr>
          <p:cNvPr id="6" name="Slide Number Placeholder 5">
            <a:extLst>
              <a:ext uri="{FF2B5EF4-FFF2-40B4-BE49-F238E27FC236}">
                <a16:creationId xmlns:a16="http://schemas.microsoft.com/office/drawing/2014/main" id="{BF312EED-A090-1AB5-83EE-7E417FA8C674}"/>
              </a:ext>
            </a:extLst>
          </p:cNvPr>
          <p:cNvSpPr>
            <a:spLocks noGrp="1"/>
          </p:cNvSpPr>
          <p:nvPr>
            <p:ph type="sldNum" sz="quarter" idx="12"/>
          </p:nvPr>
        </p:nvSpPr>
        <p:spPr/>
        <p:txBody>
          <a:bodyPr/>
          <a:lstStyle/>
          <a:p>
            <a:fld id="{5A741E56-E3D9-46FF-B47D-3FCBEAE97EB2}" type="slidenum">
              <a:rPr lang="en-US" smtClean="0"/>
              <a:pPr/>
              <a:t>12</a:t>
            </a:fld>
            <a:endParaRPr lang="en-US" dirty="0"/>
          </a:p>
        </p:txBody>
      </p:sp>
      <p:pic>
        <p:nvPicPr>
          <p:cNvPr id="8" name="Picture 7">
            <a:extLst>
              <a:ext uri="{FF2B5EF4-FFF2-40B4-BE49-F238E27FC236}">
                <a16:creationId xmlns:a16="http://schemas.microsoft.com/office/drawing/2014/main" id="{ABE9FF65-948F-5E60-C512-33F8E94589F9}"/>
              </a:ext>
            </a:extLst>
          </p:cNvPr>
          <p:cNvPicPr>
            <a:picLocks noChangeAspect="1"/>
          </p:cNvPicPr>
          <p:nvPr/>
        </p:nvPicPr>
        <p:blipFill>
          <a:blip r:embed="rId3"/>
          <a:stretch>
            <a:fillRect/>
          </a:stretch>
        </p:blipFill>
        <p:spPr>
          <a:xfrm>
            <a:off x="354419" y="1210298"/>
            <a:ext cx="8747822" cy="4175408"/>
          </a:xfrm>
          <a:prstGeom prst="rect">
            <a:avLst/>
          </a:prstGeom>
        </p:spPr>
      </p:pic>
      <p:sp>
        <p:nvSpPr>
          <p:cNvPr id="9" name="TextBox 8">
            <a:extLst>
              <a:ext uri="{FF2B5EF4-FFF2-40B4-BE49-F238E27FC236}">
                <a16:creationId xmlns:a16="http://schemas.microsoft.com/office/drawing/2014/main" id="{C9E952AD-F2A6-CBFF-3103-E9F23AB3F3FD}"/>
              </a:ext>
            </a:extLst>
          </p:cNvPr>
          <p:cNvSpPr txBox="1"/>
          <p:nvPr/>
        </p:nvSpPr>
        <p:spPr>
          <a:xfrm>
            <a:off x="146957" y="6044633"/>
            <a:ext cx="2449285" cy="369332"/>
          </a:xfrm>
          <a:prstGeom prst="rect">
            <a:avLst/>
          </a:prstGeom>
          <a:noFill/>
        </p:spPr>
        <p:txBody>
          <a:bodyPr wrap="square" rtlCol="0">
            <a:spAutoFit/>
          </a:bodyPr>
          <a:lstStyle/>
          <a:p>
            <a:r>
              <a:rPr lang="en-US" dirty="0"/>
              <a:t>Group1: normal process</a:t>
            </a:r>
          </a:p>
        </p:txBody>
      </p:sp>
      <p:sp>
        <p:nvSpPr>
          <p:cNvPr id="10" name="TextBox 9">
            <a:extLst>
              <a:ext uri="{FF2B5EF4-FFF2-40B4-BE49-F238E27FC236}">
                <a16:creationId xmlns:a16="http://schemas.microsoft.com/office/drawing/2014/main" id="{0CA8A287-39B6-C6AA-8D8D-A69C6F7D38DE}"/>
              </a:ext>
            </a:extLst>
          </p:cNvPr>
          <p:cNvSpPr txBox="1"/>
          <p:nvPr/>
        </p:nvSpPr>
        <p:spPr>
          <a:xfrm>
            <a:off x="2596242" y="6044633"/>
            <a:ext cx="2449285" cy="369332"/>
          </a:xfrm>
          <a:prstGeom prst="rect">
            <a:avLst/>
          </a:prstGeom>
          <a:noFill/>
        </p:spPr>
        <p:txBody>
          <a:bodyPr wrap="square" rtlCol="0">
            <a:spAutoFit/>
          </a:bodyPr>
          <a:lstStyle/>
          <a:p>
            <a:r>
              <a:rPr lang="en-US" dirty="0"/>
              <a:t>Group2: slow process</a:t>
            </a:r>
          </a:p>
        </p:txBody>
      </p:sp>
      <p:sp>
        <p:nvSpPr>
          <p:cNvPr id="17" name="TextBox 16">
            <a:extLst>
              <a:ext uri="{FF2B5EF4-FFF2-40B4-BE49-F238E27FC236}">
                <a16:creationId xmlns:a16="http://schemas.microsoft.com/office/drawing/2014/main" id="{1A184A8B-902F-0D1A-5EC5-E93A8A747E90}"/>
              </a:ext>
            </a:extLst>
          </p:cNvPr>
          <p:cNvSpPr txBox="1"/>
          <p:nvPr/>
        </p:nvSpPr>
        <p:spPr>
          <a:xfrm>
            <a:off x="9013371" y="1155023"/>
            <a:ext cx="2955472" cy="4801314"/>
          </a:xfrm>
          <a:prstGeom prst="rect">
            <a:avLst/>
          </a:prstGeom>
          <a:noFill/>
        </p:spPr>
        <p:txBody>
          <a:bodyPr wrap="square">
            <a:spAutoFit/>
          </a:bodyPr>
          <a:lstStyle/>
          <a:p>
            <a:pPr>
              <a:buNone/>
            </a:pPr>
            <a:r>
              <a:rPr lang="en-US" b="1" dirty="0"/>
              <a:t>Major Sources of Delay</a:t>
            </a:r>
            <a:endParaRPr lang="en-US" dirty="0"/>
          </a:p>
          <a:p>
            <a:pPr marL="285750" indent="-285750">
              <a:buFont typeface="Arial" panose="020B0604020202020204" pitchFamily="34" charset="0"/>
              <a:buChar char="•"/>
            </a:pPr>
            <a:r>
              <a:rPr lang="en-US" b="1" dirty="0"/>
              <a:t>Measurement latency:</a:t>
            </a:r>
            <a:r>
              <a:rPr lang="en-US" dirty="0"/>
              <a:t> time required for image acquisition and sensor processing. </a:t>
            </a:r>
          </a:p>
          <a:p>
            <a:pPr marL="285750" indent="-285750">
              <a:buFont typeface="Arial" panose="020B0604020202020204" pitchFamily="34" charset="0"/>
              <a:buChar char="•"/>
            </a:pPr>
            <a:r>
              <a:rPr lang="en-US" b="1" dirty="0"/>
              <a:t>Control computation delay:</a:t>
            </a:r>
            <a:r>
              <a:rPr lang="en-US" dirty="0"/>
              <a:t> time required to calculate the next control action. </a:t>
            </a:r>
          </a:p>
          <a:p>
            <a:pPr marL="285750" indent="-285750">
              <a:buFont typeface="Arial" panose="020B0604020202020204" pitchFamily="34" charset="0"/>
              <a:buChar char="•"/>
            </a:pPr>
            <a:r>
              <a:rPr lang="en-US" b="1" dirty="0"/>
              <a:t>Discrete measurement delay:</a:t>
            </a:r>
            <a:r>
              <a:rPr lang="en-US" dirty="0"/>
              <a:t> missed trigger point due to finite sampling interval. </a:t>
            </a:r>
          </a:p>
          <a:p>
            <a:pPr marL="285750" indent="-285750">
              <a:buFont typeface="Arial" panose="020B0604020202020204" pitchFamily="34" charset="0"/>
              <a:buChar char="•"/>
            </a:pPr>
            <a:r>
              <a:rPr lang="en-US" b="1" dirty="0"/>
              <a:t>Actuation delay:</a:t>
            </a:r>
            <a:r>
              <a:rPr lang="en-US" dirty="0"/>
              <a:t> delay between sending the command and changing the UV exposure.</a:t>
            </a:r>
          </a:p>
        </p:txBody>
      </p:sp>
    </p:spTree>
    <p:extLst>
      <p:ext uri="{BB962C8B-B14F-4D97-AF65-F5344CB8AC3E}">
        <p14:creationId xmlns:p14="http://schemas.microsoft.com/office/powerpoint/2010/main" val="2619118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65B19-CBE4-DA10-4E59-2EDFB26633A7}"/>
              </a:ext>
            </a:extLst>
          </p:cNvPr>
          <p:cNvSpPr>
            <a:spLocks noGrp="1"/>
          </p:cNvSpPr>
          <p:nvPr>
            <p:ph type="title"/>
          </p:nvPr>
        </p:nvSpPr>
        <p:spPr>
          <a:xfrm>
            <a:off x="838200" y="2268537"/>
            <a:ext cx="10515600" cy="850554"/>
          </a:xfrm>
        </p:spPr>
        <p:txBody>
          <a:bodyPr/>
          <a:lstStyle/>
          <a:p>
            <a:r>
              <a:rPr lang="en-US" altLang="zh-TW" dirty="0"/>
              <a:t>08/27/2026</a:t>
            </a:r>
            <a:endParaRPr lang="zh-TW" altLang="en-US" dirty="0"/>
          </a:p>
        </p:txBody>
      </p:sp>
      <p:sp>
        <p:nvSpPr>
          <p:cNvPr id="3" name="Text Placeholder 2">
            <a:extLst>
              <a:ext uri="{FF2B5EF4-FFF2-40B4-BE49-F238E27FC236}">
                <a16:creationId xmlns:a16="http://schemas.microsoft.com/office/drawing/2014/main" id="{FF9633D2-C8B6-4BF5-2EAE-B94FB8BD11CF}"/>
              </a:ext>
            </a:extLst>
          </p:cNvPr>
          <p:cNvSpPr>
            <a:spLocks noGrp="1"/>
          </p:cNvSpPr>
          <p:nvPr>
            <p:ph type="body" idx="1"/>
          </p:nvPr>
        </p:nvSpPr>
        <p:spPr>
          <a:xfrm>
            <a:off x="838200" y="3119091"/>
            <a:ext cx="10515600" cy="1500187"/>
          </a:xfrm>
        </p:spPr>
        <p:txBody>
          <a:bodyPr/>
          <a:lstStyle/>
          <a:p>
            <a:r>
              <a:rPr lang="zh-TW" altLang="zh-TW" dirty="0"/>
              <a:t>Differentiable Nonlinear MPC for AIE-VPP Mask Control</a:t>
            </a:r>
            <a:endParaRPr lang="zh-TW" altLang="en-US" dirty="0"/>
          </a:p>
        </p:txBody>
      </p:sp>
    </p:spTree>
    <p:extLst>
      <p:ext uri="{BB962C8B-B14F-4D97-AF65-F5344CB8AC3E}">
        <p14:creationId xmlns:p14="http://schemas.microsoft.com/office/powerpoint/2010/main" val="295155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4DD4D-2927-78C9-3F2C-297B9E38284C}"/>
              </a:ext>
            </a:extLst>
          </p:cNvPr>
          <p:cNvSpPr>
            <a:spLocks noGrp="1"/>
          </p:cNvSpPr>
          <p:nvPr>
            <p:ph type="title"/>
          </p:nvPr>
        </p:nvSpPr>
        <p:spPr>
          <a:xfrm>
            <a:off x="0" y="14068"/>
            <a:ext cx="12191999" cy="937823"/>
          </a:xfrm>
        </p:spPr>
        <p:txBody>
          <a:bodyPr/>
          <a:lstStyle/>
          <a:p>
            <a:r>
              <a:rPr lang="en-US" altLang="zh-TW" dirty="0"/>
              <a:t>Nonlinear MPC </a:t>
            </a:r>
            <a:endParaRPr lang="zh-TW" altLang="en-US" dirty="0"/>
          </a:p>
        </p:txBody>
      </p:sp>
      <p:sp>
        <p:nvSpPr>
          <p:cNvPr id="4" name="Slide Number Placeholder 3">
            <a:extLst>
              <a:ext uri="{FF2B5EF4-FFF2-40B4-BE49-F238E27FC236}">
                <a16:creationId xmlns:a16="http://schemas.microsoft.com/office/drawing/2014/main" id="{4B2EA8D8-8F5A-0125-5B73-71BD97539FB5}"/>
              </a:ext>
            </a:extLst>
          </p:cNvPr>
          <p:cNvSpPr>
            <a:spLocks noGrp="1"/>
          </p:cNvSpPr>
          <p:nvPr>
            <p:ph type="sldNum" sz="quarter" idx="12"/>
          </p:nvPr>
        </p:nvSpPr>
        <p:spPr/>
        <p:txBody>
          <a:bodyPr/>
          <a:lstStyle/>
          <a:p>
            <a:fld id="{5A741E56-E3D9-46FF-B47D-3FCBEAE97EB2}" type="slidenum">
              <a:rPr lang="en-US" smtClean="0"/>
              <a:pPr/>
              <a:t>14</a:t>
            </a:fld>
            <a:endParaRPr lang="en-US" dirty="0"/>
          </a:p>
        </p:txBody>
      </p:sp>
      <p:sp>
        <p:nvSpPr>
          <p:cNvPr id="5" name="Footer Placeholder 4">
            <a:extLst>
              <a:ext uri="{FF2B5EF4-FFF2-40B4-BE49-F238E27FC236}">
                <a16:creationId xmlns:a16="http://schemas.microsoft.com/office/drawing/2014/main" id="{A1E940AC-E951-F329-95F7-4A906355B4C3}"/>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17B99886-C9E2-F743-AE0F-B18610A4CFAD}"/>
              </a:ext>
            </a:extLst>
          </p:cNvPr>
          <p:cNvSpPr>
            <a:spLocks noGrp="1"/>
          </p:cNvSpPr>
          <p:nvPr>
            <p:ph type="dt" sz="half" idx="10"/>
          </p:nvPr>
        </p:nvSpPr>
        <p:spPr/>
        <p:txBody>
          <a:bodyPr/>
          <a:lstStyle/>
          <a:p>
            <a:fld id="{E4965A3C-7C44-491F-A2CC-585294ABE301}" type="datetime1">
              <a:rPr lang="en-US" smtClean="0"/>
              <a:t>9/24/26</a:t>
            </a:fld>
            <a:endParaRPr lang="en-US" dirty="0"/>
          </a:p>
        </p:txBody>
      </p:sp>
      <mc:AlternateContent xmlns:mc="http://schemas.openxmlformats.org/markup-compatibility/2006" xmlns:a14="http://schemas.microsoft.com/office/drawing/2010/main">
        <mc:Choice Requires="a14">
          <p:sp>
            <p:nvSpPr>
              <p:cNvPr id="7" name="Parallelogram 6">
                <a:extLst>
                  <a:ext uri="{FF2B5EF4-FFF2-40B4-BE49-F238E27FC236}">
                    <a16:creationId xmlns:a16="http://schemas.microsoft.com/office/drawing/2014/main" id="{67EE8F15-A212-5B1C-E7AD-D3FC6D8E7A92}"/>
                  </a:ext>
                </a:extLst>
              </p:cNvPr>
              <p:cNvSpPr/>
              <p:nvPr/>
            </p:nvSpPr>
            <p:spPr>
              <a:xfrm>
                <a:off x="2023823" y="1002537"/>
                <a:ext cx="4529751" cy="707386"/>
              </a:xfrm>
              <a:prstGeom prst="parallelogram">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Target Geometry + Current State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𝑘</m:t>
                        </m:r>
                      </m:sub>
                    </m:sSub>
                  </m:oMath>
                </a14:m>
                <a:endParaRPr lang="zh-TW" altLang="en-US" dirty="0"/>
              </a:p>
            </p:txBody>
          </p:sp>
        </mc:Choice>
        <mc:Fallback xmlns="">
          <p:sp>
            <p:nvSpPr>
              <p:cNvPr id="7" name="Parallelogram 6">
                <a:extLst>
                  <a:ext uri="{FF2B5EF4-FFF2-40B4-BE49-F238E27FC236}">
                    <a16:creationId xmlns:a16="http://schemas.microsoft.com/office/drawing/2014/main" id="{67EE8F15-A212-5B1C-E7AD-D3FC6D8E7A92}"/>
                  </a:ext>
                </a:extLst>
              </p:cNvPr>
              <p:cNvSpPr>
                <a:spLocks noRot="1" noChangeAspect="1" noMove="1" noResize="1" noEditPoints="1" noAdjustHandles="1" noChangeArrowheads="1" noChangeShapeType="1" noTextEdit="1"/>
              </p:cNvSpPr>
              <p:nvPr/>
            </p:nvSpPr>
            <p:spPr>
              <a:xfrm>
                <a:off x="2023823" y="1002537"/>
                <a:ext cx="4529751" cy="707386"/>
              </a:xfrm>
              <a:prstGeom prst="parallelogram">
                <a:avLst/>
              </a:prstGeom>
              <a:blipFill>
                <a:blip r:embed="rId2"/>
                <a:stretch>
                  <a:fillRect/>
                </a:stretch>
              </a:blipFill>
            </p:spPr>
            <p:txBody>
              <a:bodyPr/>
              <a:lstStyle/>
              <a:p>
                <a:r>
                  <a:rPr lang="zh-TW" altLang="en-US">
                    <a:noFill/>
                  </a:rPr>
                  <a:t> </a:t>
                </a:r>
              </a:p>
            </p:txBody>
          </p:sp>
        </mc:Fallback>
      </mc:AlternateContent>
      <p:sp>
        <p:nvSpPr>
          <p:cNvPr id="8" name="Rectangle 7">
            <a:extLst>
              <a:ext uri="{FF2B5EF4-FFF2-40B4-BE49-F238E27FC236}">
                <a16:creationId xmlns:a16="http://schemas.microsoft.com/office/drawing/2014/main" id="{67E02EE1-ED9E-8518-5332-250C4B7ABEB9}"/>
              </a:ext>
            </a:extLst>
          </p:cNvPr>
          <p:cNvSpPr/>
          <p:nvPr/>
        </p:nvSpPr>
        <p:spPr>
          <a:xfrm>
            <a:off x="3019705" y="2099222"/>
            <a:ext cx="2537988" cy="7785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Optimizer</a:t>
            </a:r>
            <a:endParaRPr lang="zh-TW" altLang="en-US" dirty="0"/>
          </a:p>
        </p:txBody>
      </p:sp>
      <mc:AlternateContent xmlns:mc="http://schemas.openxmlformats.org/markup-compatibility/2006" xmlns:a14="http://schemas.microsoft.com/office/drawing/2010/main">
        <mc:Choice Requires="a14">
          <p:sp>
            <p:nvSpPr>
              <p:cNvPr id="10" name="Parallelogram 9">
                <a:extLst>
                  <a:ext uri="{FF2B5EF4-FFF2-40B4-BE49-F238E27FC236}">
                    <a16:creationId xmlns:a16="http://schemas.microsoft.com/office/drawing/2014/main" id="{CA63FB23-24E4-4923-349F-57AA6272EADA}"/>
                  </a:ext>
                </a:extLst>
              </p:cNvPr>
              <p:cNvSpPr/>
              <p:nvPr/>
            </p:nvSpPr>
            <p:spPr>
              <a:xfrm>
                <a:off x="2518745" y="3248185"/>
                <a:ext cx="3539908" cy="778598"/>
              </a:xfrm>
              <a:prstGeom prst="parallelogram">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Candidate Mask Sequence:</a:t>
                </a:r>
              </a:p>
              <a:p>
                <a:pPr algn="ctr"/>
                <a14:m>
                  <m:oMathPara xmlns:m="http://schemas.openxmlformats.org/officeDocument/2006/math">
                    <m:oMath>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𝑘</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𝑘</m:t>
                          </m:r>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oMath>
                  </m:oMathPara>
                </a14:m>
                <a:endParaRPr lang="zh-TW" altLang="en-US" dirty="0"/>
              </a:p>
            </p:txBody>
          </p:sp>
        </mc:Choice>
        <mc:Fallback xmlns="">
          <p:sp>
            <p:nvSpPr>
              <p:cNvPr id="10" name="Parallelogram 9">
                <a:extLst>
                  <a:ext uri="{FF2B5EF4-FFF2-40B4-BE49-F238E27FC236}">
                    <a16:creationId xmlns:a16="http://schemas.microsoft.com/office/drawing/2014/main" id="{CA63FB23-24E4-4923-349F-57AA6272EADA}"/>
                  </a:ext>
                </a:extLst>
              </p:cNvPr>
              <p:cNvSpPr>
                <a:spLocks noRot="1" noChangeAspect="1" noMove="1" noResize="1" noEditPoints="1" noAdjustHandles="1" noChangeArrowheads="1" noChangeShapeType="1" noTextEdit="1"/>
              </p:cNvSpPr>
              <p:nvPr/>
            </p:nvSpPr>
            <p:spPr>
              <a:xfrm>
                <a:off x="2518745" y="3248185"/>
                <a:ext cx="3539908" cy="778598"/>
              </a:xfrm>
              <a:prstGeom prst="parallelogram">
                <a:avLst/>
              </a:prstGeom>
              <a:blipFill>
                <a:blip r:embed="rId3"/>
                <a:stretch>
                  <a:fillRect/>
                </a:stretch>
              </a:blipFill>
            </p:spPr>
            <p:txBody>
              <a:bodyPr/>
              <a:lstStyle/>
              <a:p>
                <a:r>
                  <a:rPr lang="zh-TW" altLang="en-US">
                    <a:noFill/>
                  </a:rPr>
                  <a:t> </a:t>
                </a:r>
              </a:p>
            </p:txBody>
          </p:sp>
        </mc:Fallback>
      </mc:AlternateContent>
      <p:sp>
        <p:nvSpPr>
          <p:cNvPr id="12" name="Rectangle 11">
            <a:extLst>
              <a:ext uri="{FF2B5EF4-FFF2-40B4-BE49-F238E27FC236}">
                <a16:creationId xmlns:a16="http://schemas.microsoft.com/office/drawing/2014/main" id="{B4D6DD97-C610-6160-A530-ED7EBA2209A3}"/>
              </a:ext>
            </a:extLst>
          </p:cNvPr>
          <p:cNvSpPr/>
          <p:nvPr/>
        </p:nvSpPr>
        <p:spPr>
          <a:xfrm>
            <a:off x="2634932" y="4397148"/>
            <a:ext cx="3307533" cy="7785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Differentiable AIE Model</a:t>
            </a:r>
          </a:p>
        </p:txBody>
      </p:sp>
      <mc:AlternateContent xmlns:mc="http://schemas.openxmlformats.org/markup-compatibility/2006" xmlns:a14="http://schemas.microsoft.com/office/drawing/2010/main">
        <mc:Choice Requires="a14">
          <p:sp>
            <p:nvSpPr>
              <p:cNvPr id="16" name="Parallelogram 15">
                <a:extLst>
                  <a:ext uri="{FF2B5EF4-FFF2-40B4-BE49-F238E27FC236}">
                    <a16:creationId xmlns:a16="http://schemas.microsoft.com/office/drawing/2014/main" id="{092178A9-A5A1-E99E-F423-44417884799C}"/>
                  </a:ext>
                </a:extLst>
              </p:cNvPr>
              <p:cNvSpPr/>
              <p:nvPr/>
            </p:nvSpPr>
            <p:spPr>
              <a:xfrm>
                <a:off x="2481400" y="5563412"/>
                <a:ext cx="3614599" cy="939732"/>
              </a:xfrm>
              <a:prstGeom prst="parallelogram">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Predicted State Trajectory:</a:t>
                </a:r>
              </a:p>
              <a:p>
                <a:pPr algn="ctr"/>
                <a:r>
                  <a:rPr lang="en-US" altLang="zh-TW" dirty="0"/>
                  <a:t> </a:t>
                </a:r>
                <a14:m>
                  <m:oMath xmlns:m="http://schemas.openxmlformats.org/officeDocument/2006/math">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𝑥</m:t>
                            </m:r>
                          </m:e>
                        </m:acc>
                      </m:e>
                      <m:sub>
                        <m:r>
                          <a:rPr lang="en-US" altLang="zh-TW" b="0" i="1" smtClean="0">
                            <a:latin typeface="Cambria Math" panose="02040503050406030204" pitchFamily="18" charset="0"/>
                          </a:rPr>
                          <m:t>𝑘</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e>
                      <m:sub>
                        <m:r>
                          <a:rPr lang="en-US" altLang="zh-TW" i="1">
                            <a:latin typeface="Cambria Math" panose="02040503050406030204" pitchFamily="18" charset="0"/>
                          </a:rPr>
                          <m:t>𝑘</m:t>
                        </m:r>
                        <m:r>
                          <a:rPr lang="en-US" altLang="zh-TW" i="1">
                            <a:latin typeface="Cambria Math" panose="02040503050406030204" pitchFamily="18" charset="0"/>
                          </a:rPr>
                          <m:t>+</m:t>
                        </m:r>
                        <m:r>
                          <a:rPr lang="en-US" altLang="zh-TW" b="0" i="1" smtClean="0">
                            <a:latin typeface="Cambria Math" panose="02040503050406030204" pitchFamily="18" charset="0"/>
                          </a:rPr>
                          <m:t>𝑁</m:t>
                        </m:r>
                      </m:sub>
                    </m:sSub>
                  </m:oMath>
                </a14:m>
                <a:endParaRPr lang="zh-TW" altLang="en-US" dirty="0"/>
              </a:p>
            </p:txBody>
          </p:sp>
        </mc:Choice>
        <mc:Fallback xmlns="">
          <p:sp>
            <p:nvSpPr>
              <p:cNvPr id="16" name="Parallelogram 15">
                <a:extLst>
                  <a:ext uri="{FF2B5EF4-FFF2-40B4-BE49-F238E27FC236}">
                    <a16:creationId xmlns:a16="http://schemas.microsoft.com/office/drawing/2014/main" id="{092178A9-A5A1-E99E-F423-44417884799C}"/>
                  </a:ext>
                </a:extLst>
              </p:cNvPr>
              <p:cNvSpPr>
                <a:spLocks noRot="1" noChangeAspect="1" noMove="1" noResize="1" noEditPoints="1" noAdjustHandles="1" noChangeArrowheads="1" noChangeShapeType="1" noTextEdit="1"/>
              </p:cNvSpPr>
              <p:nvPr/>
            </p:nvSpPr>
            <p:spPr>
              <a:xfrm>
                <a:off x="2481400" y="5563412"/>
                <a:ext cx="3614599" cy="939732"/>
              </a:xfrm>
              <a:prstGeom prst="parallelogram">
                <a:avLst/>
              </a:prstGeom>
              <a:blipFill>
                <a:blip r:embed="rId4"/>
                <a:stretch>
                  <a:fillRect/>
                </a:stretch>
              </a:blipFill>
            </p:spPr>
            <p:txBody>
              <a:bodyPr/>
              <a:lstStyle/>
              <a:p>
                <a:r>
                  <a:rPr lang="zh-TW" altLang="en-US">
                    <a:noFill/>
                  </a:rPr>
                  <a:t> </a:t>
                </a:r>
              </a:p>
            </p:txBody>
          </p:sp>
        </mc:Fallback>
      </mc:AlternateContent>
      <p:sp>
        <p:nvSpPr>
          <p:cNvPr id="18" name="Rectangle 17">
            <a:extLst>
              <a:ext uri="{FF2B5EF4-FFF2-40B4-BE49-F238E27FC236}">
                <a16:creationId xmlns:a16="http://schemas.microsoft.com/office/drawing/2014/main" id="{556770BE-ED83-4111-9BB0-24EC0938B61D}"/>
              </a:ext>
            </a:extLst>
          </p:cNvPr>
          <p:cNvSpPr/>
          <p:nvPr/>
        </p:nvSpPr>
        <p:spPr>
          <a:xfrm>
            <a:off x="6339687" y="5755924"/>
            <a:ext cx="2050611" cy="5547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Cost Function</a:t>
            </a:r>
            <a:endParaRPr lang="zh-TW" altLang="en-US"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173DB02-E14F-2AB7-3185-931D9CC502B3}"/>
                  </a:ext>
                </a:extLst>
              </p:cNvPr>
              <p:cNvSpPr txBox="1"/>
              <p:nvPr/>
            </p:nvSpPr>
            <p:spPr>
              <a:xfrm>
                <a:off x="8633988" y="3123825"/>
                <a:ext cx="3448315" cy="961930"/>
              </a:xfrm>
              <a:prstGeom prst="rect">
                <a:avLst/>
              </a:prstGeom>
              <a:noFill/>
            </p:spPr>
            <p:txBody>
              <a:bodyPr wrap="none" lIns="0" tIns="0" rIns="0" bIns="0" rtlCol="0">
                <a:spAutoFit/>
              </a:bodyPr>
              <a:lstStyle/>
              <a:p>
                <a:pPr/>
                <a14:m>
                  <m:oMathPara xmlns:m="http://schemas.openxmlformats.org/officeDocument/2006/math">
                    <m:o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𝑂</m:t>
                          </m:r>
                        </m:e>
                        <m:sub>
                          <m:r>
                            <a:rPr lang="en-US" altLang="zh-TW" b="0" i="1" smtClean="0">
                              <a:latin typeface="Cambria Math" panose="02040503050406030204" pitchFamily="18" charset="0"/>
                            </a:rPr>
                            <m:t>2,</m:t>
                          </m:r>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𝑇𝐸𝑀𝑃</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𝑂</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𝐷𝑜𝑠</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𝑒</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𝐷𝑜</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𝑘</m:t>
                          </m:r>
                        </m:sub>
                      </m:sSub>
                      <m:r>
                        <a:rPr lang="en-US" altLang="zh-TW" b="0" i="0" smtClean="0">
                          <a:latin typeface="Cambria Math" panose="02040503050406030204" pitchFamily="18" charset="0"/>
                        </a:rPr>
                        <m:t>]</m:t>
                      </m:r>
                    </m:oMath>
                  </m:oMathPara>
                </a14:m>
                <a:endParaRPr lang="en-US" altLang="zh-TW" dirty="0"/>
              </a:p>
              <a:p>
                <a:pPr/>
                <a14:m>
                  <m:oMathPara xmlns:m="http://schemas.openxmlformats.org/officeDocument/2006/math">
                    <m:o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𝑘</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𝑓</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oMath>
                  </m:oMathPara>
                </a14:m>
                <a:endParaRPr lang="en-US" altLang="zh-TW" dirty="0"/>
              </a:p>
              <a:p>
                <a:pPr/>
                <a14:m>
                  <m:oMathPara xmlns:m="http://schemas.openxmlformats.org/officeDocument/2006/math">
                    <m:oMath>
                      <m:func>
                        <m:funcPr>
                          <m:ctrlPr>
                            <a:rPr lang="en-US" altLang="zh-TW" i="1" smtClean="0">
                              <a:latin typeface="Cambria Math" panose="02040503050406030204" pitchFamily="18" charset="0"/>
                            </a:rPr>
                          </m:ctrlPr>
                        </m:funcPr>
                        <m:fName>
                          <m:limLow>
                            <m:limLowPr>
                              <m:ctrlPr>
                                <a:rPr lang="en-US" altLang="zh-TW" i="0" smtClean="0">
                                  <a:latin typeface="Cambria Math" panose="02040503050406030204" pitchFamily="18" charset="0"/>
                                </a:rPr>
                              </m:ctrlPr>
                            </m:limLowPr>
                            <m:e>
                              <m:r>
                                <m:rPr>
                                  <m:sty m:val="p"/>
                                </m:rPr>
                                <a:rPr lang="en-US" altLang="zh-TW" i="0" smtClean="0">
                                  <a:latin typeface="Cambria Math" panose="02040503050406030204" pitchFamily="18" charset="0"/>
                                </a:rPr>
                                <m:t>min</m:t>
                              </m:r>
                            </m:e>
                            <m:li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𝑘</m:t>
                                  </m:r>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−1</m:t>
                                  </m:r>
                                </m:sub>
                              </m:sSub>
                            </m:lim>
                          </m:limLow>
                          <m:r>
                            <a:rPr lang="en-US" altLang="zh-TW" b="0" i="1" smtClean="0">
                              <a:latin typeface="Cambria Math" panose="02040503050406030204" pitchFamily="18" charset="0"/>
                            </a:rPr>
                            <m:t>𝑤</m:t>
                          </m:r>
                        </m:fName>
                        <m:e>
                          <m:r>
                            <a:rPr lang="en-US" altLang="zh-TW" b="0" i="1" smtClean="0">
                              <a:latin typeface="Cambria Math" panose="02040503050406030204" pitchFamily="18" charset="0"/>
                            </a:rPr>
                            <m:t>𝐽</m:t>
                          </m:r>
                          <m:r>
                            <a:rPr lang="en-US" altLang="zh-TW" b="0" i="1" smtClean="0">
                              <a:latin typeface="Cambria Math" panose="02040503050406030204" pitchFamily="18" charset="0"/>
                            </a:rPr>
                            <m:t>(</m:t>
                          </m:r>
                          <m:r>
                            <a:rPr lang="en-US" altLang="zh-TW" b="0" i="1" smtClean="0">
                              <a:latin typeface="Cambria Math" panose="02040503050406030204" pitchFamily="18" charset="0"/>
                            </a:rPr>
                            <m:t>𝐷𝑜</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𝑘</m:t>
                              </m:r>
                              <m:r>
                                <a:rPr lang="en-US" altLang="zh-TW" b="0" i="1" smtClean="0">
                                  <a:latin typeface="Cambria Math" panose="02040503050406030204" pitchFamily="18" charset="0"/>
                                </a:rPr>
                                <m:t>+</m:t>
                              </m:r>
                              <m:r>
                                <a:rPr lang="en-US" altLang="zh-TW" b="0" i="1" smtClean="0">
                                  <a:latin typeface="Cambria Math" panose="02040503050406030204" pitchFamily="18" charset="0"/>
                                </a:rPr>
                                <m:t>𝑁</m:t>
                              </m:r>
                            </m:sub>
                          </m:sSub>
                        </m:e>
                      </m:func>
                      <m:r>
                        <a:rPr lang="en-US" altLang="zh-TW" b="0" i="1" smtClean="0">
                          <a:latin typeface="Cambria Math" panose="02040503050406030204" pitchFamily="18" charset="0"/>
                        </a:rPr>
                        <m:t>,</m:t>
                      </m:r>
                      <m:r>
                        <a:rPr lang="en-US" altLang="zh-TW" b="0" i="1" smtClean="0">
                          <a:latin typeface="Cambria Math" panose="02040503050406030204" pitchFamily="18" charset="0"/>
                        </a:rPr>
                        <m:t>𝐷𝑜</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𝑡𝑎𝑟𝑔𝑒𝑡</m:t>
                          </m:r>
                        </m:sub>
                      </m:sSub>
                      <m:r>
                        <a:rPr lang="en-US" altLang="zh-TW" b="0" i="1" smtClean="0">
                          <a:latin typeface="Cambria Math" panose="02040503050406030204" pitchFamily="18" charset="0"/>
                        </a:rPr>
                        <m:t>)</m:t>
                      </m:r>
                    </m:oMath>
                  </m:oMathPara>
                </a14:m>
                <a:endParaRPr lang="zh-TW" altLang="en-US" dirty="0"/>
              </a:p>
            </p:txBody>
          </p:sp>
        </mc:Choice>
        <mc:Fallback xmlns="">
          <p:sp>
            <p:nvSpPr>
              <p:cNvPr id="36" name="TextBox 35">
                <a:extLst>
                  <a:ext uri="{FF2B5EF4-FFF2-40B4-BE49-F238E27FC236}">
                    <a16:creationId xmlns:a16="http://schemas.microsoft.com/office/drawing/2014/main" id="{E173DB02-E14F-2AB7-3185-931D9CC502B3}"/>
                  </a:ext>
                </a:extLst>
              </p:cNvPr>
              <p:cNvSpPr txBox="1">
                <a:spLocks noRot="1" noChangeAspect="1" noMove="1" noResize="1" noEditPoints="1" noAdjustHandles="1" noChangeArrowheads="1" noChangeShapeType="1" noTextEdit="1"/>
              </p:cNvSpPr>
              <p:nvPr/>
            </p:nvSpPr>
            <p:spPr>
              <a:xfrm>
                <a:off x="8633988" y="3123825"/>
                <a:ext cx="3448315" cy="961930"/>
              </a:xfrm>
              <a:prstGeom prst="rect">
                <a:avLst/>
              </a:prstGeom>
              <a:blipFill>
                <a:blip r:embed="rId5"/>
                <a:stretch>
                  <a:fillRect l="-530" r="-2120" b="-5063"/>
                </a:stretch>
              </a:blipFill>
            </p:spPr>
            <p:txBody>
              <a:bodyPr/>
              <a:lstStyle/>
              <a:p>
                <a:r>
                  <a:rPr lang="zh-TW" altLang="en-US">
                    <a:noFill/>
                  </a:rPr>
                  <a:t> </a:t>
                </a:r>
              </a:p>
            </p:txBody>
          </p:sp>
        </mc:Fallback>
      </mc:AlternateContent>
      <p:cxnSp>
        <p:nvCxnSpPr>
          <p:cNvPr id="70" name="Straight Arrow Connector 69">
            <a:extLst>
              <a:ext uri="{FF2B5EF4-FFF2-40B4-BE49-F238E27FC236}">
                <a16:creationId xmlns:a16="http://schemas.microsoft.com/office/drawing/2014/main" id="{D28FEBAD-EB58-832E-5D35-0708BC275423}"/>
              </a:ext>
            </a:extLst>
          </p:cNvPr>
          <p:cNvCxnSpPr>
            <a:cxnSpLocks/>
            <a:stCxn id="7" idx="4"/>
            <a:endCxn id="8" idx="0"/>
          </p:cNvCxnSpPr>
          <p:nvPr/>
        </p:nvCxnSpPr>
        <p:spPr>
          <a:xfrm>
            <a:off x="4288699" y="1709923"/>
            <a:ext cx="0" cy="38929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a:extLst>
              <a:ext uri="{FF2B5EF4-FFF2-40B4-BE49-F238E27FC236}">
                <a16:creationId xmlns:a16="http://schemas.microsoft.com/office/drawing/2014/main" id="{CA6648C6-1E87-039A-F5D7-89193004C45E}"/>
              </a:ext>
            </a:extLst>
          </p:cNvPr>
          <p:cNvCxnSpPr>
            <a:stCxn id="8" idx="2"/>
            <a:endCxn id="10" idx="0"/>
          </p:cNvCxnSpPr>
          <p:nvPr/>
        </p:nvCxnSpPr>
        <p:spPr>
          <a:xfrm>
            <a:off x="4288699" y="2877820"/>
            <a:ext cx="0" cy="37036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a:extLst>
              <a:ext uri="{FF2B5EF4-FFF2-40B4-BE49-F238E27FC236}">
                <a16:creationId xmlns:a16="http://schemas.microsoft.com/office/drawing/2014/main" id="{8C7090F7-BDCA-1AA6-A671-21373EBB614B}"/>
              </a:ext>
            </a:extLst>
          </p:cNvPr>
          <p:cNvCxnSpPr>
            <a:stCxn id="10" idx="4"/>
            <a:endCxn id="12" idx="0"/>
          </p:cNvCxnSpPr>
          <p:nvPr/>
        </p:nvCxnSpPr>
        <p:spPr>
          <a:xfrm>
            <a:off x="4288699" y="4026783"/>
            <a:ext cx="0" cy="37036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3" name="Straight Arrow Connector 82">
            <a:extLst>
              <a:ext uri="{FF2B5EF4-FFF2-40B4-BE49-F238E27FC236}">
                <a16:creationId xmlns:a16="http://schemas.microsoft.com/office/drawing/2014/main" id="{2EE2D19B-5D53-94F6-A2B2-7FE6DEED802B}"/>
              </a:ext>
            </a:extLst>
          </p:cNvPr>
          <p:cNvCxnSpPr>
            <a:stCxn id="12" idx="2"/>
            <a:endCxn id="16" idx="0"/>
          </p:cNvCxnSpPr>
          <p:nvPr/>
        </p:nvCxnSpPr>
        <p:spPr>
          <a:xfrm>
            <a:off x="4288699" y="5175746"/>
            <a:ext cx="1" cy="38766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144498DB-6283-BAEF-3B18-71B27181C38A}"/>
              </a:ext>
            </a:extLst>
          </p:cNvPr>
          <p:cNvCxnSpPr>
            <a:stCxn id="16" idx="2"/>
            <a:endCxn id="18" idx="1"/>
          </p:cNvCxnSpPr>
          <p:nvPr/>
        </p:nvCxnSpPr>
        <p:spPr>
          <a:xfrm>
            <a:off x="5978533" y="6033278"/>
            <a:ext cx="36115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8" name="Connector: Elbow 87">
            <a:extLst>
              <a:ext uri="{FF2B5EF4-FFF2-40B4-BE49-F238E27FC236}">
                <a16:creationId xmlns:a16="http://schemas.microsoft.com/office/drawing/2014/main" id="{1195E6BC-54BE-E222-36D5-65FB0D7E7348}"/>
              </a:ext>
            </a:extLst>
          </p:cNvPr>
          <p:cNvCxnSpPr>
            <a:cxnSpLocks/>
            <a:stCxn id="18" idx="0"/>
          </p:cNvCxnSpPr>
          <p:nvPr/>
        </p:nvCxnSpPr>
        <p:spPr>
          <a:xfrm rot="16200000" flipV="1">
            <a:off x="4841348" y="3232279"/>
            <a:ext cx="3239993" cy="1807298"/>
          </a:xfrm>
          <a:prstGeom prst="bentConnector3">
            <a:avLst>
              <a:gd name="adj1" fmla="val 99738"/>
            </a:avLst>
          </a:prstGeom>
          <a:ln w="28575">
            <a:tailEnd type="triangle"/>
          </a:ln>
        </p:spPr>
        <p:style>
          <a:lnRef idx="1">
            <a:schemeClr val="dk1"/>
          </a:lnRef>
          <a:fillRef idx="0">
            <a:schemeClr val="dk1"/>
          </a:fillRef>
          <a:effectRef idx="0">
            <a:schemeClr val="dk1"/>
          </a:effectRef>
          <a:fontRef idx="minor">
            <a:schemeClr val="tx1"/>
          </a:fontRef>
        </p:style>
      </p:cxnSp>
      <p:sp>
        <p:nvSpPr>
          <p:cNvPr id="93" name="TextBox 92">
            <a:extLst>
              <a:ext uri="{FF2B5EF4-FFF2-40B4-BE49-F238E27FC236}">
                <a16:creationId xmlns:a16="http://schemas.microsoft.com/office/drawing/2014/main" id="{8D76EABC-6EF2-A61B-5E01-2CB7003CE0DC}"/>
              </a:ext>
            </a:extLst>
          </p:cNvPr>
          <p:cNvSpPr txBox="1"/>
          <p:nvPr/>
        </p:nvSpPr>
        <p:spPr>
          <a:xfrm>
            <a:off x="8633988" y="4222155"/>
            <a:ext cx="3425227" cy="923330"/>
          </a:xfrm>
          <a:prstGeom prst="rect">
            <a:avLst/>
          </a:prstGeom>
          <a:noFill/>
        </p:spPr>
        <p:txBody>
          <a:bodyPr wrap="square">
            <a:spAutoFit/>
          </a:bodyPr>
          <a:lstStyle/>
          <a:p>
            <a:pPr algn="ctr"/>
            <a:r>
              <a:rPr lang="zh-TW" altLang="zh-TW" dirty="0"/>
              <a:t>AIE model predicts the next curing state from the current state and projected mask</a:t>
            </a:r>
            <a:endParaRPr lang="zh-TW" altLang="en-US" dirty="0"/>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84285CC7-B526-7A17-BB39-8B0001697F38}"/>
                  </a:ext>
                </a:extLst>
              </p:cNvPr>
              <p:cNvSpPr txBox="1"/>
              <p:nvPr/>
            </p:nvSpPr>
            <p:spPr>
              <a:xfrm>
                <a:off x="7111099" y="2148815"/>
                <a:ext cx="485133" cy="307777"/>
              </a:xfrm>
              <a:prstGeom prst="rect">
                <a:avLst/>
              </a:prstGeom>
              <a:noFill/>
            </p:spPr>
            <p:txBody>
              <a:bodyPr wrap="none" lIns="0" tIns="0" rIns="0" bIns="0" rtlCol="0">
                <a:spAutoFit/>
              </a:bodyPr>
              <a:lstStyle/>
              <a:p>
                <a:pPr/>
                <a14:m>
                  <m:oMathPara xmlns:m="http://schemas.openxmlformats.org/officeDocument/2006/math">
                    <m:oMath>
                      <m:sSub>
                        <m:sSubPr>
                          <m:ctrlPr>
                            <a:rPr lang="zh-TW" altLang="en-US" sz="2000" b="1" i="1" smtClean="0">
                              <a:latin typeface="Cambria Math" panose="02040503050406030204" pitchFamily="18" charset="0"/>
                            </a:rPr>
                          </m:ctrlPr>
                        </m:sSubPr>
                        <m:e>
                          <m:r>
                            <a:rPr lang="zh-TW" altLang="en-US" sz="2000" b="1" i="1" smtClean="0">
                              <a:latin typeface="Cambria Math" panose="02040503050406030204" pitchFamily="18" charset="0"/>
                            </a:rPr>
                            <m:t>𝜵</m:t>
                          </m:r>
                        </m:e>
                        <m:sub>
                          <m:r>
                            <a:rPr lang="en-US" altLang="zh-TW" sz="2000" b="1" i="1" smtClean="0">
                              <a:latin typeface="Cambria Math" panose="02040503050406030204" pitchFamily="18" charset="0"/>
                            </a:rPr>
                            <m:t>𝑼</m:t>
                          </m:r>
                        </m:sub>
                      </m:sSub>
                      <m:r>
                        <a:rPr lang="en-US" altLang="zh-TW" sz="2000" b="1" i="1" smtClean="0">
                          <a:latin typeface="Cambria Math" panose="02040503050406030204" pitchFamily="18" charset="0"/>
                        </a:rPr>
                        <m:t>𝑱</m:t>
                      </m:r>
                    </m:oMath>
                  </m:oMathPara>
                </a14:m>
                <a:endParaRPr lang="zh-TW" altLang="en-US" sz="2000" b="1" dirty="0"/>
              </a:p>
            </p:txBody>
          </p:sp>
        </mc:Choice>
        <mc:Fallback xmlns="">
          <p:sp>
            <p:nvSpPr>
              <p:cNvPr id="94" name="TextBox 93">
                <a:extLst>
                  <a:ext uri="{FF2B5EF4-FFF2-40B4-BE49-F238E27FC236}">
                    <a16:creationId xmlns:a16="http://schemas.microsoft.com/office/drawing/2014/main" id="{84285CC7-B526-7A17-BB39-8B0001697F38}"/>
                  </a:ext>
                </a:extLst>
              </p:cNvPr>
              <p:cNvSpPr txBox="1">
                <a:spLocks noRot="1" noChangeAspect="1" noMove="1" noResize="1" noEditPoints="1" noAdjustHandles="1" noChangeArrowheads="1" noChangeShapeType="1" noTextEdit="1"/>
              </p:cNvSpPr>
              <p:nvPr/>
            </p:nvSpPr>
            <p:spPr>
              <a:xfrm>
                <a:off x="7111099" y="2148815"/>
                <a:ext cx="485133" cy="307777"/>
              </a:xfrm>
              <a:prstGeom prst="rect">
                <a:avLst/>
              </a:prstGeom>
              <a:blipFill>
                <a:blip r:embed="rId6"/>
                <a:stretch>
                  <a:fillRect l="-12658" r="-17722" b="-2941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 name="Parallelogram 94">
                <a:extLst>
                  <a:ext uri="{FF2B5EF4-FFF2-40B4-BE49-F238E27FC236}">
                    <a16:creationId xmlns:a16="http://schemas.microsoft.com/office/drawing/2014/main" id="{A9BECEDE-4061-7BBA-4FD9-A8842EA34683}"/>
                  </a:ext>
                </a:extLst>
              </p:cNvPr>
              <p:cNvSpPr/>
              <p:nvPr/>
            </p:nvSpPr>
            <p:spPr>
              <a:xfrm>
                <a:off x="594340" y="3316497"/>
                <a:ext cx="1100369" cy="576586"/>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𝑘</m:t>
                          </m:r>
                        </m:sub>
                        <m:sup>
                          <m:r>
                            <a:rPr lang="en-US" altLang="zh-TW" b="0" i="1" smtClean="0">
                              <a:latin typeface="Cambria Math" panose="02040503050406030204" pitchFamily="18" charset="0"/>
                            </a:rPr>
                            <m:t>∗</m:t>
                          </m:r>
                        </m:sup>
                      </m:sSubSup>
                    </m:oMath>
                  </m:oMathPara>
                </a14:m>
                <a:endParaRPr lang="zh-TW" altLang="en-US" i="1" dirty="0"/>
              </a:p>
            </p:txBody>
          </p:sp>
        </mc:Choice>
        <mc:Fallback xmlns="">
          <p:sp>
            <p:nvSpPr>
              <p:cNvPr id="95" name="Parallelogram 94">
                <a:extLst>
                  <a:ext uri="{FF2B5EF4-FFF2-40B4-BE49-F238E27FC236}">
                    <a16:creationId xmlns:a16="http://schemas.microsoft.com/office/drawing/2014/main" id="{A9BECEDE-4061-7BBA-4FD9-A8842EA34683}"/>
                  </a:ext>
                </a:extLst>
              </p:cNvPr>
              <p:cNvSpPr>
                <a:spLocks noRot="1" noChangeAspect="1" noMove="1" noResize="1" noEditPoints="1" noAdjustHandles="1" noChangeArrowheads="1" noChangeShapeType="1" noTextEdit="1"/>
              </p:cNvSpPr>
              <p:nvPr/>
            </p:nvSpPr>
            <p:spPr>
              <a:xfrm>
                <a:off x="594340" y="3316497"/>
                <a:ext cx="1100369" cy="576586"/>
              </a:xfrm>
              <a:prstGeom prst="parallelogram">
                <a:avLst/>
              </a:prstGeom>
              <a:blipFill>
                <a:blip r:embed="rId7"/>
                <a:stretch>
                  <a:fillRect/>
                </a:stretch>
              </a:blipFill>
            </p:spPr>
            <p:txBody>
              <a:bodyPr/>
              <a:lstStyle/>
              <a:p>
                <a:r>
                  <a:rPr lang="zh-TW" altLang="en-US">
                    <a:noFill/>
                  </a:rPr>
                  <a:t> </a:t>
                </a:r>
              </a:p>
            </p:txBody>
          </p:sp>
        </mc:Fallback>
      </mc:AlternateContent>
      <p:cxnSp>
        <p:nvCxnSpPr>
          <p:cNvPr id="98" name="Connector: Elbow 97">
            <a:extLst>
              <a:ext uri="{FF2B5EF4-FFF2-40B4-BE49-F238E27FC236}">
                <a16:creationId xmlns:a16="http://schemas.microsoft.com/office/drawing/2014/main" id="{A4BB2CC4-93C5-1E46-8C3F-D4FBC922B716}"/>
              </a:ext>
            </a:extLst>
          </p:cNvPr>
          <p:cNvCxnSpPr>
            <a:cxnSpLocks/>
            <a:stCxn id="8" idx="1"/>
            <a:endCxn id="95" idx="0"/>
          </p:cNvCxnSpPr>
          <p:nvPr/>
        </p:nvCxnSpPr>
        <p:spPr>
          <a:xfrm rot="10800000" flipV="1">
            <a:off x="1144525" y="2488521"/>
            <a:ext cx="1875180" cy="827976"/>
          </a:xfrm>
          <a:prstGeom prst="bentConnector2">
            <a:avLst/>
          </a:prstGeom>
          <a:ln w="28575">
            <a:tailEnd type="triangle"/>
          </a:ln>
        </p:spPr>
        <p:style>
          <a:lnRef idx="1">
            <a:schemeClr val="dk1"/>
          </a:lnRef>
          <a:fillRef idx="0">
            <a:schemeClr val="dk1"/>
          </a:fillRef>
          <a:effectRef idx="0">
            <a:schemeClr val="dk1"/>
          </a:effectRef>
          <a:fontRef idx="minor">
            <a:schemeClr val="tx1"/>
          </a:fontRef>
        </p:style>
      </p:cxnSp>
      <p:sp>
        <p:nvSpPr>
          <p:cNvPr id="99" name="Rectangle 98">
            <a:extLst>
              <a:ext uri="{FF2B5EF4-FFF2-40B4-BE49-F238E27FC236}">
                <a16:creationId xmlns:a16="http://schemas.microsoft.com/office/drawing/2014/main" id="{02448A95-373B-B5BB-8B4D-4F2F8F6BEE4A}"/>
              </a:ext>
            </a:extLst>
          </p:cNvPr>
          <p:cNvSpPr/>
          <p:nvPr/>
        </p:nvSpPr>
        <p:spPr>
          <a:xfrm>
            <a:off x="112034" y="1760569"/>
            <a:ext cx="8398217" cy="4742575"/>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44C523DE-494B-456D-0B00-EE0E07508E7D}"/>
                  </a:ext>
                </a:extLst>
              </p:cNvPr>
              <p:cNvSpPr txBox="1"/>
              <p:nvPr/>
            </p:nvSpPr>
            <p:spPr>
              <a:xfrm>
                <a:off x="136356" y="1895670"/>
                <a:ext cx="2883347" cy="523220"/>
              </a:xfrm>
              <a:prstGeom prst="rect">
                <a:avLst/>
              </a:prstGeom>
              <a:noFill/>
            </p:spPr>
            <p:txBody>
              <a:bodyPr wrap="square" rtlCol="0">
                <a:spAutoFit/>
              </a:bodyPr>
              <a:lstStyle/>
              <a:p>
                <a:r>
                  <a:rPr lang="zh-TW" altLang="zh-TW" sz="1400" dirty="0"/>
                  <a:t>After optimization converges, apply only</a:t>
                </a:r>
                <a:r>
                  <a:rPr lang="en-US" altLang="zh-TW" sz="1400" dirty="0"/>
                  <a:t> </a:t>
                </a:r>
                <a14:m>
                  <m:oMath xmlns:m="http://schemas.openxmlformats.org/officeDocument/2006/math">
                    <m:sSubSup>
                      <m:sSubSupPr>
                        <m:ctrlPr>
                          <a:rPr lang="en-US" altLang="zh-TW" sz="1400" i="1">
                            <a:latin typeface="Cambria Math" panose="02040503050406030204" pitchFamily="18" charset="0"/>
                          </a:rPr>
                        </m:ctrlPr>
                      </m:sSubSupPr>
                      <m:e>
                        <m:r>
                          <a:rPr lang="en-US" altLang="zh-TW" sz="1400" i="1">
                            <a:latin typeface="Cambria Math" panose="02040503050406030204" pitchFamily="18" charset="0"/>
                          </a:rPr>
                          <m:t>𝑢</m:t>
                        </m:r>
                      </m:e>
                      <m:sub>
                        <m:r>
                          <a:rPr lang="en-US" altLang="zh-TW" sz="1400" i="1">
                            <a:latin typeface="Cambria Math" panose="02040503050406030204" pitchFamily="18" charset="0"/>
                          </a:rPr>
                          <m:t>𝑘</m:t>
                        </m:r>
                      </m:sub>
                      <m:sup>
                        <m:r>
                          <a:rPr lang="en-US" altLang="zh-TW" sz="1400" i="1">
                            <a:latin typeface="Cambria Math" panose="02040503050406030204" pitchFamily="18" charset="0"/>
                          </a:rPr>
                          <m:t>∗</m:t>
                        </m:r>
                      </m:sup>
                    </m:sSubSup>
                  </m:oMath>
                </a14:m>
                <a:r>
                  <a:rPr lang="zh-TW" altLang="zh-TW" sz="1400" dirty="0"/>
                  <a:t> ​and update the state to </a:t>
                </a:r>
                <a14:m>
                  <m:oMath xmlns:m="http://schemas.openxmlformats.org/officeDocument/2006/math">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𝑥</m:t>
                        </m:r>
                      </m:e>
                      <m:sub>
                        <m:r>
                          <a:rPr lang="en-US" altLang="zh-TW" sz="1400" i="1">
                            <a:latin typeface="Cambria Math" panose="02040503050406030204" pitchFamily="18" charset="0"/>
                          </a:rPr>
                          <m:t>𝑘</m:t>
                        </m:r>
                        <m:r>
                          <a:rPr lang="en-US" altLang="zh-TW" sz="1400" i="1">
                            <a:latin typeface="Cambria Math" panose="02040503050406030204" pitchFamily="18" charset="0"/>
                          </a:rPr>
                          <m:t>+1</m:t>
                        </m:r>
                      </m:sub>
                    </m:sSub>
                  </m:oMath>
                </a14:m>
                <a:endParaRPr lang="zh-TW" altLang="en-US" sz="1400" dirty="0"/>
              </a:p>
            </p:txBody>
          </p:sp>
        </mc:Choice>
        <mc:Fallback xmlns="">
          <p:sp>
            <p:nvSpPr>
              <p:cNvPr id="100" name="TextBox 99">
                <a:extLst>
                  <a:ext uri="{FF2B5EF4-FFF2-40B4-BE49-F238E27FC236}">
                    <a16:creationId xmlns:a16="http://schemas.microsoft.com/office/drawing/2014/main" id="{44C523DE-494B-456D-0B00-EE0E07508E7D}"/>
                  </a:ext>
                </a:extLst>
              </p:cNvPr>
              <p:cNvSpPr txBox="1">
                <a:spLocks noRot="1" noChangeAspect="1" noMove="1" noResize="1" noEditPoints="1" noAdjustHandles="1" noChangeArrowheads="1" noChangeShapeType="1" noTextEdit="1"/>
              </p:cNvSpPr>
              <p:nvPr/>
            </p:nvSpPr>
            <p:spPr>
              <a:xfrm>
                <a:off x="136356" y="1895670"/>
                <a:ext cx="2883347" cy="523220"/>
              </a:xfrm>
              <a:prstGeom prst="rect">
                <a:avLst/>
              </a:prstGeom>
              <a:blipFill>
                <a:blip r:embed="rId8"/>
                <a:stretch>
                  <a:fillRect l="-634" t="-2326" b="-10465"/>
                </a:stretch>
              </a:blipFill>
            </p:spPr>
            <p:txBody>
              <a:bodyPr/>
              <a:lstStyle/>
              <a:p>
                <a:r>
                  <a:rPr lang="zh-TW" altLang="en-US">
                    <a:noFill/>
                  </a:rPr>
                  <a:t> </a:t>
                </a:r>
              </a:p>
            </p:txBody>
          </p:sp>
        </mc:Fallback>
      </mc:AlternateContent>
      <p:sp>
        <p:nvSpPr>
          <p:cNvPr id="107" name="Rectangle 106">
            <a:extLst>
              <a:ext uri="{FF2B5EF4-FFF2-40B4-BE49-F238E27FC236}">
                <a16:creationId xmlns:a16="http://schemas.microsoft.com/office/drawing/2014/main" id="{9B7C4434-2F9F-94F9-1B04-3E73E8596DDB}"/>
              </a:ext>
            </a:extLst>
          </p:cNvPr>
          <p:cNvSpPr/>
          <p:nvPr/>
        </p:nvSpPr>
        <p:spPr>
          <a:xfrm>
            <a:off x="537552" y="4410381"/>
            <a:ext cx="1212403" cy="7785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AIE Model</a:t>
            </a:r>
          </a:p>
        </p:txBody>
      </p:sp>
      <p:cxnSp>
        <p:nvCxnSpPr>
          <p:cNvPr id="109" name="Straight Arrow Connector 108">
            <a:extLst>
              <a:ext uri="{FF2B5EF4-FFF2-40B4-BE49-F238E27FC236}">
                <a16:creationId xmlns:a16="http://schemas.microsoft.com/office/drawing/2014/main" id="{DBF629ED-1BF6-09B5-BA62-2C76AD351B67}"/>
              </a:ext>
            </a:extLst>
          </p:cNvPr>
          <p:cNvCxnSpPr>
            <a:stCxn id="95" idx="4"/>
            <a:endCxn id="107" idx="0"/>
          </p:cNvCxnSpPr>
          <p:nvPr/>
        </p:nvCxnSpPr>
        <p:spPr>
          <a:xfrm flipH="1">
            <a:off x="1143754" y="3893083"/>
            <a:ext cx="771" cy="5172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1" name="Parallelogram 110">
                <a:extLst>
                  <a:ext uri="{FF2B5EF4-FFF2-40B4-BE49-F238E27FC236}">
                    <a16:creationId xmlns:a16="http://schemas.microsoft.com/office/drawing/2014/main" id="{98546BAF-A1D6-5E55-8031-7C377280E278}"/>
                  </a:ext>
                </a:extLst>
              </p:cNvPr>
              <p:cNvSpPr/>
              <p:nvPr/>
            </p:nvSpPr>
            <p:spPr>
              <a:xfrm>
                <a:off x="593568" y="5660987"/>
                <a:ext cx="1100369" cy="576586"/>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𝑘</m:t>
                          </m:r>
                          <m:r>
                            <a:rPr lang="en-US" altLang="zh-TW" b="0" i="1" smtClean="0">
                              <a:latin typeface="Cambria Math" panose="02040503050406030204" pitchFamily="18" charset="0"/>
                            </a:rPr>
                            <m:t>+1</m:t>
                          </m:r>
                        </m:sub>
                      </m:sSub>
                    </m:oMath>
                  </m:oMathPara>
                </a14:m>
                <a:endParaRPr lang="zh-TW" altLang="en-US" i="1" dirty="0"/>
              </a:p>
            </p:txBody>
          </p:sp>
        </mc:Choice>
        <mc:Fallback xmlns="">
          <p:sp>
            <p:nvSpPr>
              <p:cNvPr id="111" name="Parallelogram 110">
                <a:extLst>
                  <a:ext uri="{FF2B5EF4-FFF2-40B4-BE49-F238E27FC236}">
                    <a16:creationId xmlns:a16="http://schemas.microsoft.com/office/drawing/2014/main" id="{98546BAF-A1D6-5E55-8031-7C377280E278}"/>
                  </a:ext>
                </a:extLst>
              </p:cNvPr>
              <p:cNvSpPr>
                <a:spLocks noRot="1" noChangeAspect="1" noMove="1" noResize="1" noEditPoints="1" noAdjustHandles="1" noChangeArrowheads="1" noChangeShapeType="1" noTextEdit="1"/>
              </p:cNvSpPr>
              <p:nvPr/>
            </p:nvSpPr>
            <p:spPr>
              <a:xfrm>
                <a:off x="593568" y="5660987"/>
                <a:ext cx="1100369" cy="576586"/>
              </a:xfrm>
              <a:prstGeom prst="parallelogram">
                <a:avLst/>
              </a:prstGeom>
              <a:blipFill>
                <a:blip r:embed="rId9"/>
                <a:stretch>
                  <a:fillRect/>
                </a:stretch>
              </a:blipFill>
            </p:spPr>
            <p:txBody>
              <a:bodyPr/>
              <a:lstStyle/>
              <a:p>
                <a:r>
                  <a:rPr lang="zh-TW" altLang="en-US">
                    <a:noFill/>
                  </a:rPr>
                  <a:t> </a:t>
                </a:r>
              </a:p>
            </p:txBody>
          </p:sp>
        </mc:Fallback>
      </mc:AlternateContent>
      <p:cxnSp>
        <p:nvCxnSpPr>
          <p:cNvPr id="113" name="Straight Arrow Connector 112">
            <a:extLst>
              <a:ext uri="{FF2B5EF4-FFF2-40B4-BE49-F238E27FC236}">
                <a16:creationId xmlns:a16="http://schemas.microsoft.com/office/drawing/2014/main" id="{1AB006D4-F907-2415-BE6F-E786A20193D2}"/>
              </a:ext>
            </a:extLst>
          </p:cNvPr>
          <p:cNvCxnSpPr>
            <a:stCxn id="107" idx="2"/>
            <a:endCxn id="111" idx="0"/>
          </p:cNvCxnSpPr>
          <p:nvPr/>
        </p:nvCxnSpPr>
        <p:spPr>
          <a:xfrm flipH="1">
            <a:off x="1143753" y="5188979"/>
            <a:ext cx="1" cy="472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2943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C2E0A-7101-249C-C1B5-18B5186CA557}"/>
              </a:ext>
            </a:extLst>
          </p:cNvPr>
          <p:cNvSpPr>
            <a:spLocks noGrp="1"/>
          </p:cNvSpPr>
          <p:nvPr>
            <p:ph type="title"/>
          </p:nvPr>
        </p:nvSpPr>
        <p:spPr/>
        <p:txBody>
          <a:bodyPr/>
          <a:lstStyle/>
          <a:p>
            <a:r>
              <a:rPr lang="en-US" altLang="zh-TW" dirty="0"/>
              <a:t>70 mW / 0 mM Tempo for Lines</a:t>
            </a:r>
            <a:endParaRPr lang="zh-TW" altLang="en-US" dirty="0"/>
          </a:p>
        </p:txBody>
      </p:sp>
      <p:sp>
        <p:nvSpPr>
          <p:cNvPr id="3" name="Content Placeholder 2">
            <a:extLst>
              <a:ext uri="{FF2B5EF4-FFF2-40B4-BE49-F238E27FC236}">
                <a16:creationId xmlns:a16="http://schemas.microsoft.com/office/drawing/2014/main" id="{DE77D31F-77C2-E702-C11F-C85BF4A95CEB}"/>
              </a:ext>
            </a:extLst>
          </p:cNvPr>
          <p:cNvSpPr>
            <a:spLocks noGrp="1"/>
          </p:cNvSpPr>
          <p:nvPr>
            <p:ph idx="1"/>
          </p:nvPr>
        </p:nvSpPr>
        <p:spPr/>
        <p:txBody>
          <a:bodyPr/>
          <a:lstStyle/>
          <a:p>
            <a:r>
              <a:rPr lang="en-US" altLang="zh-TW" dirty="0"/>
              <a:t>Goal: 40% DoC @ 3.5 Sec</a:t>
            </a:r>
            <a:endParaRPr lang="zh-TW" altLang="en-US" dirty="0"/>
          </a:p>
        </p:txBody>
      </p:sp>
      <p:sp>
        <p:nvSpPr>
          <p:cNvPr id="4" name="Slide Number Placeholder 3">
            <a:extLst>
              <a:ext uri="{FF2B5EF4-FFF2-40B4-BE49-F238E27FC236}">
                <a16:creationId xmlns:a16="http://schemas.microsoft.com/office/drawing/2014/main" id="{8EFC0D77-44FD-BA7B-66DC-CD06A80CDF81}"/>
              </a:ext>
            </a:extLst>
          </p:cNvPr>
          <p:cNvSpPr>
            <a:spLocks noGrp="1"/>
          </p:cNvSpPr>
          <p:nvPr>
            <p:ph type="sldNum" sz="quarter" idx="12"/>
          </p:nvPr>
        </p:nvSpPr>
        <p:spPr/>
        <p:txBody>
          <a:bodyPr/>
          <a:lstStyle/>
          <a:p>
            <a:fld id="{5A741E56-E3D9-46FF-B47D-3FCBEAE97EB2}" type="slidenum">
              <a:rPr lang="en-US" smtClean="0"/>
              <a:pPr/>
              <a:t>15</a:t>
            </a:fld>
            <a:endParaRPr lang="en-US" dirty="0"/>
          </a:p>
        </p:txBody>
      </p:sp>
      <p:sp>
        <p:nvSpPr>
          <p:cNvPr id="5" name="Footer Placeholder 4">
            <a:extLst>
              <a:ext uri="{FF2B5EF4-FFF2-40B4-BE49-F238E27FC236}">
                <a16:creationId xmlns:a16="http://schemas.microsoft.com/office/drawing/2014/main" id="{C0CFC114-C544-49CD-8D3E-B91415329770}"/>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3A1F6EB1-8C67-3EB5-846C-46C236405DF6}"/>
              </a:ext>
            </a:extLst>
          </p:cNvPr>
          <p:cNvSpPr>
            <a:spLocks noGrp="1"/>
          </p:cNvSpPr>
          <p:nvPr>
            <p:ph type="dt" sz="half" idx="10"/>
          </p:nvPr>
        </p:nvSpPr>
        <p:spPr/>
        <p:txBody>
          <a:bodyPr/>
          <a:lstStyle/>
          <a:p>
            <a:fld id="{E4965A3C-7C44-491F-A2CC-585294ABE301}" type="datetime1">
              <a:rPr lang="en-US" smtClean="0"/>
              <a:t>9/24/26</a:t>
            </a:fld>
            <a:endParaRPr lang="en-US" dirty="0"/>
          </a:p>
        </p:txBody>
      </p:sp>
      <p:grpSp>
        <p:nvGrpSpPr>
          <p:cNvPr id="35" name="Group 34">
            <a:extLst>
              <a:ext uri="{FF2B5EF4-FFF2-40B4-BE49-F238E27FC236}">
                <a16:creationId xmlns:a16="http://schemas.microsoft.com/office/drawing/2014/main" id="{6C5AFD31-535D-7BA0-7F08-2F0C0C7FC27F}"/>
              </a:ext>
            </a:extLst>
          </p:cNvPr>
          <p:cNvGrpSpPr/>
          <p:nvPr/>
        </p:nvGrpSpPr>
        <p:grpSpPr>
          <a:xfrm>
            <a:off x="2438006" y="1689046"/>
            <a:ext cx="2069537" cy="1713475"/>
            <a:chOff x="3126842" y="1556325"/>
            <a:chExt cx="2069537" cy="1713475"/>
          </a:xfrm>
        </p:grpSpPr>
        <p:pic>
          <p:nvPicPr>
            <p:cNvPr id="10" name="Picture 9">
              <a:extLst>
                <a:ext uri="{FF2B5EF4-FFF2-40B4-BE49-F238E27FC236}">
                  <a16:creationId xmlns:a16="http://schemas.microsoft.com/office/drawing/2014/main" id="{1E9E5559-7289-68E1-3048-53796D99708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26842" y="1976339"/>
              <a:ext cx="2069537" cy="1293461"/>
            </a:xfrm>
            <a:prstGeom prst="rect">
              <a:avLst/>
            </a:prstGeom>
          </p:spPr>
        </p:pic>
        <p:sp>
          <p:nvSpPr>
            <p:cNvPr id="21" name="TextBox 20">
              <a:extLst>
                <a:ext uri="{FF2B5EF4-FFF2-40B4-BE49-F238E27FC236}">
                  <a16:creationId xmlns:a16="http://schemas.microsoft.com/office/drawing/2014/main" id="{CB04F5DB-8D42-5E71-A61C-3ACDF3A1FABC}"/>
                </a:ext>
              </a:extLst>
            </p:cNvPr>
            <p:cNvSpPr txBox="1"/>
            <p:nvPr/>
          </p:nvSpPr>
          <p:spPr>
            <a:xfrm>
              <a:off x="3591242" y="1556325"/>
              <a:ext cx="1140736" cy="369332"/>
            </a:xfrm>
            <a:prstGeom prst="rect">
              <a:avLst/>
            </a:prstGeom>
            <a:noFill/>
          </p:spPr>
          <p:txBody>
            <a:bodyPr wrap="square" rtlCol="0">
              <a:spAutoFit/>
            </a:bodyPr>
            <a:lstStyle/>
            <a:p>
              <a:pPr algn="ctr"/>
              <a:r>
                <a:rPr lang="en-US" altLang="zh-TW" dirty="0"/>
                <a:t>T = 0.5 s</a:t>
              </a:r>
              <a:endParaRPr lang="zh-TW" altLang="en-US" dirty="0"/>
            </a:p>
          </p:txBody>
        </p:sp>
      </p:grpSp>
      <p:grpSp>
        <p:nvGrpSpPr>
          <p:cNvPr id="34" name="Group 33">
            <a:extLst>
              <a:ext uri="{FF2B5EF4-FFF2-40B4-BE49-F238E27FC236}">
                <a16:creationId xmlns:a16="http://schemas.microsoft.com/office/drawing/2014/main" id="{7C832972-FCCA-33D1-81F6-D73E98482AAD}"/>
              </a:ext>
            </a:extLst>
          </p:cNvPr>
          <p:cNvGrpSpPr/>
          <p:nvPr/>
        </p:nvGrpSpPr>
        <p:grpSpPr>
          <a:xfrm>
            <a:off x="230582" y="1689046"/>
            <a:ext cx="2069537" cy="1713475"/>
            <a:chOff x="336831" y="1556325"/>
            <a:chExt cx="2069537" cy="1713475"/>
          </a:xfrm>
        </p:grpSpPr>
        <p:pic>
          <p:nvPicPr>
            <p:cNvPr id="8" name="Picture 7">
              <a:extLst>
                <a:ext uri="{FF2B5EF4-FFF2-40B4-BE49-F238E27FC236}">
                  <a16:creationId xmlns:a16="http://schemas.microsoft.com/office/drawing/2014/main" id="{0F8181E2-1BFF-0EF6-6D4D-89164E90E7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6831" y="1976339"/>
              <a:ext cx="2069537" cy="1293461"/>
            </a:xfrm>
            <a:prstGeom prst="rect">
              <a:avLst/>
            </a:prstGeom>
          </p:spPr>
        </p:pic>
        <p:sp>
          <p:nvSpPr>
            <p:cNvPr id="23" name="TextBox 22">
              <a:extLst>
                <a:ext uri="{FF2B5EF4-FFF2-40B4-BE49-F238E27FC236}">
                  <a16:creationId xmlns:a16="http://schemas.microsoft.com/office/drawing/2014/main" id="{4D16DA58-F427-E005-81AD-960052988B14}"/>
                </a:ext>
              </a:extLst>
            </p:cNvPr>
            <p:cNvSpPr txBox="1"/>
            <p:nvPr/>
          </p:nvSpPr>
          <p:spPr>
            <a:xfrm>
              <a:off x="801231" y="1556325"/>
              <a:ext cx="1140736" cy="369332"/>
            </a:xfrm>
            <a:prstGeom prst="rect">
              <a:avLst/>
            </a:prstGeom>
            <a:noFill/>
          </p:spPr>
          <p:txBody>
            <a:bodyPr wrap="square" rtlCol="0">
              <a:spAutoFit/>
            </a:bodyPr>
            <a:lstStyle/>
            <a:p>
              <a:pPr algn="ctr"/>
              <a:r>
                <a:rPr lang="en-US" altLang="zh-TW" dirty="0"/>
                <a:t>T = 0.0 s</a:t>
              </a:r>
              <a:endParaRPr lang="zh-TW" altLang="en-US" dirty="0"/>
            </a:p>
          </p:txBody>
        </p:sp>
      </p:grpSp>
      <p:grpSp>
        <p:nvGrpSpPr>
          <p:cNvPr id="40" name="Group 39">
            <a:extLst>
              <a:ext uri="{FF2B5EF4-FFF2-40B4-BE49-F238E27FC236}">
                <a16:creationId xmlns:a16="http://schemas.microsoft.com/office/drawing/2014/main" id="{92049B64-2D6F-44F7-F282-2FE08D57BC1E}"/>
              </a:ext>
            </a:extLst>
          </p:cNvPr>
          <p:cNvGrpSpPr/>
          <p:nvPr/>
        </p:nvGrpSpPr>
        <p:grpSpPr>
          <a:xfrm>
            <a:off x="6852854" y="4209030"/>
            <a:ext cx="2069537" cy="1739206"/>
            <a:chOff x="8640471" y="4247332"/>
            <a:chExt cx="2069537" cy="1739206"/>
          </a:xfrm>
        </p:grpSpPr>
        <p:pic>
          <p:nvPicPr>
            <p:cNvPr id="20" name="Picture 19">
              <a:extLst>
                <a:ext uri="{FF2B5EF4-FFF2-40B4-BE49-F238E27FC236}">
                  <a16:creationId xmlns:a16="http://schemas.microsoft.com/office/drawing/2014/main" id="{52FD8EBE-C092-78AB-9749-CD0092BE96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40471" y="4693077"/>
              <a:ext cx="2069537" cy="1293461"/>
            </a:xfrm>
            <a:prstGeom prst="rect">
              <a:avLst/>
            </a:prstGeom>
          </p:spPr>
        </p:pic>
        <p:sp>
          <p:nvSpPr>
            <p:cNvPr id="25" name="TextBox 24">
              <a:extLst>
                <a:ext uri="{FF2B5EF4-FFF2-40B4-BE49-F238E27FC236}">
                  <a16:creationId xmlns:a16="http://schemas.microsoft.com/office/drawing/2014/main" id="{D632ADB3-7126-0A59-751C-0554253F0B76}"/>
                </a:ext>
              </a:extLst>
            </p:cNvPr>
            <p:cNvSpPr txBox="1"/>
            <p:nvPr/>
          </p:nvSpPr>
          <p:spPr>
            <a:xfrm>
              <a:off x="9104871" y="4247332"/>
              <a:ext cx="1140736" cy="369332"/>
            </a:xfrm>
            <a:prstGeom prst="rect">
              <a:avLst/>
            </a:prstGeom>
            <a:noFill/>
          </p:spPr>
          <p:txBody>
            <a:bodyPr wrap="square" rtlCol="0">
              <a:spAutoFit/>
            </a:bodyPr>
            <a:lstStyle/>
            <a:p>
              <a:pPr algn="ctr"/>
              <a:r>
                <a:rPr lang="en-US" altLang="zh-TW" dirty="0"/>
                <a:t>T = 3.0 s</a:t>
              </a:r>
              <a:endParaRPr lang="zh-TW" altLang="en-US" dirty="0"/>
            </a:p>
          </p:txBody>
        </p:sp>
      </p:grpSp>
      <p:grpSp>
        <p:nvGrpSpPr>
          <p:cNvPr id="39" name="Group 38">
            <a:extLst>
              <a:ext uri="{FF2B5EF4-FFF2-40B4-BE49-F238E27FC236}">
                <a16:creationId xmlns:a16="http://schemas.microsoft.com/office/drawing/2014/main" id="{AA298ECF-B1B7-A261-FE70-F7A1D9B20119}"/>
              </a:ext>
            </a:extLst>
          </p:cNvPr>
          <p:cNvGrpSpPr/>
          <p:nvPr/>
        </p:nvGrpSpPr>
        <p:grpSpPr>
          <a:xfrm>
            <a:off x="4645430" y="4234762"/>
            <a:ext cx="2069537" cy="1713474"/>
            <a:chOff x="5883656" y="4247332"/>
            <a:chExt cx="2069537" cy="1713474"/>
          </a:xfrm>
        </p:grpSpPr>
        <p:pic>
          <p:nvPicPr>
            <p:cNvPr id="18" name="Picture 17">
              <a:extLst>
                <a:ext uri="{FF2B5EF4-FFF2-40B4-BE49-F238E27FC236}">
                  <a16:creationId xmlns:a16="http://schemas.microsoft.com/office/drawing/2014/main" id="{A88EB986-51D0-A6FA-3D0D-BFFE555406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83656" y="4667345"/>
              <a:ext cx="2069537" cy="1293461"/>
            </a:xfrm>
            <a:prstGeom prst="rect">
              <a:avLst/>
            </a:prstGeom>
          </p:spPr>
        </p:pic>
        <p:sp>
          <p:nvSpPr>
            <p:cNvPr id="27" name="TextBox 26">
              <a:extLst>
                <a:ext uri="{FF2B5EF4-FFF2-40B4-BE49-F238E27FC236}">
                  <a16:creationId xmlns:a16="http://schemas.microsoft.com/office/drawing/2014/main" id="{6A5FA5FD-E4F2-2E7E-F476-A4A6BDF3DD27}"/>
                </a:ext>
              </a:extLst>
            </p:cNvPr>
            <p:cNvSpPr txBox="1"/>
            <p:nvPr/>
          </p:nvSpPr>
          <p:spPr>
            <a:xfrm>
              <a:off x="6348056" y="4247332"/>
              <a:ext cx="1140736" cy="369332"/>
            </a:xfrm>
            <a:prstGeom prst="rect">
              <a:avLst/>
            </a:prstGeom>
            <a:noFill/>
          </p:spPr>
          <p:txBody>
            <a:bodyPr wrap="square" rtlCol="0">
              <a:spAutoFit/>
            </a:bodyPr>
            <a:lstStyle/>
            <a:p>
              <a:pPr algn="ctr"/>
              <a:r>
                <a:rPr lang="en-US" altLang="zh-TW" dirty="0"/>
                <a:t>T = 2.5 s</a:t>
              </a:r>
              <a:endParaRPr lang="zh-TW" altLang="en-US" dirty="0"/>
            </a:p>
          </p:txBody>
        </p:sp>
      </p:grpSp>
      <p:grpSp>
        <p:nvGrpSpPr>
          <p:cNvPr id="37" name="Group 36">
            <a:extLst>
              <a:ext uri="{FF2B5EF4-FFF2-40B4-BE49-F238E27FC236}">
                <a16:creationId xmlns:a16="http://schemas.microsoft.com/office/drawing/2014/main" id="{F79866ED-070C-2CD8-A5CE-B7A9A1F94CD3}"/>
              </a:ext>
            </a:extLst>
          </p:cNvPr>
          <p:cNvGrpSpPr/>
          <p:nvPr/>
        </p:nvGrpSpPr>
        <p:grpSpPr>
          <a:xfrm>
            <a:off x="230582" y="4247331"/>
            <a:ext cx="2069537" cy="1713475"/>
            <a:chOff x="8565463" y="1556325"/>
            <a:chExt cx="2069537" cy="1713475"/>
          </a:xfrm>
        </p:grpSpPr>
        <p:pic>
          <p:nvPicPr>
            <p:cNvPr id="14" name="Picture 13">
              <a:extLst>
                <a:ext uri="{FF2B5EF4-FFF2-40B4-BE49-F238E27FC236}">
                  <a16:creationId xmlns:a16="http://schemas.microsoft.com/office/drawing/2014/main" id="{D6BCBCFE-F633-2A22-05B6-89DE8C777A4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565463" y="1976339"/>
              <a:ext cx="2069537" cy="1293461"/>
            </a:xfrm>
            <a:prstGeom prst="rect">
              <a:avLst/>
            </a:prstGeom>
          </p:spPr>
        </p:pic>
        <p:sp>
          <p:nvSpPr>
            <p:cNvPr id="31" name="TextBox 30">
              <a:extLst>
                <a:ext uri="{FF2B5EF4-FFF2-40B4-BE49-F238E27FC236}">
                  <a16:creationId xmlns:a16="http://schemas.microsoft.com/office/drawing/2014/main" id="{C2B74060-6557-9465-7AEF-80A2773B2D60}"/>
                </a:ext>
              </a:extLst>
            </p:cNvPr>
            <p:cNvSpPr txBox="1"/>
            <p:nvPr/>
          </p:nvSpPr>
          <p:spPr>
            <a:xfrm>
              <a:off x="9029863" y="1556325"/>
              <a:ext cx="1140736" cy="369332"/>
            </a:xfrm>
            <a:prstGeom prst="rect">
              <a:avLst/>
            </a:prstGeom>
            <a:noFill/>
          </p:spPr>
          <p:txBody>
            <a:bodyPr wrap="square" rtlCol="0">
              <a:spAutoFit/>
            </a:bodyPr>
            <a:lstStyle/>
            <a:p>
              <a:pPr algn="ctr"/>
              <a:r>
                <a:rPr lang="en-US" altLang="zh-TW" dirty="0"/>
                <a:t>T = 1.5 s</a:t>
              </a:r>
              <a:endParaRPr lang="zh-TW" altLang="en-US" dirty="0"/>
            </a:p>
          </p:txBody>
        </p:sp>
      </p:grpSp>
      <p:grpSp>
        <p:nvGrpSpPr>
          <p:cNvPr id="36" name="Group 35">
            <a:extLst>
              <a:ext uri="{FF2B5EF4-FFF2-40B4-BE49-F238E27FC236}">
                <a16:creationId xmlns:a16="http://schemas.microsoft.com/office/drawing/2014/main" id="{458B690F-0DFB-EC96-1988-DFA5063885FA}"/>
              </a:ext>
            </a:extLst>
          </p:cNvPr>
          <p:cNvGrpSpPr/>
          <p:nvPr/>
        </p:nvGrpSpPr>
        <p:grpSpPr>
          <a:xfrm>
            <a:off x="4645430" y="1689046"/>
            <a:ext cx="2069537" cy="1713475"/>
            <a:chOff x="6084275" y="1556325"/>
            <a:chExt cx="2069537" cy="1713475"/>
          </a:xfrm>
        </p:grpSpPr>
        <p:pic>
          <p:nvPicPr>
            <p:cNvPr id="12" name="Picture 11">
              <a:extLst>
                <a:ext uri="{FF2B5EF4-FFF2-40B4-BE49-F238E27FC236}">
                  <a16:creationId xmlns:a16="http://schemas.microsoft.com/office/drawing/2014/main" id="{E0ED7355-5C5E-74A8-163B-16C05609BD3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84275" y="1976339"/>
              <a:ext cx="2069537" cy="1293461"/>
            </a:xfrm>
            <a:prstGeom prst="rect">
              <a:avLst/>
            </a:prstGeom>
          </p:spPr>
        </p:pic>
        <p:sp>
          <p:nvSpPr>
            <p:cNvPr id="33" name="TextBox 32">
              <a:extLst>
                <a:ext uri="{FF2B5EF4-FFF2-40B4-BE49-F238E27FC236}">
                  <a16:creationId xmlns:a16="http://schemas.microsoft.com/office/drawing/2014/main" id="{964226D9-6A09-5E4F-AA7C-4717200525CA}"/>
                </a:ext>
              </a:extLst>
            </p:cNvPr>
            <p:cNvSpPr txBox="1"/>
            <p:nvPr/>
          </p:nvSpPr>
          <p:spPr>
            <a:xfrm>
              <a:off x="6549354" y="1556325"/>
              <a:ext cx="1140736" cy="369332"/>
            </a:xfrm>
            <a:prstGeom prst="rect">
              <a:avLst/>
            </a:prstGeom>
            <a:noFill/>
          </p:spPr>
          <p:txBody>
            <a:bodyPr wrap="square" rtlCol="0">
              <a:spAutoFit/>
            </a:bodyPr>
            <a:lstStyle/>
            <a:p>
              <a:pPr algn="ctr"/>
              <a:r>
                <a:rPr lang="en-US" altLang="zh-TW" dirty="0"/>
                <a:t>T = 1.0 s</a:t>
              </a:r>
              <a:endParaRPr lang="zh-TW" altLang="en-US" dirty="0"/>
            </a:p>
          </p:txBody>
        </p:sp>
      </p:grpSp>
      <p:grpSp>
        <p:nvGrpSpPr>
          <p:cNvPr id="38" name="Group 37">
            <a:extLst>
              <a:ext uri="{FF2B5EF4-FFF2-40B4-BE49-F238E27FC236}">
                <a16:creationId xmlns:a16="http://schemas.microsoft.com/office/drawing/2014/main" id="{8C15EB96-5D26-F4B2-031B-74ECDF7C5E0E}"/>
              </a:ext>
            </a:extLst>
          </p:cNvPr>
          <p:cNvGrpSpPr/>
          <p:nvPr/>
        </p:nvGrpSpPr>
        <p:grpSpPr>
          <a:xfrm>
            <a:off x="2438006" y="4234762"/>
            <a:ext cx="2069537" cy="1713475"/>
            <a:chOff x="336831" y="4346226"/>
            <a:chExt cx="2069537" cy="1713475"/>
          </a:xfrm>
        </p:grpSpPr>
        <p:pic>
          <p:nvPicPr>
            <p:cNvPr id="16" name="Picture 15">
              <a:extLst>
                <a:ext uri="{FF2B5EF4-FFF2-40B4-BE49-F238E27FC236}">
                  <a16:creationId xmlns:a16="http://schemas.microsoft.com/office/drawing/2014/main" id="{046E535E-26DF-796F-116C-A3DA3EA3552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36831" y="4766240"/>
              <a:ext cx="2069537" cy="1293461"/>
            </a:xfrm>
            <a:prstGeom prst="rect">
              <a:avLst/>
            </a:prstGeom>
          </p:spPr>
        </p:pic>
        <p:sp>
          <p:nvSpPr>
            <p:cNvPr id="29" name="TextBox 28">
              <a:extLst>
                <a:ext uri="{FF2B5EF4-FFF2-40B4-BE49-F238E27FC236}">
                  <a16:creationId xmlns:a16="http://schemas.microsoft.com/office/drawing/2014/main" id="{67855864-8963-8DD0-F583-3EBABFFACB03}"/>
                </a:ext>
              </a:extLst>
            </p:cNvPr>
            <p:cNvSpPr txBox="1"/>
            <p:nvPr/>
          </p:nvSpPr>
          <p:spPr>
            <a:xfrm>
              <a:off x="801231" y="4346226"/>
              <a:ext cx="1140736" cy="369332"/>
            </a:xfrm>
            <a:prstGeom prst="rect">
              <a:avLst/>
            </a:prstGeom>
            <a:noFill/>
          </p:spPr>
          <p:txBody>
            <a:bodyPr wrap="square" rtlCol="0">
              <a:spAutoFit/>
            </a:bodyPr>
            <a:lstStyle/>
            <a:p>
              <a:pPr algn="ctr"/>
              <a:r>
                <a:rPr lang="en-US" altLang="zh-TW" dirty="0"/>
                <a:t>T = 2.0 s</a:t>
              </a:r>
              <a:endParaRPr lang="zh-TW" altLang="en-US" dirty="0"/>
            </a:p>
          </p:txBody>
        </p:sp>
      </p:grpSp>
      <p:pic>
        <p:nvPicPr>
          <p:cNvPr id="42" name="Picture 41">
            <a:extLst>
              <a:ext uri="{FF2B5EF4-FFF2-40B4-BE49-F238E27FC236}">
                <a16:creationId xmlns:a16="http://schemas.microsoft.com/office/drawing/2014/main" id="{42184698-2B3A-2A6A-92BC-771B35455A8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968184" y="982247"/>
            <a:ext cx="4876800" cy="3048000"/>
          </a:xfrm>
          <a:prstGeom prst="rect">
            <a:avLst/>
          </a:prstGeom>
        </p:spPr>
      </p:pic>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372204B-0C3C-3BD1-CB86-2C1CCE0FA20B}"/>
                  </a:ext>
                </a:extLst>
              </p:cNvPr>
              <p:cNvSpPr txBox="1"/>
              <p:nvPr/>
            </p:nvSpPr>
            <p:spPr>
              <a:xfrm>
                <a:off x="9448800" y="5163005"/>
                <a:ext cx="2312108" cy="276999"/>
              </a:xfrm>
              <a:prstGeom prst="rect">
                <a:avLst/>
              </a:prstGeom>
              <a:noFill/>
            </p:spPr>
            <p:txBody>
              <a:bodyPr wrap="none" lIns="0" tIns="0" rIns="0" bIns="0" rtlCol="0">
                <a:spAutoFit/>
              </a:bodyPr>
              <a:lstStyle/>
              <a:p>
                <a:pPr/>
                <a14:m>
                  <m:oMathPara xmlns:m="http://schemas.openxmlformats.org/officeDocument/2006/math">
                    <m:o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𝑎𝑐ℎ𝑖𝑒𝑣𝑒𝑑</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3.5</m:t>
                          </m:r>
                        </m:e>
                      </m:d>
                      <m:r>
                        <a:rPr lang="en-US" altLang="zh-TW" b="0" i="1" smtClean="0">
                          <a:latin typeface="Cambria Math" panose="02040503050406030204" pitchFamily="18" charset="0"/>
                        </a:rPr>
                        <m:t>=0.627</m:t>
                      </m:r>
                    </m:oMath>
                  </m:oMathPara>
                </a14:m>
                <a:endParaRPr lang="zh-TW" altLang="en-US" dirty="0"/>
              </a:p>
            </p:txBody>
          </p:sp>
        </mc:Choice>
        <mc:Fallback xmlns="">
          <p:sp>
            <p:nvSpPr>
              <p:cNvPr id="43" name="TextBox 42">
                <a:extLst>
                  <a:ext uri="{FF2B5EF4-FFF2-40B4-BE49-F238E27FC236}">
                    <a16:creationId xmlns:a16="http://schemas.microsoft.com/office/drawing/2014/main" id="{F372204B-0C3C-3BD1-CB86-2C1CCE0FA20B}"/>
                  </a:ext>
                </a:extLst>
              </p:cNvPr>
              <p:cNvSpPr txBox="1">
                <a:spLocks noRot="1" noChangeAspect="1" noMove="1" noResize="1" noEditPoints="1" noAdjustHandles="1" noChangeArrowheads="1" noChangeShapeType="1" noTextEdit="1"/>
              </p:cNvSpPr>
              <p:nvPr/>
            </p:nvSpPr>
            <p:spPr>
              <a:xfrm>
                <a:off x="9448800" y="5163005"/>
                <a:ext cx="2312108" cy="276999"/>
              </a:xfrm>
              <a:prstGeom prst="rect">
                <a:avLst/>
              </a:prstGeom>
              <a:blipFill>
                <a:blip r:embed="rId10"/>
                <a:stretch>
                  <a:fillRect l="-1847" r="-2111" b="-1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B708C14-C6D1-EEC5-8CB3-2E0213641C4B}"/>
                  </a:ext>
                </a:extLst>
              </p:cNvPr>
              <p:cNvSpPr txBox="1"/>
              <p:nvPr/>
            </p:nvSpPr>
            <p:spPr>
              <a:xfrm>
                <a:off x="4402859" y="1087578"/>
                <a:ext cx="1945020" cy="276999"/>
              </a:xfrm>
              <a:prstGeom prst="rect">
                <a:avLst/>
              </a:prstGeom>
              <a:noFill/>
            </p:spPr>
            <p:txBody>
              <a:bodyPr wrap="none" lIns="0" tIns="0" rIns="0" bIns="0" rtlCol="0">
                <a:spAutoFit/>
              </a:bodyPr>
              <a:lstStyle/>
              <a:p>
                <a:pPr/>
                <a14:m>
                  <m:oMathPara xmlns:m="http://schemas.openxmlformats.org/officeDocument/2006/math">
                    <m:o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𝑑𝑒𝑠𝑖𝑟𝑒𝑑</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3.5</m:t>
                          </m:r>
                        </m:e>
                      </m:d>
                      <m:r>
                        <a:rPr lang="en-US" altLang="zh-TW" b="0" i="1" smtClean="0">
                          <a:latin typeface="Cambria Math" panose="02040503050406030204" pitchFamily="18" charset="0"/>
                        </a:rPr>
                        <m:t>=0.4</m:t>
                      </m:r>
                    </m:oMath>
                  </m:oMathPara>
                </a14:m>
                <a:endParaRPr lang="zh-TW" altLang="en-US" dirty="0"/>
              </a:p>
            </p:txBody>
          </p:sp>
        </mc:Choice>
        <mc:Fallback xmlns="">
          <p:sp>
            <p:nvSpPr>
              <p:cNvPr id="45" name="TextBox 44">
                <a:extLst>
                  <a:ext uri="{FF2B5EF4-FFF2-40B4-BE49-F238E27FC236}">
                    <a16:creationId xmlns:a16="http://schemas.microsoft.com/office/drawing/2014/main" id="{AB708C14-C6D1-EEC5-8CB3-2E0213641C4B}"/>
                  </a:ext>
                </a:extLst>
              </p:cNvPr>
              <p:cNvSpPr txBox="1">
                <a:spLocks noRot="1" noChangeAspect="1" noMove="1" noResize="1" noEditPoints="1" noAdjustHandles="1" noChangeArrowheads="1" noChangeShapeType="1" noTextEdit="1"/>
              </p:cNvSpPr>
              <p:nvPr/>
            </p:nvSpPr>
            <p:spPr>
              <a:xfrm>
                <a:off x="4402859" y="1087578"/>
                <a:ext cx="1945020" cy="276999"/>
              </a:xfrm>
              <a:prstGeom prst="rect">
                <a:avLst/>
              </a:prstGeom>
              <a:blipFill>
                <a:blip r:embed="rId11"/>
                <a:stretch>
                  <a:fillRect l="-2194" r="-2821" b="-1521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41181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AC9EB-1142-0AB8-2BCF-84D05E029FFD}"/>
              </a:ext>
            </a:extLst>
          </p:cNvPr>
          <p:cNvSpPr>
            <a:spLocks noGrp="1"/>
          </p:cNvSpPr>
          <p:nvPr>
            <p:ph type="title"/>
          </p:nvPr>
        </p:nvSpPr>
        <p:spPr/>
        <p:txBody>
          <a:bodyPr/>
          <a:lstStyle/>
          <a:p>
            <a:r>
              <a:rPr lang="en-US" altLang="zh-TW" dirty="0"/>
              <a:t>70 mW / 0 mM Tempo for Lines</a:t>
            </a:r>
            <a:endParaRPr lang="zh-TW" altLang="en-US" dirty="0"/>
          </a:p>
        </p:txBody>
      </p:sp>
      <p:graphicFrame>
        <p:nvGraphicFramePr>
          <p:cNvPr id="7" name="Content Placeholder 6">
            <a:extLst>
              <a:ext uri="{FF2B5EF4-FFF2-40B4-BE49-F238E27FC236}">
                <a16:creationId xmlns:a16="http://schemas.microsoft.com/office/drawing/2014/main" id="{362CE6F6-336A-87AF-5582-DCFF294A0889}"/>
              </a:ext>
            </a:extLst>
          </p:cNvPr>
          <p:cNvGraphicFramePr>
            <a:graphicFrameLocks noGrp="1"/>
          </p:cNvGraphicFramePr>
          <p:nvPr>
            <p:ph idx="1"/>
            <p:extLst>
              <p:ext uri="{D42A27DB-BD31-4B8C-83A1-F6EECF244321}">
                <p14:modId xmlns:p14="http://schemas.microsoft.com/office/powerpoint/2010/main" val="4215259859"/>
              </p:ext>
            </p:extLst>
          </p:nvPr>
        </p:nvGraphicFramePr>
        <p:xfrm>
          <a:off x="401950" y="1008161"/>
          <a:ext cx="8183172" cy="2934529"/>
        </p:xfrm>
        <a:graphic>
          <a:graphicData uri="http://schemas.openxmlformats.org/drawingml/2006/table">
            <a:tbl>
              <a:tblPr>
                <a:tableStyleId>{5C22544A-7EE6-4342-B048-85BDC9FD1C3A}</a:tableStyleId>
              </a:tblPr>
              <a:tblGrid>
                <a:gridCol w="1055172">
                  <a:extLst>
                    <a:ext uri="{9D8B030D-6E8A-4147-A177-3AD203B41FA5}">
                      <a16:colId xmlns:a16="http://schemas.microsoft.com/office/drawing/2014/main" val="2868810416"/>
                    </a:ext>
                  </a:extLst>
                </a:gridCol>
                <a:gridCol w="3564000">
                  <a:extLst>
                    <a:ext uri="{9D8B030D-6E8A-4147-A177-3AD203B41FA5}">
                      <a16:colId xmlns:a16="http://schemas.microsoft.com/office/drawing/2014/main" val="1383074905"/>
                    </a:ext>
                  </a:extLst>
                </a:gridCol>
                <a:gridCol w="3564000">
                  <a:extLst>
                    <a:ext uri="{9D8B030D-6E8A-4147-A177-3AD203B41FA5}">
                      <a16:colId xmlns:a16="http://schemas.microsoft.com/office/drawing/2014/main" val="4120094787"/>
                    </a:ext>
                  </a:extLst>
                </a:gridCol>
              </a:tblGrid>
              <a:tr h="374209">
                <a:tc>
                  <a:txBody>
                    <a:bodyPr/>
                    <a:lstStyle/>
                    <a:p>
                      <a:pPr algn="ctr">
                        <a:buNone/>
                      </a:pPr>
                      <a:r>
                        <a:rPr lang="zh-TW" dirty="0"/>
                        <a: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dirty="0"/>
                        <a:t>approximate target-region mean*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en-US" altLang="zh-TW" dirty="0"/>
                        <a:t>Mean target DoC</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762994561"/>
                  </a:ext>
                </a:extLst>
              </a:tr>
              <a:tr h="213834">
                <a:tc>
                  <a:txBody>
                    <a:bodyPr/>
                    <a:lstStyle/>
                    <a:p>
                      <a:pPr algn="ctr">
                        <a:buNone/>
                      </a:pPr>
                      <a:r>
                        <a:rPr lang="zh-TW" dirty="0"/>
                        <a:t>0.</a:t>
                      </a:r>
                      <a:r>
                        <a:rPr lang="en-US" altLang="zh-TW" dirty="0"/>
                        <a:t>0</a:t>
                      </a:r>
                      <a:r>
                        <a:rPr lang="zh-TW" dirty="0"/>
                        <a:t>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buNone/>
                      </a:pPr>
                      <a:r>
                        <a:rPr lang="zh-TW" dirty="0"/>
                        <a:t>~0.85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altLang="zh-TW" dirty="0"/>
                        <a:t>0.014</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57863994"/>
                  </a:ext>
                </a:extLst>
              </a:tr>
              <a:tr h="213834">
                <a:tc>
                  <a:txBody>
                    <a:bodyPr/>
                    <a:lstStyle/>
                    <a:p>
                      <a:pPr algn="ctr">
                        <a:buNone/>
                      </a:pPr>
                      <a:r>
                        <a:rPr lang="en-US" altLang="zh-TW" dirty="0"/>
                        <a:t>0.5</a:t>
                      </a:r>
                      <a:r>
                        <a:rPr lang="zh-TW" dirty="0"/>
                        <a:t>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buNone/>
                      </a:pPr>
                      <a:r>
                        <a:rPr lang="zh-TW" dirty="0"/>
                        <a:t>~0.49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altLang="zh-TW" dirty="0"/>
                        <a:t>0.293</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17630386"/>
                  </a:ext>
                </a:extLst>
              </a:tr>
              <a:tr h="213834">
                <a:tc>
                  <a:txBody>
                    <a:bodyPr/>
                    <a:lstStyle/>
                    <a:p>
                      <a:pPr algn="ctr">
                        <a:buNone/>
                      </a:pPr>
                      <a:r>
                        <a:rPr lang="zh-TW" dirty="0"/>
                        <a:t>1.</a:t>
                      </a:r>
                      <a:r>
                        <a:rPr lang="en-US" altLang="zh-TW" dirty="0"/>
                        <a:t>0</a:t>
                      </a:r>
                      <a:r>
                        <a:rPr lang="zh-TW" dirty="0"/>
                        <a:t>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buNone/>
                      </a:pPr>
                      <a:r>
                        <a:rPr lang="zh-TW" dirty="0"/>
                        <a:t>~0.16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altLang="zh-TW" dirty="0"/>
                        <a:t>0.406</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84899366"/>
                  </a:ext>
                </a:extLst>
              </a:tr>
              <a:tr h="213834">
                <a:tc>
                  <a:txBody>
                    <a:bodyPr/>
                    <a:lstStyle/>
                    <a:p>
                      <a:pPr algn="ctr">
                        <a:buNone/>
                      </a:pPr>
                      <a:r>
                        <a:rPr lang="en-US" altLang="zh-TW" dirty="0"/>
                        <a:t>1</a:t>
                      </a:r>
                      <a:r>
                        <a:rPr lang="zh-TW" dirty="0"/>
                        <a:t>.</a:t>
                      </a:r>
                      <a:r>
                        <a:rPr lang="en-US" altLang="zh-TW" dirty="0"/>
                        <a:t>5 </a:t>
                      </a:r>
                      <a:r>
                        <a:rPr lang="zh-TW" dirty="0"/>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buNone/>
                      </a:pPr>
                      <a:r>
                        <a:rPr lang="zh-TW" dirty="0"/>
                        <a:t>~0.09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altLang="zh-TW" dirty="0"/>
                        <a:t>0.467</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89878092"/>
                  </a:ext>
                </a:extLst>
              </a:tr>
              <a:tr h="213834">
                <a:tc>
                  <a:txBody>
                    <a:bodyPr/>
                    <a:lstStyle/>
                    <a:p>
                      <a:pPr algn="ctr">
                        <a:buNone/>
                      </a:pPr>
                      <a:r>
                        <a:rPr lang="zh-TW" dirty="0"/>
                        <a:t>2.</a:t>
                      </a:r>
                      <a:r>
                        <a:rPr lang="en-US" altLang="zh-TW" dirty="0"/>
                        <a:t>0</a:t>
                      </a:r>
                      <a:r>
                        <a:rPr lang="zh-TW" dirty="0"/>
                        <a:t>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buNone/>
                      </a:pPr>
                      <a:r>
                        <a:rPr lang="zh-TW" dirty="0"/>
                        <a:t>~0.08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altLang="zh-TW" dirty="0"/>
                        <a:t>0.503</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06024727"/>
                  </a:ext>
                </a:extLst>
              </a:tr>
              <a:tr h="213834">
                <a:tc>
                  <a:txBody>
                    <a:bodyPr/>
                    <a:lstStyle/>
                    <a:p>
                      <a:pPr algn="ctr">
                        <a:buNone/>
                      </a:pPr>
                      <a:r>
                        <a:rPr lang="en-US" altLang="zh-TW" dirty="0"/>
                        <a:t>2</a:t>
                      </a:r>
                      <a:r>
                        <a:rPr lang="zh-TW" dirty="0"/>
                        <a:t>.</a:t>
                      </a:r>
                      <a:r>
                        <a:rPr lang="en-US" altLang="zh-TW" dirty="0"/>
                        <a:t>5</a:t>
                      </a:r>
                      <a:r>
                        <a:rPr lang="zh-TW" dirty="0"/>
                        <a:t>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buNone/>
                      </a:pPr>
                      <a:r>
                        <a:rPr lang="zh-TW" dirty="0"/>
                        <a:t>~0.17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altLang="zh-TW" dirty="0"/>
                        <a:t>0.534</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80572534"/>
                  </a:ext>
                </a:extLst>
              </a:tr>
              <a:tr h="213834">
                <a:tc>
                  <a:txBody>
                    <a:bodyPr/>
                    <a:lstStyle/>
                    <a:p>
                      <a:pPr algn="ctr">
                        <a:buNone/>
                      </a:pPr>
                      <a:r>
                        <a:rPr lang="zh-TW" dirty="0"/>
                        <a:t>3.</a:t>
                      </a:r>
                      <a:r>
                        <a:rPr lang="en-US" altLang="zh-TW" dirty="0"/>
                        <a:t>0</a:t>
                      </a:r>
                      <a:r>
                        <a:rPr lang="zh-TW" dirty="0"/>
                        <a:t>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buNone/>
                      </a:pPr>
                      <a:r>
                        <a:rPr lang="zh-TW" dirty="0"/>
                        <a:t>~0.23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altLang="zh-TW" dirty="0"/>
                        <a:t>0.627</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25308331"/>
                  </a:ext>
                </a:extLst>
              </a:tr>
            </a:tbl>
          </a:graphicData>
        </a:graphic>
      </p:graphicFrame>
      <p:sp>
        <p:nvSpPr>
          <p:cNvPr id="4" name="Slide Number Placeholder 3">
            <a:extLst>
              <a:ext uri="{FF2B5EF4-FFF2-40B4-BE49-F238E27FC236}">
                <a16:creationId xmlns:a16="http://schemas.microsoft.com/office/drawing/2014/main" id="{A755B4CA-8E22-A53D-40FC-3EC615DC51D6}"/>
              </a:ext>
            </a:extLst>
          </p:cNvPr>
          <p:cNvSpPr>
            <a:spLocks noGrp="1"/>
          </p:cNvSpPr>
          <p:nvPr>
            <p:ph type="sldNum" sz="quarter" idx="12"/>
          </p:nvPr>
        </p:nvSpPr>
        <p:spPr/>
        <p:txBody>
          <a:bodyPr/>
          <a:lstStyle/>
          <a:p>
            <a:fld id="{5A741E56-E3D9-46FF-B47D-3FCBEAE97EB2}" type="slidenum">
              <a:rPr lang="en-US" smtClean="0"/>
              <a:pPr/>
              <a:t>16</a:t>
            </a:fld>
            <a:endParaRPr lang="en-US" dirty="0"/>
          </a:p>
        </p:txBody>
      </p:sp>
      <p:sp>
        <p:nvSpPr>
          <p:cNvPr id="5" name="Footer Placeholder 4">
            <a:extLst>
              <a:ext uri="{FF2B5EF4-FFF2-40B4-BE49-F238E27FC236}">
                <a16:creationId xmlns:a16="http://schemas.microsoft.com/office/drawing/2014/main" id="{A5C1EA40-7EBD-3642-6B9E-859D2AADB742}"/>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B5B05AF0-FDBD-92C3-1B9C-1E390E2C6662}"/>
              </a:ext>
            </a:extLst>
          </p:cNvPr>
          <p:cNvSpPr>
            <a:spLocks noGrp="1"/>
          </p:cNvSpPr>
          <p:nvPr>
            <p:ph type="dt" sz="half" idx="10"/>
          </p:nvPr>
        </p:nvSpPr>
        <p:spPr/>
        <p:txBody>
          <a:bodyPr/>
          <a:lstStyle/>
          <a:p>
            <a:fld id="{E4965A3C-7C44-491F-A2CC-585294ABE301}" type="datetime1">
              <a:rPr lang="en-US" smtClean="0"/>
              <a:t>9/24/26</a:t>
            </a:fld>
            <a:endParaRPr lang="en-US" dirty="0"/>
          </a:p>
        </p:txBody>
      </p:sp>
      <p:sp>
        <p:nvSpPr>
          <p:cNvPr id="9" name="TextBox 8">
            <a:extLst>
              <a:ext uri="{FF2B5EF4-FFF2-40B4-BE49-F238E27FC236}">
                <a16:creationId xmlns:a16="http://schemas.microsoft.com/office/drawing/2014/main" id="{8ED85BFC-6681-FF7A-4F0A-B3695E481094}"/>
              </a:ext>
            </a:extLst>
          </p:cNvPr>
          <p:cNvSpPr txBox="1"/>
          <p:nvPr/>
        </p:nvSpPr>
        <p:spPr>
          <a:xfrm>
            <a:off x="8769790" y="1008161"/>
            <a:ext cx="3422210" cy="369332"/>
          </a:xfrm>
          <a:prstGeom prst="rect">
            <a:avLst/>
          </a:prstGeom>
          <a:noFill/>
        </p:spPr>
        <p:txBody>
          <a:bodyPr wrap="square" rtlCol="0">
            <a:spAutoFit/>
          </a:bodyPr>
          <a:lstStyle/>
          <a:p>
            <a:r>
              <a:rPr lang="en-US" altLang="zh-TW" dirty="0"/>
              <a:t>For the first time step,</a:t>
            </a:r>
            <a:endParaRPr lang="zh-TW" alt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AB58907-501A-10FB-F01A-3CC8EBF98A1C}"/>
                  </a:ext>
                </a:extLst>
              </p:cNvPr>
              <p:cNvSpPr txBox="1"/>
              <p:nvPr/>
            </p:nvSpPr>
            <p:spPr>
              <a:xfrm>
                <a:off x="8840709" y="1566314"/>
                <a:ext cx="2726451" cy="276999"/>
              </a:xfrm>
              <a:prstGeom prst="rect">
                <a:avLst/>
              </a:prstGeom>
              <a:noFill/>
            </p:spPr>
            <p:txBody>
              <a:bodyPr wrap="none" lIns="0" tIns="0" rIns="0" bIns="0" rtlCol="0">
                <a:spAutoFit/>
              </a:bodyPr>
              <a:lstStyle/>
              <a:p>
                <a:pPr/>
                <a14:m>
                  <m:oMathPara xmlns:m="http://schemas.openxmlformats.org/officeDocument/2006/math">
                    <m:oMath>
                      <m:r>
                        <a:rPr lang="en-US" altLang="zh-TW" b="0" i="1" smtClean="0">
                          <a:latin typeface="Cambria Math" panose="02040503050406030204" pitchFamily="18" charset="0"/>
                        </a:rPr>
                        <m:t>70</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0.8</m:t>
                          </m:r>
                        </m:e>
                      </m:d>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0.5</m:t>
                          </m:r>
                        </m:e>
                      </m:d>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28 </m:t>
                      </m:r>
                      <m:r>
                        <a:rPr lang="en-US" altLang="zh-TW" b="0" i="1" smtClean="0">
                          <a:latin typeface="Cambria Math" panose="02040503050406030204" pitchFamily="18" charset="0"/>
                          <a:ea typeface="Cambria Math" panose="02040503050406030204" pitchFamily="18" charset="0"/>
                        </a:rPr>
                        <m:t>𝑚𝐽</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𝑐</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𝑚</m:t>
                          </m:r>
                        </m:e>
                        <m:sup>
                          <m:r>
                            <a:rPr lang="en-US" altLang="zh-TW" b="0" i="1" smtClean="0">
                              <a:latin typeface="Cambria Math" panose="02040503050406030204" pitchFamily="18" charset="0"/>
                              <a:ea typeface="Cambria Math" panose="02040503050406030204" pitchFamily="18" charset="0"/>
                            </a:rPr>
                            <m:t>2</m:t>
                          </m:r>
                        </m:sup>
                      </m:sSup>
                    </m:oMath>
                  </m:oMathPara>
                </a14:m>
                <a:endParaRPr lang="zh-TW" altLang="en-US" dirty="0"/>
              </a:p>
            </p:txBody>
          </p:sp>
        </mc:Choice>
        <mc:Fallback xmlns="">
          <p:sp>
            <p:nvSpPr>
              <p:cNvPr id="10" name="TextBox 9">
                <a:extLst>
                  <a:ext uri="{FF2B5EF4-FFF2-40B4-BE49-F238E27FC236}">
                    <a16:creationId xmlns:a16="http://schemas.microsoft.com/office/drawing/2014/main" id="{4AB58907-501A-10FB-F01A-3CC8EBF98A1C}"/>
                  </a:ext>
                </a:extLst>
              </p:cNvPr>
              <p:cNvSpPr txBox="1">
                <a:spLocks noRot="1" noChangeAspect="1" noMove="1" noResize="1" noEditPoints="1" noAdjustHandles="1" noChangeArrowheads="1" noChangeShapeType="1" noTextEdit="1"/>
              </p:cNvSpPr>
              <p:nvPr/>
            </p:nvSpPr>
            <p:spPr>
              <a:xfrm>
                <a:off x="8840709" y="1566314"/>
                <a:ext cx="2726451" cy="276999"/>
              </a:xfrm>
              <a:prstGeom prst="rect">
                <a:avLst/>
              </a:prstGeom>
              <a:blipFill>
                <a:blip r:embed="rId2"/>
                <a:stretch>
                  <a:fillRect l="-1563" t="-2222" r="-223" b="-35556"/>
                </a:stretch>
              </a:blipFill>
            </p:spPr>
            <p:txBody>
              <a:bodyPr/>
              <a:lstStyle/>
              <a:p>
                <a:r>
                  <a:rPr lang="zh-TW" altLang="en-US">
                    <a:noFill/>
                  </a:rPr>
                  <a:t> </a:t>
                </a:r>
              </a:p>
            </p:txBody>
          </p:sp>
        </mc:Fallback>
      </mc:AlternateContent>
      <p:sp>
        <p:nvSpPr>
          <p:cNvPr id="12" name="TextBox 11">
            <a:extLst>
              <a:ext uri="{FF2B5EF4-FFF2-40B4-BE49-F238E27FC236}">
                <a16:creationId xmlns:a16="http://schemas.microsoft.com/office/drawing/2014/main" id="{A1409AE6-4702-EA42-5BB7-F2A431D51B61}"/>
              </a:ext>
            </a:extLst>
          </p:cNvPr>
          <p:cNvSpPr txBox="1"/>
          <p:nvPr/>
        </p:nvSpPr>
        <p:spPr>
          <a:xfrm>
            <a:off x="8769790" y="2029904"/>
            <a:ext cx="3422210" cy="923330"/>
          </a:xfrm>
          <a:prstGeom prst="rect">
            <a:avLst/>
          </a:prstGeom>
          <a:noFill/>
        </p:spPr>
        <p:txBody>
          <a:bodyPr wrap="square" rtlCol="0">
            <a:spAutoFit/>
          </a:bodyPr>
          <a:lstStyle/>
          <a:p>
            <a:r>
              <a:rPr lang="en-US" altLang="zh-TW" dirty="0"/>
              <a:t>Which is essentially close enough to consume the O2 inhibition 27.7117.</a:t>
            </a:r>
            <a:endParaRPr lang="zh-TW" altLang="en-US" dirty="0"/>
          </a:p>
        </p:txBody>
      </p:sp>
      <p:sp>
        <p:nvSpPr>
          <p:cNvPr id="14" name="TextBox 13">
            <a:extLst>
              <a:ext uri="{FF2B5EF4-FFF2-40B4-BE49-F238E27FC236}">
                <a16:creationId xmlns:a16="http://schemas.microsoft.com/office/drawing/2014/main" id="{0F92A249-EE03-D8AE-14B3-93072021DDD5}"/>
              </a:ext>
            </a:extLst>
          </p:cNvPr>
          <p:cNvSpPr txBox="1"/>
          <p:nvPr/>
        </p:nvSpPr>
        <p:spPr>
          <a:xfrm>
            <a:off x="8769790" y="3053848"/>
            <a:ext cx="3422210" cy="646331"/>
          </a:xfrm>
          <a:prstGeom prst="rect">
            <a:avLst/>
          </a:prstGeom>
          <a:noFill/>
        </p:spPr>
        <p:txBody>
          <a:bodyPr wrap="square" rtlCol="0">
            <a:spAutoFit/>
          </a:bodyPr>
          <a:lstStyle/>
          <a:p>
            <a:r>
              <a:rPr lang="en-US" altLang="zh-TW" dirty="0"/>
              <a:t>The controller has an overshoot around 0.2, and it’s not reversible.</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9F04644-D631-4D9A-BA46-503D46DF1F78}"/>
                  </a:ext>
                </a:extLst>
              </p:cNvPr>
              <p:cNvSpPr txBox="1"/>
              <p:nvPr/>
            </p:nvSpPr>
            <p:spPr>
              <a:xfrm>
                <a:off x="401950" y="4176108"/>
                <a:ext cx="4314899" cy="704360"/>
              </a:xfrm>
              <a:prstGeom prst="rect">
                <a:avLst/>
              </a:prstGeom>
              <a:noFill/>
            </p:spPr>
            <p:txBody>
              <a:bodyPr wrap="none" lIns="0" tIns="0" rIns="0" bIns="0" rtlCol="0">
                <a:spAutoFit/>
              </a:bodyPr>
              <a:lstStyle/>
              <a:p>
                <a:pPr/>
                <a14:m>
                  <m:oMathPara xmlns:m="http://schemas.openxmlformats.org/officeDocument/2006/math">
                    <m:o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𝐽</m:t>
                          </m:r>
                        </m:e>
                        <m:sub>
                          <m:r>
                            <a:rPr lang="en-US" altLang="zh-TW" b="0" i="1" smtClean="0">
                              <a:latin typeface="Cambria Math" panose="02040503050406030204" pitchFamily="18" charset="0"/>
                            </a:rPr>
                            <m:t>𝑡𝑟𝑎𝑐𝑘</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𝑇</m:t>
                              </m:r>
                            </m:sub>
                          </m:sSub>
                        </m:den>
                      </m:f>
                      <m:nary>
                        <m:naryPr>
                          <m:chr m:val="∑"/>
                          <m:supHide m:val="on"/>
                          <m:ctrlPr>
                            <a:rPr lang="en-US" altLang="zh-TW" b="0" i="1" smtClean="0">
                              <a:latin typeface="Cambria Math" panose="02040503050406030204" pitchFamily="18" charset="0"/>
                            </a:rPr>
                          </m:ctrlPr>
                        </m:naryPr>
                        <m:sub>
                          <m:d>
                            <m:dPr>
                              <m:ctrlPr>
                                <a:rPr lang="en-US" altLang="zh-TW" b="0" i="1" smtClean="0">
                                  <a:latin typeface="Cambria Math" panose="02040503050406030204" pitchFamily="18" charset="0"/>
                                </a:rPr>
                              </m:ctrlPr>
                            </m:dPr>
                            <m:e>
                              <m:r>
                                <m:rPr>
                                  <m:brk m:alnAt="7"/>
                                </m:rPr>
                                <a:rPr lang="en-US" altLang="zh-TW" b="0" i="1" smtClean="0">
                                  <a:latin typeface="Cambria Math" panose="02040503050406030204" pitchFamily="18" charset="0"/>
                                </a:rPr>
                                <m:t>𝑥</m:t>
                              </m:r>
                              <m:r>
                                <m:rPr>
                                  <m:brk m:alnAt="7"/>
                                </m:rPr>
                                <a:rPr lang="en-US" altLang="zh-TW" b="0" i="1" smtClean="0">
                                  <a:latin typeface="Cambria Math" panose="02040503050406030204" pitchFamily="18" charset="0"/>
                                </a:rPr>
                                <m:t>,</m:t>
                              </m:r>
                              <m:r>
                                <m:rPr>
                                  <m:brk m:alnAt="7"/>
                                </m:rPr>
                                <a:rPr lang="en-US" altLang="zh-TW" b="0" i="1" smtClean="0">
                                  <a:latin typeface="Cambria Math" panose="02040503050406030204" pitchFamily="18" charset="0"/>
                                </a:rPr>
                                <m:t>𝑦</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𝑇</m:t>
                          </m: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𝐷</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en-US" altLang="zh-TW" b="0" i="1" smtClean="0">
                                          <a:latin typeface="Cambria Math" panose="02040503050406030204" pitchFamily="18" charset="0"/>
                                        </a:rPr>
                                        <m:t>𝑦</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r>
                                        <a:rPr lang="en-US" altLang="zh-TW" b="0" i="1" smtClean="0">
                                          <a:latin typeface="Cambria Math" panose="02040503050406030204" pitchFamily="18" charset="0"/>
                                        </a:rPr>
                                        <m:t>=3.5</m:t>
                                      </m:r>
                                    </m:e>
                                  </m:d>
                                  <m:r>
                                    <a:rPr lang="en-US" altLang="zh-TW" b="0" i="1" smtClean="0">
                                      <a:latin typeface="Cambria Math" panose="02040503050406030204" pitchFamily="18" charset="0"/>
                                    </a:rPr>
                                    <m:t>−0.4</m:t>
                                  </m:r>
                                </m:e>
                              </m:d>
                            </m:e>
                            <m:sup>
                              <m:r>
                                <a:rPr lang="en-US" altLang="zh-TW" b="0" i="1" smtClean="0">
                                  <a:latin typeface="Cambria Math" panose="02040503050406030204" pitchFamily="18" charset="0"/>
                                </a:rPr>
                                <m:t>2</m:t>
                              </m:r>
                            </m:sup>
                          </m:sSup>
                        </m:e>
                      </m:nary>
                    </m:oMath>
                  </m:oMathPara>
                </a14:m>
                <a:endParaRPr lang="zh-TW" altLang="en-US" dirty="0"/>
              </a:p>
            </p:txBody>
          </p:sp>
        </mc:Choice>
        <mc:Fallback xmlns="">
          <p:sp>
            <p:nvSpPr>
              <p:cNvPr id="15" name="TextBox 14">
                <a:extLst>
                  <a:ext uri="{FF2B5EF4-FFF2-40B4-BE49-F238E27FC236}">
                    <a16:creationId xmlns:a16="http://schemas.microsoft.com/office/drawing/2014/main" id="{59F04644-D631-4D9A-BA46-503D46DF1F78}"/>
                  </a:ext>
                </a:extLst>
              </p:cNvPr>
              <p:cNvSpPr txBox="1">
                <a:spLocks noRot="1" noChangeAspect="1" noMove="1" noResize="1" noEditPoints="1" noAdjustHandles="1" noChangeArrowheads="1" noChangeShapeType="1" noTextEdit="1"/>
              </p:cNvSpPr>
              <p:nvPr/>
            </p:nvSpPr>
            <p:spPr>
              <a:xfrm>
                <a:off x="401950" y="4176108"/>
                <a:ext cx="4314899" cy="704360"/>
              </a:xfrm>
              <a:prstGeom prst="rect">
                <a:avLst/>
              </a:prstGeom>
              <a:blipFill>
                <a:blip r:embed="rId3"/>
                <a:stretch>
                  <a:fillRect/>
                </a:stretch>
              </a:blipFill>
            </p:spPr>
            <p:txBody>
              <a:bodyPr/>
              <a:lstStyle/>
              <a:p>
                <a:r>
                  <a:rPr lang="zh-TW" altLang="en-US">
                    <a:noFill/>
                  </a:rPr>
                  <a:t> </a:t>
                </a:r>
              </a:p>
            </p:txBody>
          </p:sp>
        </mc:Fallback>
      </mc:AlternateContent>
      <p:sp>
        <p:nvSpPr>
          <p:cNvPr id="17" name="TextBox 16">
            <a:extLst>
              <a:ext uri="{FF2B5EF4-FFF2-40B4-BE49-F238E27FC236}">
                <a16:creationId xmlns:a16="http://schemas.microsoft.com/office/drawing/2014/main" id="{3300F205-3E37-1396-D2DF-EC7BCFCA69CC}"/>
              </a:ext>
            </a:extLst>
          </p:cNvPr>
          <p:cNvSpPr txBox="1"/>
          <p:nvPr/>
        </p:nvSpPr>
        <p:spPr>
          <a:xfrm>
            <a:off x="401950" y="5052024"/>
            <a:ext cx="6632594" cy="1200329"/>
          </a:xfrm>
          <a:prstGeom prst="rect">
            <a:avLst/>
          </a:prstGeom>
          <a:noFill/>
        </p:spPr>
        <p:txBody>
          <a:bodyPr wrap="square" rtlCol="0">
            <a:spAutoFit/>
          </a:bodyPr>
          <a:lstStyle/>
          <a:p>
            <a:pPr marL="342900" indent="-342900">
              <a:buFont typeface="+mj-lt"/>
              <a:buAutoNum type="arabicPeriod"/>
            </a:pPr>
            <a:r>
              <a:rPr lang="en-US" altLang="zh-TW" dirty="0"/>
              <a:t>Increase the controller resolution</a:t>
            </a:r>
          </a:p>
          <a:p>
            <a:pPr marL="342900" indent="-342900">
              <a:buFont typeface="+mj-lt"/>
              <a:buAutoNum type="arabicPeriod"/>
            </a:pPr>
            <a:r>
              <a:rPr lang="en-US" altLang="zh-TW" dirty="0"/>
              <a:t>Increase the optimizer iteration to have better convergence</a:t>
            </a:r>
          </a:p>
          <a:p>
            <a:pPr marL="342900" indent="-342900">
              <a:buFont typeface="+mj-lt"/>
              <a:buAutoNum type="arabicPeriod"/>
            </a:pPr>
            <a:r>
              <a:rPr lang="en-US" altLang="zh-TW" dirty="0"/>
              <a:t>Constraint the initial masks intentionally</a:t>
            </a:r>
          </a:p>
          <a:p>
            <a:pPr marL="342900" indent="-342900">
              <a:buFont typeface="+mj-lt"/>
              <a:buAutoNum type="arabicPeriod"/>
            </a:pPr>
            <a:r>
              <a:rPr lang="en-US" altLang="zh-TW" dirty="0"/>
              <a:t>Modify the loss weight or even the definition</a:t>
            </a:r>
            <a:endParaRPr lang="zh-TW" altLang="en-US" dirty="0"/>
          </a:p>
        </p:txBody>
      </p:sp>
    </p:spTree>
    <p:extLst>
      <p:ext uri="{BB962C8B-B14F-4D97-AF65-F5344CB8AC3E}">
        <p14:creationId xmlns:p14="http://schemas.microsoft.com/office/powerpoint/2010/main" val="353944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93BE6-E4BD-04A7-FC7B-B69E699CAC01}"/>
              </a:ext>
            </a:extLst>
          </p:cNvPr>
          <p:cNvSpPr>
            <a:spLocks noGrp="1"/>
          </p:cNvSpPr>
          <p:nvPr>
            <p:ph type="title"/>
          </p:nvPr>
        </p:nvSpPr>
        <p:spPr/>
        <p:txBody>
          <a:bodyPr/>
          <a:lstStyle/>
          <a:p>
            <a:r>
              <a:rPr lang="en-US" altLang="zh-TW" dirty="0"/>
              <a:t>1. Smaller Control Step</a:t>
            </a:r>
            <a:endParaRPr lang="zh-TW"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ABFF4B-1026-CE20-C7D8-F891E38680CB}"/>
                  </a:ext>
                </a:extLst>
              </p:cNvPr>
              <p:cNvSpPr>
                <a:spLocks noGrp="1"/>
              </p:cNvSpPr>
              <p:nvPr>
                <p:ph idx="1"/>
              </p:nvPr>
            </p:nvSpPr>
            <p:spPr/>
            <p:txBody>
              <a:bodyPr/>
              <a:lstStyle/>
              <a:p>
                <a:r>
                  <a:rPr lang="en-US" altLang="zh-TW" dirty="0"/>
                  <a:t>Change </a:t>
                </a:r>
                <a14:m>
                  <m:oMath xmlns:m="http://schemas.openxmlformats.org/officeDocument/2006/math">
                    <m:r>
                      <a:rPr lang="en-US" altLang="zh-TW" b="0" i="1" smtClean="0">
                        <a:latin typeface="Cambria Math" panose="02040503050406030204" pitchFamily="18" charset="0"/>
                      </a:rPr>
                      <m:t>𝑑𝑡</m:t>
                    </m:r>
                  </m:oMath>
                </a14:m>
                <a:r>
                  <a:rPr lang="en-US" altLang="zh-TW" dirty="0"/>
                  <a:t> from 0.5 to 0.25</a:t>
                </a:r>
                <a:endParaRPr lang="zh-TW" altLang="en-US" dirty="0"/>
              </a:p>
            </p:txBody>
          </p:sp>
        </mc:Choice>
        <mc:Fallback xmlns="">
          <p:sp>
            <p:nvSpPr>
              <p:cNvPr id="3" name="Content Placeholder 2">
                <a:extLst>
                  <a:ext uri="{FF2B5EF4-FFF2-40B4-BE49-F238E27FC236}">
                    <a16:creationId xmlns:a16="http://schemas.microsoft.com/office/drawing/2014/main" id="{4DABFF4B-1026-CE20-C7D8-F891E38680CB}"/>
                  </a:ext>
                </a:extLst>
              </p:cNvPr>
              <p:cNvSpPr>
                <a:spLocks noGrp="1" noRot="1" noChangeAspect="1" noMove="1" noResize="1" noEditPoints="1" noAdjustHandles="1" noChangeArrowheads="1" noChangeShapeType="1" noTextEdit="1"/>
              </p:cNvSpPr>
              <p:nvPr>
                <p:ph idx="1"/>
              </p:nvPr>
            </p:nvSpPr>
            <p:spPr>
              <a:blipFill>
                <a:blip r:embed="rId2"/>
                <a:stretch>
                  <a:fillRect l="-941" t="-2000"/>
                </a:stretch>
              </a:blipFill>
            </p:spPr>
            <p:txBody>
              <a:bodyPr/>
              <a:lstStyle/>
              <a:p>
                <a:r>
                  <a:rPr lang="zh-TW" altLang="en-US">
                    <a:noFill/>
                  </a:rPr>
                  <a:t> </a:t>
                </a:r>
              </a:p>
            </p:txBody>
          </p:sp>
        </mc:Fallback>
      </mc:AlternateContent>
      <p:sp>
        <p:nvSpPr>
          <p:cNvPr id="4" name="Slide Number Placeholder 3">
            <a:extLst>
              <a:ext uri="{FF2B5EF4-FFF2-40B4-BE49-F238E27FC236}">
                <a16:creationId xmlns:a16="http://schemas.microsoft.com/office/drawing/2014/main" id="{88005466-FD76-BC0D-FB98-76C5C80EBD32}"/>
              </a:ext>
            </a:extLst>
          </p:cNvPr>
          <p:cNvSpPr>
            <a:spLocks noGrp="1"/>
          </p:cNvSpPr>
          <p:nvPr>
            <p:ph type="sldNum" sz="quarter" idx="12"/>
          </p:nvPr>
        </p:nvSpPr>
        <p:spPr/>
        <p:txBody>
          <a:bodyPr/>
          <a:lstStyle/>
          <a:p>
            <a:fld id="{5A741E56-E3D9-46FF-B47D-3FCBEAE97EB2}" type="slidenum">
              <a:rPr lang="en-US" smtClean="0"/>
              <a:pPr/>
              <a:t>17</a:t>
            </a:fld>
            <a:endParaRPr lang="en-US" dirty="0"/>
          </a:p>
        </p:txBody>
      </p:sp>
      <p:sp>
        <p:nvSpPr>
          <p:cNvPr id="5" name="Footer Placeholder 4">
            <a:extLst>
              <a:ext uri="{FF2B5EF4-FFF2-40B4-BE49-F238E27FC236}">
                <a16:creationId xmlns:a16="http://schemas.microsoft.com/office/drawing/2014/main" id="{B99F85EB-B381-9594-FBAE-3636BE036686}"/>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38157EF8-A0F1-FDBF-7A2A-1D9B33DA4469}"/>
              </a:ext>
            </a:extLst>
          </p:cNvPr>
          <p:cNvSpPr>
            <a:spLocks noGrp="1"/>
          </p:cNvSpPr>
          <p:nvPr>
            <p:ph type="dt" sz="half" idx="10"/>
          </p:nvPr>
        </p:nvSpPr>
        <p:spPr/>
        <p:txBody>
          <a:bodyPr/>
          <a:lstStyle/>
          <a:p>
            <a:fld id="{E4965A3C-7C44-491F-A2CC-585294ABE301}" type="datetime1">
              <a:rPr lang="en-US" smtClean="0"/>
              <a:t>9/24/26</a:t>
            </a:fld>
            <a:endParaRPr lang="en-US" dirty="0"/>
          </a:p>
        </p:txBody>
      </p:sp>
      <p:grpSp>
        <p:nvGrpSpPr>
          <p:cNvPr id="7" name="Group 6">
            <a:extLst>
              <a:ext uri="{FF2B5EF4-FFF2-40B4-BE49-F238E27FC236}">
                <a16:creationId xmlns:a16="http://schemas.microsoft.com/office/drawing/2014/main" id="{B464654A-4739-3851-BE03-3C8DB2B1FE1C}"/>
              </a:ext>
            </a:extLst>
          </p:cNvPr>
          <p:cNvGrpSpPr/>
          <p:nvPr/>
        </p:nvGrpSpPr>
        <p:grpSpPr>
          <a:xfrm>
            <a:off x="2438006" y="1689046"/>
            <a:ext cx="2069537" cy="1713474"/>
            <a:chOff x="3126842" y="1556325"/>
            <a:chExt cx="2069537" cy="1713474"/>
          </a:xfrm>
        </p:grpSpPr>
        <p:pic>
          <p:nvPicPr>
            <p:cNvPr id="8" name="Picture 7">
              <a:extLst>
                <a:ext uri="{FF2B5EF4-FFF2-40B4-BE49-F238E27FC236}">
                  <a16:creationId xmlns:a16="http://schemas.microsoft.com/office/drawing/2014/main" id="{7340C9A4-3F96-F4A6-0DE0-4FDF6EDDD15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126842" y="1976339"/>
              <a:ext cx="2069537" cy="1293460"/>
            </a:xfrm>
            <a:prstGeom prst="rect">
              <a:avLst/>
            </a:prstGeom>
          </p:spPr>
        </p:pic>
        <p:sp>
          <p:nvSpPr>
            <p:cNvPr id="9" name="TextBox 8">
              <a:extLst>
                <a:ext uri="{FF2B5EF4-FFF2-40B4-BE49-F238E27FC236}">
                  <a16:creationId xmlns:a16="http://schemas.microsoft.com/office/drawing/2014/main" id="{C4A38522-07E9-059F-1D1F-90792A5D3EFB}"/>
                </a:ext>
              </a:extLst>
            </p:cNvPr>
            <p:cNvSpPr txBox="1"/>
            <p:nvPr/>
          </p:nvSpPr>
          <p:spPr>
            <a:xfrm>
              <a:off x="3591242" y="1556325"/>
              <a:ext cx="1140736" cy="369332"/>
            </a:xfrm>
            <a:prstGeom prst="rect">
              <a:avLst/>
            </a:prstGeom>
            <a:noFill/>
          </p:spPr>
          <p:txBody>
            <a:bodyPr wrap="square" rtlCol="0">
              <a:spAutoFit/>
            </a:bodyPr>
            <a:lstStyle/>
            <a:p>
              <a:pPr algn="ctr"/>
              <a:r>
                <a:rPr lang="en-US" altLang="zh-TW" dirty="0"/>
                <a:t>T = 0.5 s</a:t>
              </a:r>
              <a:endParaRPr lang="zh-TW" altLang="en-US" dirty="0"/>
            </a:p>
          </p:txBody>
        </p:sp>
      </p:grpSp>
      <p:grpSp>
        <p:nvGrpSpPr>
          <p:cNvPr id="10" name="Group 9">
            <a:extLst>
              <a:ext uri="{FF2B5EF4-FFF2-40B4-BE49-F238E27FC236}">
                <a16:creationId xmlns:a16="http://schemas.microsoft.com/office/drawing/2014/main" id="{C29B9C20-833D-08FD-EB59-4EAF5BEBABD3}"/>
              </a:ext>
            </a:extLst>
          </p:cNvPr>
          <p:cNvGrpSpPr/>
          <p:nvPr/>
        </p:nvGrpSpPr>
        <p:grpSpPr>
          <a:xfrm>
            <a:off x="230582" y="1689046"/>
            <a:ext cx="2069537" cy="1713474"/>
            <a:chOff x="336831" y="1556325"/>
            <a:chExt cx="2069537" cy="1713474"/>
          </a:xfrm>
        </p:grpSpPr>
        <p:pic>
          <p:nvPicPr>
            <p:cNvPr id="11" name="Picture 10">
              <a:extLst>
                <a:ext uri="{FF2B5EF4-FFF2-40B4-BE49-F238E27FC236}">
                  <a16:creationId xmlns:a16="http://schemas.microsoft.com/office/drawing/2014/main" id="{F358372A-EDA5-E0CC-3F38-A4B35EA469A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36831" y="1976339"/>
              <a:ext cx="2069537" cy="1293460"/>
            </a:xfrm>
            <a:prstGeom prst="rect">
              <a:avLst/>
            </a:prstGeom>
          </p:spPr>
        </p:pic>
        <p:sp>
          <p:nvSpPr>
            <p:cNvPr id="12" name="TextBox 11">
              <a:extLst>
                <a:ext uri="{FF2B5EF4-FFF2-40B4-BE49-F238E27FC236}">
                  <a16:creationId xmlns:a16="http://schemas.microsoft.com/office/drawing/2014/main" id="{50857063-4C44-8F8A-B12C-DF982A2CA626}"/>
                </a:ext>
              </a:extLst>
            </p:cNvPr>
            <p:cNvSpPr txBox="1"/>
            <p:nvPr/>
          </p:nvSpPr>
          <p:spPr>
            <a:xfrm>
              <a:off x="801231" y="1556325"/>
              <a:ext cx="1140736" cy="369332"/>
            </a:xfrm>
            <a:prstGeom prst="rect">
              <a:avLst/>
            </a:prstGeom>
            <a:noFill/>
          </p:spPr>
          <p:txBody>
            <a:bodyPr wrap="square" rtlCol="0">
              <a:spAutoFit/>
            </a:bodyPr>
            <a:lstStyle/>
            <a:p>
              <a:pPr algn="ctr"/>
              <a:r>
                <a:rPr lang="en-US" altLang="zh-TW" dirty="0"/>
                <a:t>T = 0.0 s</a:t>
              </a:r>
              <a:endParaRPr lang="zh-TW" altLang="en-US" dirty="0"/>
            </a:p>
          </p:txBody>
        </p:sp>
      </p:grpSp>
      <p:grpSp>
        <p:nvGrpSpPr>
          <p:cNvPr id="13" name="Group 12">
            <a:extLst>
              <a:ext uri="{FF2B5EF4-FFF2-40B4-BE49-F238E27FC236}">
                <a16:creationId xmlns:a16="http://schemas.microsoft.com/office/drawing/2014/main" id="{AAFF1239-1CBF-5948-DC1A-9FF124CF13D7}"/>
              </a:ext>
            </a:extLst>
          </p:cNvPr>
          <p:cNvGrpSpPr/>
          <p:nvPr/>
        </p:nvGrpSpPr>
        <p:grpSpPr>
          <a:xfrm>
            <a:off x="6852854" y="4209030"/>
            <a:ext cx="2069537" cy="1739205"/>
            <a:chOff x="8640471" y="4247332"/>
            <a:chExt cx="2069537" cy="1739205"/>
          </a:xfrm>
        </p:grpSpPr>
        <p:pic>
          <p:nvPicPr>
            <p:cNvPr id="14" name="Picture 13">
              <a:extLst>
                <a:ext uri="{FF2B5EF4-FFF2-40B4-BE49-F238E27FC236}">
                  <a16:creationId xmlns:a16="http://schemas.microsoft.com/office/drawing/2014/main" id="{4DFA57BC-3CE4-C4EE-8A70-B4432064E56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640471" y="4693077"/>
              <a:ext cx="2069537" cy="1293460"/>
            </a:xfrm>
            <a:prstGeom prst="rect">
              <a:avLst/>
            </a:prstGeom>
          </p:spPr>
        </p:pic>
        <p:sp>
          <p:nvSpPr>
            <p:cNvPr id="15" name="TextBox 14">
              <a:extLst>
                <a:ext uri="{FF2B5EF4-FFF2-40B4-BE49-F238E27FC236}">
                  <a16:creationId xmlns:a16="http://schemas.microsoft.com/office/drawing/2014/main" id="{4049DC90-B5BB-E822-91A3-620373AE098D}"/>
                </a:ext>
              </a:extLst>
            </p:cNvPr>
            <p:cNvSpPr txBox="1"/>
            <p:nvPr/>
          </p:nvSpPr>
          <p:spPr>
            <a:xfrm>
              <a:off x="9104871" y="4247332"/>
              <a:ext cx="1140736" cy="369332"/>
            </a:xfrm>
            <a:prstGeom prst="rect">
              <a:avLst/>
            </a:prstGeom>
            <a:noFill/>
          </p:spPr>
          <p:txBody>
            <a:bodyPr wrap="square" rtlCol="0">
              <a:spAutoFit/>
            </a:bodyPr>
            <a:lstStyle/>
            <a:p>
              <a:pPr algn="ctr"/>
              <a:r>
                <a:rPr lang="en-US" altLang="zh-TW" dirty="0"/>
                <a:t>T = 3.0 s</a:t>
              </a:r>
              <a:endParaRPr lang="zh-TW" altLang="en-US" dirty="0"/>
            </a:p>
          </p:txBody>
        </p:sp>
      </p:grpSp>
      <p:grpSp>
        <p:nvGrpSpPr>
          <p:cNvPr id="16" name="Group 15">
            <a:extLst>
              <a:ext uri="{FF2B5EF4-FFF2-40B4-BE49-F238E27FC236}">
                <a16:creationId xmlns:a16="http://schemas.microsoft.com/office/drawing/2014/main" id="{FE39E81B-3175-1ACF-F0F7-C32D1C7B9620}"/>
              </a:ext>
            </a:extLst>
          </p:cNvPr>
          <p:cNvGrpSpPr/>
          <p:nvPr/>
        </p:nvGrpSpPr>
        <p:grpSpPr>
          <a:xfrm>
            <a:off x="4645430" y="4234762"/>
            <a:ext cx="2069537" cy="1713473"/>
            <a:chOff x="5883656" y="4247332"/>
            <a:chExt cx="2069537" cy="1713473"/>
          </a:xfrm>
        </p:grpSpPr>
        <p:pic>
          <p:nvPicPr>
            <p:cNvPr id="17" name="Picture 16">
              <a:extLst>
                <a:ext uri="{FF2B5EF4-FFF2-40B4-BE49-F238E27FC236}">
                  <a16:creationId xmlns:a16="http://schemas.microsoft.com/office/drawing/2014/main" id="{9215274C-0D63-B6CF-7135-FCBC6B5A3F4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5883656" y="4667345"/>
              <a:ext cx="2069537" cy="1293460"/>
            </a:xfrm>
            <a:prstGeom prst="rect">
              <a:avLst/>
            </a:prstGeom>
          </p:spPr>
        </p:pic>
        <p:sp>
          <p:nvSpPr>
            <p:cNvPr id="18" name="TextBox 17">
              <a:extLst>
                <a:ext uri="{FF2B5EF4-FFF2-40B4-BE49-F238E27FC236}">
                  <a16:creationId xmlns:a16="http://schemas.microsoft.com/office/drawing/2014/main" id="{68A99A68-A85E-88C5-83EC-07DFC60A44DF}"/>
                </a:ext>
              </a:extLst>
            </p:cNvPr>
            <p:cNvSpPr txBox="1"/>
            <p:nvPr/>
          </p:nvSpPr>
          <p:spPr>
            <a:xfrm>
              <a:off x="6348056" y="4247332"/>
              <a:ext cx="1140736" cy="369332"/>
            </a:xfrm>
            <a:prstGeom prst="rect">
              <a:avLst/>
            </a:prstGeom>
            <a:noFill/>
          </p:spPr>
          <p:txBody>
            <a:bodyPr wrap="square" rtlCol="0">
              <a:spAutoFit/>
            </a:bodyPr>
            <a:lstStyle/>
            <a:p>
              <a:pPr algn="ctr"/>
              <a:r>
                <a:rPr lang="en-US" altLang="zh-TW" dirty="0"/>
                <a:t>T = 2.5 s</a:t>
              </a:r>
              <a:endParaRPr lang="zh-TW" altLang="en-US" dirty="0"/>
            </a:p>
          </p:txBody>
        </p:sp>
      </p:grpSp>
      <p:grpSp>
        <p:nvGrpSpPr>
          <p:cNvPr id="19" name="Group 18">
            <a:extLst>
              <a:ext uri="{FF2B5EF4-FFF2-40B4-BE49-F238E27FC236}">
                <a16:creationId xmlns:a16="http://schemas.microsoft.com/office/drawing/2014/main" id="{C1306B0E-D391-5DF2-5ECD-E7FB64AF1D10}"/>
              </a:ext>
            </a:extLst>
          </p:cNvPr>
          <p:cNvGrpSpPr/>
          <p:nvPr/>
        </p:nvGrpSpPr>
        <p:grpSpPr>
          <a:xfrm>
            <a:off x="230582" y="4247331"/>
            <a:ext cx="2069537" cy="1713474"/>
            <a:chOff x="8565463" y="1556325"/>
            <a:chExt cx="2069537" cy="1713474"/>
          </a:xfrm>
        </p:grpSpPr>
        <p:pic>
          <p:nvPicPr>
            <p:cNvPr id="20" name="Picture 19">
              <a:extLst>
                <a:ext uri="{FF2B5EF4-FFF2-40B4-BE49-F238E27FC236}">
                  <a16:creationId xmlns:a16="http://schemas.microsoft.com/office/drawing/2014/main" id="{A213685A-D23F-8215-AE02-CAEA1B1259C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565463" y="1976339"/>
              <a:ext cx="2069537" cy="1293460"/>
            </a:xfrm>
            <a:prstGeom prst="rect">
              <a:avLst/>
            </a:prstGeom>
          </p:spPr>
        </p:pic>
        <p:sp>
          <p:nvSpPr>
            <p:cNvPr id="21" name="TextBox 20">
              <a:extLst>
                <a:ext uri="{FF2B5EF4-FFF2-40B4-BE49-F238E27FC236}">
                  <a16:creationId xmlns:a16="http://schemas.microsoft.com/office/drawing/2014/main" id="{9A846A27-A67D-F4CE-5E82-B23E290EEFC4}"/>
                </a:ext>
              </a:extLst>
            </p:cNvPr>
            <p:cNvSpPr txBox="1"/>
            <p:nvPr/>
          </p:nvSpPr>
          <p:spPr>
            <a:xfrm>
              <a:off x="9029863" y="1556325"/>
              <a:ext cx="1140736" cy="369332"/>
            </a:xfrm>
            <a:prstGeom prst="rect">
              <a:avLst/>
            </a:prstGeom>
            <a:noFill/>
          </p:spPr>
          <p:txBody>
            <a:bodyPr wrap="square" rtlCol="0">
              <a:spAutoFit/>
            </a:bodyPr>
            <a:lstStyle/>
            <a:p>
              <a:pPr algn="ctr"/>
              <a:r>
                <a:rPr lang="en-US" altLang="zh-TW" dirty="0"/>
                <a:t>T = 1.5 s</a:t>
              </a:r>
              <a:endParaRPr lang="zh-TW" altLang="en-US" dirty="0"/>
            </a:p>
          </p:txBody>
        </p:sp>
      </p:grpSp>
      <p:grpSp>
        <p:nvGrpSpPr>
          <p:cNvPr id="22" name="Group 21">
            <a:extLst>
              <a:ext uri="{FF2B5EF4-FFF2-40B4-BE49-F238E27FC236}">
                <a16:creationId xmlns:a16="http://schemas.microsoft.com/office/drawing/2014/main" id="{5E1838AD-70C9-31B9-6218-BA01856543D2}"/>
              </a:ext>
            </a:extLst>
          </p:cNvPr>
          <p:cNvGrpSpPr/>
          <p:nvPr/>
        </p:nvGrpSpPr>
        <p:grpSpPr>
          <a:xfrm>
            <a:off x="4645430" y="1689046"/>
            <a:ext cx="2069537" cy="1713474"/>
            <a:chOff x="6084275" y="1556325"/>
            <a:chExt cx="2069537" cy="1713474"/>
          </a:xfrm>
        </p:grpSpPr>
        <p:pic>
          <p:nvPicPr>
            <p:cNvPr id="23" name="Picture 22">
              <a:extLst>
                <a:ext uri="{FF2B5EF4-FFF2-40B4-BE49-F238E27FC236}">
                  <a16:creationId xmlns:a16="http://schemas.microsoft.com/office/drawing/2014/main" id="{A95FFBC2-4608-07CD-3CC1-F91B862A947F}"/>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6084275" y="1976339"/>
              <a:ext cx="2069537" cy="1293460"/>
            </a:xfrm>
            <a:prstGeom prst="rect">
              <a:avLst/>
            </a:prstGeom>
          </p:spPr>
        </p:pic>
        <p:sp>
          <p:nvSpPr>
            <p:cNvPr id="24" name="TextBox 23">
              <a:extLst>
                <a:ext uri="{FF2B5EF4-FFF2-40B4-BE49-F238E27FC236}">
                  <a16:creationId xmlns:a16="http://schemas.microsoft.com/office/drawing/2014/main" id="{BEC68E85-DF06-F334-D731-88821FBABDB6}"/>
                </a:ext>
              </a:extLst>
            </p:cNvPr>
            <p:cNvSpPr txBox="1"/>
            <p:nvPr/>
          </p:nvSpPr>
          <p:spPr>
            <a:xfrm>
              <a:off x="6549354" y="1556325"/>
              <a:ext cx="1140736" cy="369332"/>
            </a:xfrm>
            <a:prstGeom prst="rect">
              <a:avLst/>
            </a:prstGeom>
            <a:noFill/>
          </p:spPr>
          <p:txBody>
            <a:bodyPr wrap="square" rtlCol="0">
              <a:spAutoFit/>
            </a:bodyPr>
            <a:lstStyle/>
            <a:p>
              <a:pPr algn="ctr"/>
              <a:r>
                <a:rPr lang="en-US" altLang="zh-TW" dirty="0"/>
                <a:t>T = 1.0 s</a:t>
              </a:r>
              <a:endParaRPr lang="zh-TW" altLang="en-US" dirty="0"/>
            </a:p>
          </p:txBody>
        </p:sp>
      </p:grpSp>
      <p:grpSp>
        <p:nvGrpSpPr>
          <p:cNvPr id="25" name="Group 24">
            <a:extLst>
              <a:ext uri="{FF2B5EF4-FFF2-40B4-BE49-F238E27FC236}">
                <a16:creationId xmlns:a16="http://schemas.microsoft.com/office/drawing/2014/main" id="{013833BB-688D-DA44-E835-8BA135B32FDC}"/>
              </a:ext>
            </a:extLst>
          </p:cNvPr>
          <p:cNvGrpSpPr/>
          <p:nvPr/>
        </p:nvGrpSpPr>
        <p:grpSpPr>
          <a:xfrm>
            <a:off x="2438006" y="4234762"/>
            <a:ext cx="2069537" cy="1713474"/>
            <a:chOff x="336831" y="4346226"/>
            <a:chExt cx="2069537" cy="1713474"/>
          </a:xfrm>
        </p:grpSpPr>
        <p:pic>
          <p:nvPicPr>
            <p:cNvPr id="26" name="Picture 25">
              <a:extLst>
                <a:ext uri="{FF2B5EF4-FFF2-40B4-BE49-F238E27FC236}">
                  <a16:creationId xmlns:a16="http://schemas.microsoft.com/office/drawing/2014/main" id="{E3B8551C-1822-C2E5-3AB4-25C9D9B68BC0}"/>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336831" y="4766240"/>
              <a:ext cx="2069537" cy="1293460"/>
            </a:xfrm>
            <a:prstGeom prst="rect">
              <a:avLst/>
            </a:prstGeom>
          </p:spPr>
        </p:pic>
        <p:sp>
          <p:nvSpPr>
            <p:cNvPr id="27" name="TextBox 26">
              <a:extLst>
                <a:ext uri="{FF2B5EF4-FFF2-40B4-BE49-F238E27FC236}">
                  <a16:creationId xmlns:a16="http://schemas.microsoft.com/office/drawing/2014/main" id="{ADCF77D3-E234-49C5-7A62-427DD7009957}"/>
                </a:ext>
              </a:extLst>
            </p:cNvPr>
            <p:cNvSpPr txBox="1"/>
            <p:nvPr/>
          </p:nvSpPr>
          <p:spPr>
            <a:xfrm>
              <a:off x="801231" y="4346226"/>
              <a:ext cx="1140736" cy="369332"/>
            </a:xfrm>
            <a:prstGeom prst="rect">
              <a:avLst/>
            </a:prstGeom>
            <a:noFill/>
          </p:spPr>
          <p:txBody>
            <a:bodyPr wrap="square" rtlCol="0">
              <a:spAutoFit/>
            </a:bodyPr>
            <a:lstStyle/>
            <a:p>
              <a:pPr algn="ctr"/>
              <a:r>
                <a:rPr lang="en-US" altLang="zh-TW" dirty="0"/>
                <a:t>T = 2.0 s</a:t>
              </a:r>
              <a:endParaRPr lang="zh-TW" altLang="en-US" dirty="0"/>
            </a:p>
          </p:txBody>
        </p:sp>
      </p:grpSp>
      <p:pic>
        <p:nvPicPr>
          <p:cNvPr id="29" name="Picture 28">
            <a:extLst>
              <a:ext uri="{FF2B5EF4-FFF2-40B4-BE49-F238E27FC236}">
                <a16:creationId xmlns:a16="http://schemas.microsoft.com/office/drawing/2014/main" id="{404CD06E-5A64-1427-08B5-6186F8F1FC9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061169" y="1084617"/>
            <a:ext cx="4876800" cy="3048000"/>
          </a:xfrm>
          <a:prstGeom prst="rect">
            <a:avLst/>
          </a:prstGeom>
        </p:spPr>
      </p:pic>
    </p:spTree>
    <p:extLst>
      <p:ext uri="{BB962C8B-B14F-4D97-AF65-F5344CB8AC3E}">
        <p14:creationId xmlns:p14="http://schemas.microsoft.com/office/powerpoint/2010/main" val="722314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701FB-F19B-3220-CEA2-214CABB2D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2494B-9457-4DFB-085E-FD99F4F6D3A8}"/>
              </a:ext>
            </a:extLst>
          </p:cNvPr>
          <p:cNvSpPr>
            <a:spLocks noGrp="1"/>
          </p:cNvSpPr>
          <p:nvPr>
            <p:ph type="title"/>
          </p:nvPr>
        </p:nvSpPr>
        <p:spPr/>
        <p:txBody>
          <a:bodyPr/>
          <a:lstStyle/>
          <a:p>
            <a:r>
              <a:rPr lang="en-US" altLang="zh-TW" dirty="0"/>
              <a:t>1. Smaller Control Step</a:t>
            </a:r>
            <a:endParaRPr lang="zh-TW"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B48A5D-9AFD-6EF9-E535-A87E41DECD97}"/>
                  </a:ext>
                </a:extLst>
              </p:cNvPr>
              <p:cNvSpPr>
                <a:spLocks noGrp="1"/>
              </p:cNvSpPr>
              <p:nvPr>
                <p:ph idx="1"/>
              </p:nvPr>
            </p:nvSpPr>
            <p:spPr/>
            <p:txBody>
              <a:bodyPr/>
              <a:lstStyle/>
              <a:p>
                <a:r>
                  <a:rPr lang="en-US" altLang="zh-TW" dirty="0"/>
                  <a:t>Change </a:t>
                </a:r>
                <a14:m>
                  <m:oMath xmlns:m="http://schemas.openxmlformats.org/officeDocument/2006/math">
                    <m:r>
                      <a:rPr lang="en-US" altLang="zh-TW" b="0" i="1" smtClean="0">
                        <a:latin typeface="Cambria Math" panose="02040503050406030204" pitchFamily="18" charset="0"/>
                      </a:rPr>
                      <m:t>𝑑𝑡</m:t>
                    </m:r>
                  </m:oMath>
                </a14:m>
                <a:r>
                  <a:rPr lang="en-US" altLang="zh-TW" dirty="0"/>
                  <a:t> from 0.25 to 0.1</a:t>
                </a:r>
                <a:endParaRPr lang="zh-TW" altLang="en-US" dirty="0"/>
              </a:p>
            </p:txBody>
          </p:sp>
        </mc:Choice>
        <mc:Fallback xmlns="">
          <p:sp>
            <p:nvSpPr>
              <p:cNvPr id="3" name="Content Placeholder 2">
                <a:extLst>
                  <a:ext uri="{FF2B5EF4-FFF2-40B4-BE49-F238E27FC236}">
                    <a16:creationId xmlns:a16="http://schemas.microsoft.com/office/drawing/2014/main" id="{02B48A5D-9AFD-6EF9-E535-A87E41DECD97}"/>
                  </a:ext>
                </a:extLst>
              </p:cNvPr>
              <p:cNvSpPr>
                <a:spLocks noGrp="1" noRot="1" noChangeAspect="1" noMove="1" noResize="1" noEditPoints="1" noAdjustHandles="1" noChangeArrowheads="1" noChangeShapeType="1" noTextEdit="1"/>
              </p:cNvSpPr>
              <p:nvPr>
                <p:ph idx="1"/>
              </p:nvPr>
            </p:nvSpPr>
            <p:spPr>
              <a:blipFill>
                <a:blip r:embed="rId2"/>
                <a:stretch>
                  <a:fillRect l="-941" t="-2000"/>
                </a:stretch>
              </a:blipFill>
            </p:spPr>
            <p:txBody>
              <a:bodyPr/>
              <a:lstStyle/>
              <a:p>
                <a:r>
                  <a:rPr lang="zh-TW" altLang="en-US">
                    <a:noFill/>
                  </a:rPr>
                  <a:t> </a:t>
                </a:r>
              </a:p>
            </p:txBody>
          </p:sp>
        </mc:Fallback>
      </mc:AlternateContent>
      <p:sp>
        <p:nvSpPr>
          <p:cNvPr id="4" name="Slide Number Placeholder 3">
            <a:extLst>
              <a:ext uri="{FF2B5EF4-FFF2-40B4-BE49-F238E27FC236}">
                <a16:creationId xmlns:a16="http://schemas.microsoft.com/office/drawing/2014/main" id="{8ABFA27C-4664-0B24-B358-CD9BCED7AFF2}"/>
              </a:ext>
            </a:extLst>
          </p:cNvPr>
          <p:cNvSpPr>
            <a:spLocks noGrp="1"/>
          </p:cNvSpPr>
          <p:nvPr>
            <p:ph type="sldNum" sz="quarter" idx="12"/>
          </p:nvPr>
        </p:nvSpPr>
        <p:spPr/>
        <p:txBody>
          <a:bodyPr/>
          <a:lstStyle/>
          <a:p>
            <a:fld id="{5A741E56-E3D9-46FF-B47D-3FCBEAE97EB2}" type="slidenum">
              <a:rPr lang="en-US" smtClean="0"/>
              <a:pPr/>
              <a:t>18</a:t>
            </a:fld>
            <a:endParaRPr lang="en-US" dirty="0"/>
          </a:p>
        </p:txBody>
      </p:sp>
      <p:sp>
        <p:nvSpPr>
          <p:cNvPr id="5" name="Footer Placeholder 4">
            <a:extLst>
              <a:ext uri="{FF2B5EF4-FFF2-40B4-BE49-F238E27FC236}">
                <a16:creationId xmlns:a16="http://schemas.microsoft.com/office/drawing/2014/main" id="{4EA7B6CE-6408-722A-EBF4-88F76BBAC1F2}"/>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549AE0FA-8D78-AE6A-E4B2-AF4FB643527A}"/>
              </a:ext>
            </a:extLst>
          </p:cNvPr>
          <p:cNvSpPr>
            <a:spLocks noGrp="1"/>
          </p:cNvSpPr>
          <p:nvPr>
            <p:ph type="dt" sz="half" idx="10"/>
          </p:nvPr>
        </p:nvSpPr>
        <p:spPr/>
        <p:txBody>
          <a:bodyPr/>
          <a:lstStyle/>
          <a:p>
            <a:fld id="{E4965A3C-7C44-491F-A2CC-585294ABE301}" type="datetime1">
              <a:rPr lang="en-US" smtClean="0"/>
              <a:t>9/24/26</a:t>
            </a:fld>
            <a:endParaRPr lang="en-US" dirty="0"/>
          </a:p>
        </p:txBody>
      </p:sp>
      <p:grpSp>
        <p:nvGrpSpPr>
          <p:cNvPr id="7" name="Group 6">
            <a:extLst>
              <a:ext uri="{FF2B5EF4-FFF2-40B4-BE49-F238E27FC236}">
                <a16:creationId xmlns:a16="http://schemas.microsoft.com/office/drawing/2014/main" id="{C3F585AC-AA9E-A357-E0E1-2C6C634E3959}"/>
              </a:ext>
            </a:extLst>
          </p:cNvPr>
          <p:cNvGrpSpPr/>
          <p:nvPr/>
        </p:nvGrpSpPr>
        <p:grpSpPr>
          <a:xfrm>
            <a:off x="2438006" y="1689046"/>
            <a:ext cx="2069536" cy="1713474"/>
            <a:chOff x="3126842" y="1556325"/>
            <a:chExt cx="2069536" cy="1713474"/>
          </a:xfrm>
        </p:grpSpPr>
        <p:pic>
          <p:nvPicPr>
            <p:cNvPr id="8" name="Picture 7">
              <a:extLst>
                <a:ext uri="{FF2B5EF4-FFF2-40B4-BE49-F238E27FC236}">
                  <a16:creationId xmlns:a16="http://schemas.microsoft.com/office/drawing/2014/main" id="{5BA3CEFC-B27C-8D15-DA8C-0A36AC794B3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126842" y="1976339"/>
              <a:ext cx="2069536" cy="1293460"/>
            </a:xfrm>
            <a:prstGeom prst="rect">
              <a:avLst/>
            </a:prstGeom>
          </p:spPr>
        </p:pic>
        <p:sp>
          <p:nvSpPr>
            <p:cNvPr id="9" name="TextBox 8">
              <a:extLst>
                <a:ext uri="{FF2B5EF4-FFF2-40B4-BE49-F238E27FC236}">
                  <a16:creationId xmlns:a16="http://schemas.microsoft.com/office/drawing/2014/main" id="{E6FDC630-9E42-FF77-33D5-A490A652C6DF}"/>
                </a:ext>
              </a:extLst>
            </p:cNvPr>
            <p:cNvSpPr txBox="1"/>
            <p:nvPr/>
          </p:nvSpPr>
          <p:spPr>
            <a:xfrm>
              <a:off x="3591242" y="1556325"/>
              <a:ext cx="1140736" cy="369332"/>
            </a:xfrm>
            <a:prstGeom prst="rect">
              <a:avLst/>
            </a:prstGeom>
            <a:noFill/>
          </p:spPr>
          <p:txBody>
            <a:bodyPr wrap="square" rtlCol="0">
              <a:spAutoFit/>
            </a:bodyPr>
            <a:lstStyle/>
            <a:p>
              <a:pPr algn="ctr"/>
              <a:r>
                <a:rPr lang="en-US" altLang="zh-TW" dirty="0"/>
                <a:t>T = 0.5 s</a:t>
              </a:r>
              <a:endParaRPr lang="zh-TW" altLang="en-US" dirty="0"/>
            </a:p>
          </p:txBody>
        </p:sp>
      </p:grpSp>
      <p:grpSp>
        <p:nvGrpSpPr>
          <p:cNvPr id="10" name="Group 9">
            <a:extLst>
              <a:ext uri="{FF2B5EF4-FFF2-40B4-BE49-F238E27FC236}">
                <a16:creationId xmlns:a16="http://schemas.microsoft.com/office/drawing/2014/main" id="{B525E108-0C1D-C465-04F7-DFF66F47B761}"/>
              </a:ext>
            </a:extLst>
          </p:cNvPr>
          <p:cNvGrpSpPr/>
          <p:nvPr/>
        </p:nvGrpSpPr>
        <p:grpSpPr>
          <a:xfrm>
            <a:off x="230582" y="1689046"/>
            <a:ext cx="2069536" cy="1713474"/>
            <a:chOff x="336831" y="1556325"/>
            <a:chExt cx="2069536" cy="1713474"/>
          </a:xfrm>
        </p:grpSpPr>
        <p:pic>
          <p:nvPicPr>
            <p:cNvPr id="11" name="Picture 10">
              <a:extLst>
                <a:ext uri="{FF2B5EF4-FFF2-40B4-BE49-F238E27FC236}">
                  <a16:creationId xmlns:a16="http://schemas.microsoft.com/office/drawing/2014/main" id="{3901AAB9-EE72-EC40-C19F-8D515E60CC9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36831" y="1976339"/>
              <a:ext cx="2069536" cy="1293460"/>
            </a:xfrm>
            <a:prstGeom prst="rect">
              <a:avLst/>
            </a:prstGeom>
          </p:spPr>
        </p:pic>
        <p:sp>
          <p:nvSpPr>
            <p:cNvPr id="12" name="TextBox 11">
              <a:extLst>
                <a:ext uri="{FF2B5EF4-FFF2-40B4-BE49-F238E27FC236}">
                  <a16:creationId xmlns:a16="http://schemas.microsoft.com/office/drawing/2014/main" id="{D412EC37-2CAF-8C66-9986-2FCB6FEC2A8D}"/>
                </a:ext>
              </a:extLst>
            </p:cNvPr>
            <p:cNvSpPr txBox="1"/>
            <p:nvPr/>
          </p:nvSpPr>
          <p:spPr>
            <a:xfrm>
              <a:off x="801231" y="1556325"/>
              <a:ext cx="1140736" cy="369332"/>
            </a:xfrm>
            <a:prstGeom prst="rect">
              <a:avLst/>
            </a:prstGeom>
            <a:noFill/>
          </p:spPr>
          <p:txBody>
            <a:bodyPr wrap="square" rtlCol="0">
              <a:spAutoFit/>
            </a:bodyPr>
            <a:lstStyle/>
            <a:p>
              <a:pPr algn="ctr"/>
              <a:r>
                <a:rPr lang="en-US" altLang="zh-TW" dirty="0"/>
                <a:t>T = 0.0 s</a:t>
              </a:r>
              <a:endParaRPr lang="zh-TW" altLang="en-US" dirty="0"/>
            </a:p>
          </p:txBody>
        </p:sp>
      </p:grpSp>
      <p:grpSp>
        <p:nvGrpSpPr>
          <p:cNvPr id="13" name="Group 12">
            <a:extLst>
              <a:ext uri="{FF2B5EF4-FFF2-40B4-BE49-F238E27FC236}">
                <a16:creationId xmlns:a16="http://schemas.microsoft.com/office/drawing/2014/main" id="{147DFBDA-0356-792D-E97C-526D7E29F814}"/>
              </a:ext>
            </a:extLst>
          </p:cNvPr>
          <p:cNvGrpSpPr/>
          <p:nvPr/>
        </p:nvGrpSpPr>
        <p:grpSpPr>
          <a:xfrm>
            <a:off x="6852854" y="4209030"/>
            <a:ext cx="2069536" cy="1739205"/>
            <a:chOff x="8640471" y="4247332"/>
            <a:chExt cx="2069536" cy="1739205"/>
          </a:xfrm>
        </p:grpSpPr>
        <p:pic>
          <p:nvPicPr>
            <p:cNvPr id="14" name="Picture 13">
              <a:extLst>
                <a:ext uri="{FF2B5EF4-FFF2-40B4-BE49-F238E27FC236}">
                  <a16:creationId xmlns:a16="http://schemas.microsoft.com/office/drawing/2014/main" id="{E3771A7D-E59A-CEF1-D7A2-8BEF5CF9E8A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640471" y="4693077"/>
              <a:ext cx="2069536" cy="1293460"/>
            </a:xfrm>
            <a:prstGeom prst="rect">
              <a:avLst/>
            </a:prstGeom>
          </p:spPr>
        </p:pic>
        <p:sp>
          <p:nvSpPr>
            <p:cNvPr id="15" name="TextBox 14">
              <a:extLst>
                <a:ext uri="{FF2B5EF4-FFF2-40B4-BE49-F238E27FC236}">
                  <a16:creationId xmlns:a16="http://schemas.microsoft.com/office/drawing/2014/main" id="{16B72F7B-DD25-5916-3223-71AA3A2CA8DD}"/>
                </a:ext>
              </a:extLst>
            </p:cNvPr>
            <p:cNvSpPr txBox="1"/>
            <p:nvPr/>
          </p:nvSpPr>
          <p:spPr>
            <a:xfrm>
              <a:off x="9104871" y="4247332"/>
              <a:ext cx="1140736" cy="369332"/>
            </a:xfrm>
            <a:prstGeom prst="rect">
              <a:avLst/>
            </a:prstGeom>
            <a:noFill/>
          </p:spPr>
          <p:txBody>
            <a:bodyPr wrap="square" rtlCol="0">
              <a:spAutoFit/>
            </a:bodyPr>
            <a:lstStyle/>
            <a:p>
              <a:pPr algn="ctr"/>
              <a:r>
                <a:rPr lang="en-US" altLang="zh-TW" dirty="0"/>
                <a:t>T = 3.0 s</a:t>
              </a:r>
              <a:endParaRPr lang="zh-TW" altLang="en-US" dirty="0"/>
            </a:p>
          </p:txBody>
        </p:sp>
      </p:grpSp>
      <p:grpSp>
        <p:nvGrpSpPr>
          <p:cNvPr id="16" name="Group 15">
            <a:extLst>
              <a:ext uri="{FF2B5EF4-FFF2-40B4-BE49-F238E27FC236}">
                <a16:creationId xmlns:a16="http://schemas.microsoft.com/office/drawing/2014/main" id="{AB755EE4-2964-57F1-E584-7785D1CDF04E}"/>
              </a:ext>
            </a:extLst>
          </p:cNvPr>
          <p:cNvGrpSpPr/>
          <p:nvPr/>
        </p:nvGrpSpPr>
        <p:grpSpPr>
          <a:xfrm>
            <a:off x="4645430" y="4234762"/>
            <a:ext cx="2069536" cy="1713473"/>
            <a:chOff x="5883656" y="4247332"/>
            <a:chExt cx="2069536" cy="1713473"/>
          </a:xfrm>
        </p:grpSpPr>
        <p:pic>
          <p:nvPicPr>
            <p:cNvPr id="17" name="Picture 16">
              <a:extLst>
                <a:ext uri="{FF2B5EF4-FFF2-40B4-BE49-F238E27FC236}">
                  <a16:creationId xmlns:a16="http://schemas.microsoft.com/office/drawing/2014/main" id="{F2CE73CA-3E2F-0531-8D45-0CF6C8E3212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5883656" y="4667345"/>
              <a:ext cx="2069536" cy="1293460"/>
            </a:xfrm>
            <a:prstGeom prst="rect">
              <a:avLst/>
            </a:prstGeom>
          </p:spPr>
        </p:pic>
        <p:sp>
          <p:nvSpPr>
            <p:cNvPr id="18" name="TextBox 17">
              <a:extLst>
                <a:ext uri="{FF2B5EF4-FFF2-40B4-BE49-F238E27FC236}">
                  <a16:creationId xmlns:a16="http://schemas.microsoft.com/office/drawing/2014/main" id="{E679CF63-1042-2562-EC88-35BE29D44D5A}"/>
                </a:ext>
              </a:extLst>
            </p:cNvPr>
            <p:cNvSpPr txBox="1"/>
            <p:nvPr/>
          </p:nvSpPr>
          <p:spPr>
            <a:xfrm>
              <a:off x="6348056" y="4247332"/>
              <a:ext cx="1140736" cy="369332"/>
            </a:xfrm>
            <a:prstGeom prst="rect">
              <a:avLst/>
            </a:prstGeom>
            <a:noFill/>
          </p:spPr>
          <p:txBody>
            <a:bodyPr wrap="square" rtlCol="0">
              <a:spAutoFit/>
            </a:bodyPr>
            <a:lstStyle/>
            <a:p>
              <a:pPr algn="ctr"/>
              <a:r>
                <a:rPr lang="en-US" altLang="zh-TW" dirty="0"/>
                <a:t>T = 2.5 s</a:t>
              </a:r>
              <a:endParaRPr lang="zh-TW" altLang="en-US" dirty="0"/>
            </a:p>
          </p:txBody>
        </p:sp>
      </p:grpSp>
      <p:grpSp>
        <p:nvGrpSpPr>
          <p:cNvPr id="19" name="Group 18">
            <a:extLst>
              <a:ext uri="{FF2B5EF4-FFF2-40B4-BE49-F238E27FC236}">
                <a16:creationId xmlns:a16="http://schemas.microsoft.com/office/drawing/2014/main" id="{A1070919-8733-2F19-ACC2-E75B7CFD1E05}"/>
              </a:ext>
            </a:extLst>
          </p:cNvPr>
          <p:cNvGrpSpPr/>
          <p:nvPr/>
        </p:nvGrpSpPr>
        <p:grpSpPr>
          <a:xfrm>
            <a:off x="230582" y="4247331"/>
            <a:ext cx="2069536" cy="1713474"/>
            <a:chOff x="8565463" y="1556325"/>
            <a:chExt cx="2069536" cy="1713474"/>
          </a:xfrm>
        </p:grpSpPr>
        <p:pic>
          <p:nvPicPr>
            <p:cNvPr id="20" name="Picture 19">
              <a:extLst>
                <a:ext uri="{FF2B5EF4-FFF2-40B4-BE49-F238E27FC236}">
                  <a16:creationId xmlns:a16="http://schemas.microsoft.com/office/drawing/2014/main" id="{EDFB5B78-E0AA-D1D5-BFB3-BB53A4D8F92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565463" y="1976339"/>
              <a:ext cx="2069536" cy="1293460"/>
            </a:xfrm>
            <a:prstGeom prst="rect">
              <a:avLst/>
            </a:prstGeom>
          </p:spPr>
        </p:pic>
        <p:sp>
          <p:nvSpPr>
            <p:cNvPr id="21" name="TextBox 20">
              <a:extLst>
                <a:ext uri="{FF2B5EF4-FFF2-40B4-BE49-F238E27FC236}">
                  <a16:creationId xmlns:a16="http://schemas.microsoft.com/office/drawing/2014/main" id="{B1FD9CDF-E4E1-A2DB-FF8A-6C1F2ED0881C}"/>
                </a:ext>
              </a:extLst>
            </p:cNvPr>
            <p:cNvSpPr txBox="1"/>
            <p:nvPr/>
          </p:nvSpPr>
          <p:spPr>
            <a:xfrm>
              <a:off x="9029863" y="1556325"/>
              <a:ext cx="1140736" cy="369332"/>
            </a:xfrm>
            <a:prstGeom prst="rect">
              <a:avLst/>
            </a:prstGeom>
            <a:noFill/>
          </p:spPr>
          <p:txBody>
            <a:bodyPr wrap="square" rtlCol="0">
              <a:spAutoFit/>
            </a:bodyPr>
            <a:lstStyle/>
            <a:p>
              <a:pPr algn="ctr"/>
              <a:r>
                <a:rPr lang="en-US" altLang="zh-TW" dirty="0"/>
                <a:t>T = 1.5 s</a:t>
              </a:r>
              <a:endParaRPr lang="zh-TW" altLang="en-US" dirty="0"/>
            </a:p>
          </p:txBody>
        </p:sp>
      </p:grpSp>
      <p:grpSp>
        <p:nvGrpSpPr>
          <p:cNvPr id="22" name="Group 21">
            <a:extLst>
              <a:ext uri="{FF2B5EF4-FFF2-40B4-BE49-F238E27FC236}">
                <a16:creationId xmlns:a16="http://schemas.microsoft.com/office/drawing/2014/main" id="{2B9FE422-A605-BE8F-EA0E-4D241488FF91}"/>
              </a:ext>
            </a:extLst>
          </p:cNvPr>
          <p:cNvGrpSpPr/>
          <p:nvPr/>
        </p:nvGrpSpPr>
        <p:grpSpPr>
          <a:xfrm>
            <a:off x="4645430" y="1689046"/>
            <a:ext cx="2069536" cy="1713474"/>
            <a:chOff x="6084275" y="1556325"/>
            <a:chExt cx="2069536" cy="1713474"/>
          </a:xfrm>
        </p:grpSpPr>
        <p:pic>
          <p:nvPicPr>
            <p:cNvPr id="23" name="Picture 22">
              <a:extLst>
                <a:ext uri="{FF2B5EF4-FFF2-40B4-BE49-F238E27FC236}">
                  <a16:creationId xmlns:a16="http://schemas.microsoft.com/office/drawing/2014/main" id="{FC3475E1-E7C3-408A-F2E7-868A510EFBCA}"/>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6084275" y="1976339"/>
              <a:ext cx="2069536" cy="1293460"/>
            </a:xfrm>
            <a:prstGeom prst="rect">
              <a:avLst/>
            </a:prstGeom>
          </p:spPr>
        </p:pic>
        <p:sp>
          <p:nvSpPr>
            <p:cNvPr id="24" name="TextBox 23">
              <a:extLst>
                <a:ext uri="{FF2B5EF4-FFF2-40B4-BE49-F238E27FC236}">
                  <a16:creationId xmlns:a16="http://schemas.microsoft.com/office/drawing/2014/main" id="{A60D5D45-6F94-9D32-D174-FA811FEA1AE8}"/>
                </a:ext>
              </a:extLst>
            </p:cNvPr>
            <p:cNvSpPr txBox="1"/>
            <p:nvPr/>
          </p:nvSpPr>
          <p:spPr>
            <a:xfrm>
              <a:off x="6549354" y="1556325"/>
              <a:ext cx="1140736" cy="369332"/>
            </a:xfrm>
            <a:prstGeom prst="rect">
              <a:avLst/>
            </a:prstGeom>
            <a:noFill/>
          </p:spPr>
          <p:txBody>
            <a:bodyPr wrap="square" rtlCol="0">
              <a:spAutoFit/>
            </a:bodyPr>
            <a:lstStyle/>
            <a:p>
              <a:pPr algn="ctr"/>
              <a:r>
                <a:rPr lang="en-US" altLang="zh-TW" dirty="0"/>
                <a:t>T = 1.0 s</a:t>
              </a:r>
              <a:endParaRPr lang="zh-TW" altLang="en-US" dirty="0"/>
            </a:p>
          </p:txBody>
        </p:sp>
      </p:grpSp>
      <p:grpSp>
        <p:nvGrpSpPr>
          <p:cNvPr id="25" name="Group 24">
            <a:extLst>
              <a:ext uri="{FF2B5EF4-FFF2-40B4-BE49-F238E27FC236}">
                <a16:creationId xmlns:a16="http://schemas.microsoft.com/office/drawing/2014/main" id="{4FD32988-24B7-D2F2-C2AA-33C201D43533}"/>
              </a:ext>
            </a:extLst>
          </p:cNvPr>
          <p:cNvGrpSpPr/>
          <p:nvPr/>
        </p:nvGrpSpPr>
        <p:grpSpPr>
          <a:xfrm>
            <a:off x="2438006" y="4234762"/>
            <a:ext cx="2069536" cy="1713474"/>
            <a:chOff x="336831" y="4346226"/>
            <a:chExt cx="2069536" cy="1713474"/>
          </a:xfrm>
        </p:grpSpPr>
        <p:pic>
          <p:nvPicPr>
            <p:cNvPr id="26" name="Picture 25">
              <a:extLst>
                <a:ext uri="{FF2B5EF4-FFF2-40B4-BE49-F238E27FC236}">
                  <a16:creationId xmlns:a16="http://schemas.microsoft.com/office/drawing/2014/main" id="{3ECE8695-0822-331B-1C4E-228F384BBDAF}"/>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336831" y="4766240"/>
              <a:ext cx="2069536" cy="1293460"/>
            </a:xfrm>
            <a:prstGeom prst="rect">
              <a:avLst/>
            </a:prstGeom>
          </p:spPr>
        </p:pic>
        <p:sp>
          <p:nvSpPr>
            <p:cNvPr id="27" name="TextBox 26">
              <a:extLst>
                <a:ext uri="{FF2B5EF4-FFF2-40B4-BE49-F238E27FC236}">
                  <a16:creationId xmlns:a16="http://schemas.microsoft.com/office/drawing/2014/main" id="{501CBDC0-A21B-BF95-6568-F7AA6A4EF45D}"/>
                </a:ext>
              </a:extLst>
            </p:cNvPr>
            <p:cNvSpPr txBox="1"/>
            <p:nvPr/>
          </p:nvSpPr>
          <p:spPr>
            <a:xfrm>
              <a:off x="801231" y="4346226"/>
              <a:ext cx="1140736" cy="369332"/>
            </a:xfrm>
            <a:prstGeom prst="rect">
              <a:avLst/>
            </a:prstGeom>
            <a:noFill/>
          </p:spPr>
          <p:txBody>
            <a:bodyPr wrap="square" rtlCol="0">
              <a:spAutoFit/>
            </a:bodyPr>
            <a:lstStyle/>
            <a:p>
              <a:pPr algn="ctr"/>
              <a:r>
                <a:rPr lang="en-US" altLang="zh-TW" dirty="0"/>
                <a:t>T = 2.0 s</a:t>
              </a:r>
              <a:endParaRPr lang="zh-TW" altLang="en-US" dirty="0"/>
            </a:p>
          </p:txBody>
        </p:sp>
      </p:grpSp>
      <p:pic>
        <p:nvPicPr>
          <p:cNvPr id="29" name="Picture 28">
            <a:extLst>
              <a:ext uri="{FF2B5EF4-FFF2-40B4-BE49-F238E27FC236}">
                <a16:creationId xmlns:a16="http://schemas.microsoft.com/office/drawing/2014/main" id="{D2900DBC-DF3E-8B4F-3EEE-640B4A739FA2}"/>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7061169" y="1084617"/>
            <a:ext cx="4876800" cy="3048000"/>
          </a:xfrm>
          <a:prstGeom prst="rect">
            <a:avLst/>
          </a:prstGeom>
        </p:spPr>
      </p:pic>
    </p:spTree>
    <p:extLst>
      <p:ext uri="{BB962C8B-B14F-4D97-AF65-F5344CB8AC3E}">
        <p14:creationId xmlns:p14="http://schemas.microsoft.com/office/powerpoint/2010/main" val="2952858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5837F-40E6-4F86-1FE8-153BD72C0E94}"/>
              </a:ext>
            </a:extLst>
          </p:cNvPr>
          <p:cNvSpPr>
            <a:spLocks noGrp="1"/>
          </p:cNvSpPr>
          <p:nvPr>
            <p:ph type="title"/>
          </p:nvPr>
        </p:nvSpPr>
        <p:spPr/>
        <p:txBody>
          <a:bodyPr/>
          <a:lstStyle/>
          <a:p>
            <a:r>
              <a:rPr lang="en-US" altLang="zh-TW" dirty="0"/>
              <a:t>1. Comparison@ t = 3.5 sec</a:t>
            </a:r>
            <a:endParaRPr lang="zh-TW" altLang="en-US" dirty="0"/>
          </a:p>
        </p:txBody>
      </p:sp>
      <p:pic>
        <p:nvPicPr>
          <p:cNvPr id="8" name="Content Placeholder 7">
            <a:extLst>
              <a:ext uri="{FF2B5EF4-FFF2-40B4-BE49-F238E27FC236}">
                <a16:creationId xmlns:a16="http://schemas.microsoft.com/office/drawing/2014/main" id="{69198896-64D5-1DA0-987D-0879F346CAA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616024" y="808856"/>
            <a:ext cx="5023516" cy="3139697"/>
          </a:xfrm>
          <a:prstGeom prst="rect">
            <a:avLst/>
          </a:prstGeom>
        </p:spPr>
      </p:pic>
      <p:sp>
        <p:nvSpPr>
          <p:cNvPr id="4" name="Slide Number Placeholder 3">
            <a:extLst>
              <a:ext uri="{FF2B5EF4-FFF2-40B4-BE49-F238E27FC236}">
                <a16:creationId xmlns:a16="http://schemas.microsoft.com/office/drawing/2014/main" id="{DE6A05C2-FA3E-7DF8-AE0B-751A615EC816}"/>
              </a:ext>
            </a:extLst>
          </p:cNvPr>
          <p:cNvSpPr>
            <a:spLocks noGrp="1"/>
          </p:cNvSpPr>
          <p:nvPr>
            <p:ph type="sldNum" sz="quarter" idx="12"/>
          </p:nvPr>
        </p:nvSpPr>
        <p:spPr/>
        <p:txBody>
          <a:bodyPr/>
          <a:lstStyle/>
          <a:p>
            <a:fld id="{5A741E56-E3D9-46FF-B47D-3FCBEAE97EB2}" type="slidenum">
              <a:rPr lang="en-US" smtClean="0"/>
              <a:pPr/>
              <a:t>19</a:t>
            </a:fld>
            <a:endParaRPr lang="en-US" dirty="0"/>
          </a:p>
        </p:txBody>
      </p:sp>
      <p:sp>
        <p:nvSpPr>
          <p:cNvPr id="5" name="Footer Placeholder 4">
            <a:extLst>
              <a:ext uri="{FF2B5EF4-FFF2-40B4-BE49-F238E27FC236}">
                <a16:creationId xmlns:a16="http://schemas.microsoft.com/office/drawing/2014/main" id="{272D27BD-86F4-D6E3-4D68-EBEB48A7F20C}"/>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AB395E99-2821-5AFA-E906-009AE4E8F7D8}"/>
              </a:ext>
            </a:extLst>
          </p:cNvPr>
          <p:cNvSpPr>
            <a:spLocks noGrp="1"/>
          </p:cNvSpPr>
          <p:nvPr>
            <p:ph type="dt" sz="half" idx="10"/>
          </p:nvPr>
        </p:nvSpPr>
        <p:spPr/>
        <p:txBody>
          <a:bodyPr/>
          <a:lstStyle/>
          <a:p>
            <a:fld id="{E4965A3C-7C44-491F-A2CC-585294ABE301}" type="datetime1">
              <a:rPr lang="en-US" smtClean="0"/>
              <a:t>9/24/26</a:t>
            </a:fld>
            <a:endParaRPr lang="en-US" dirty="0"/>
          </a:p>
        </p:txBody>
      </p:sp>
      <p:pic>
        <p:nvPicPr>
          <p:cNvPr id="10" name="Picture 9">
            <a:extLst>
              <a:ext uri="{FF2B5EF4-FFF2-40B4-BE49-F238E27FC236}">
                <a16:creationId xmlns:a16="http://schemas.microsoft.com/office/drawing/2014/main" id="{E843E454-E8DA-3EDA-ABC6-EFEDB84A7B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2462" y="808857"/>
            <a:ext cx="5023516" cy="3139697"/>
          </a:xfrm>
          <a:prstGeom prst="rect">
            <a:avLst/>
          </a:prstGeom>
        </p:spPr>
      </p:pic>
      <p:pic>
        <p:nvPicPr>
          <p:cNvPr id="21" name="Picture 20">
            <a:extLst>
              <a:ext uri="{FF2B5EF4-FFF2-40B4-BE49-F238E27FC236}">
                <a16:creationId xmlns:a16="http://schemas.microsoft.com/office/drawing/2014/main" id="{8C6D77B8-E2AC-C09D-2075-A4AA3BB87D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3246" y="3718303"/>
            <a:ext cx="5023515" cy="3139697"/>
          </a:xfrm>
          <a:prstGeom prst="rect">
            <a:avLst/>
          </a:prstGeom>
        </p:spPr>
      </p:pic>
    </p:spTree>
    <p:extLst>
      <p:ext uri="{BB962C8B-B14F-4D97-AF65-F5344CB8AC3E}">
        <p14:creationId xmlns:p14="http://schemas.microsoft.com/office/powerpoint/2010/main" val="1425736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1579B-FF2B-C0A1-9E85-5DDC6D7C1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51E7E-2EE6-1E67-A6BB-2E09273C8256}"/>
              </a:ext>
            </a:extLst>
          </p:cNvPr>
          <p:cNvSpPr>
            <a:spLocks noGrp="1"/>
          </p:cNvSpPr>
          <p:nvPr>
            <p:ph type="title"/>
          </p:nvPr>
        </p:nvSpPr>
        <p:spPr/>
        <p:txBody>
          <a:bodyPr/>
          <a:lstStyle/>
          <a:p>
            <a:r>
              <a:rPr lang="en-US" altLang="zh-TW" dirty="0"/>
              <a:t>1. Comparison@ t = 3.5 sec</a:t>
            </a:r>
            <a:endParaRPr lang="zh-TW" altLang="en-US" dirty="0"/>
          </a:p>
        </p:txBody>
      </p:sp>
      <p:sp>
        <p:nvSpPr>
          <p:cNvPr id="4" name="Slide Number Placeholder 3">
            <a:extLst>
              <a:ext uri="{FF2B5EF4-FFF2-40B4-BE49-F238E27FC236}">
                <a16:creationId xmlns:a16="http://schemas.microsoft.com/office/drawing/2014/main" id="{B07E1405-F553-3321-AAAE-9AEC2E43A817}"/>
              </a:ext>
            </a:extLst>
          </p:cNvPr>
          <p:cNvSpPr>
            <a:spLocks noGrp="1"/>
          </p:cNvSpPr>
          <p:nvPr>
            <p:ph type="sldNum" sz="quarter" idx="12"/>
          </p:nvPr>
        </p:nvSpPr>
        <p:spPr/>
        <p:txBody>
          <a:bodyPr/>
          <a:lstStyle/>
          <a:p>
            <a:fld id="{5A741E56-E3D9-46FF-B47D-3FCBEAE97EB2}" type="slidenum">
              <a:rPr lang="en-US" smtClean="0"/>
              <a:pPr/>
              <a:t>20</a:t>
            </a:fld>
            <a:endParaRPr lang="en-US" dirty="0"/>
          </a:p>
        </p:txBody>
      </p:sp>
      <p:sp>
        <p:nvSpPr>
          <p:cNvPr id="5" name="Footer Placeholder 4">
            <a:extLst>
              <a:ext uri="{FF2B5EF4-FFF2-40B4-BE49-F238E27FC236}">
                <a16:creationId xmlns:a16="http://schemas.microsoft.com/office/drawing/2014/main" id="{DAD96C90-48E9-F2AF-8AA8-1225DDE3CFE8}"/>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BC1FB2FF-E105-C93B-34EA-E540830E8269}"/>
              </a:ext>
            </a:extLst>
          </p:cNvPr>
          <p:cNvSpPr>
            <a:spLocks noGrp="1"/>
          </p:cNvSpPr>
          <p:nvPr>
            <p:ph type="dt" sz="half" idx="10"/>
          </p:nvPr>
        </p:nvSpPr>
        <p:spPr/>
        <p:txBody>
          <a:bodyPr/>
          <a:lstStyle/>
          <a:p>
            <a:fld id="{E4965A3C-7C44-491F-A2CC-585294ABE301}" type="datetime1">
              <a:rPr lang="en-US" smtClean="0"/>
              <a:t>9/24/26</a:t>
            </a:fld>
            <a:endParaRPr lang="en-US" dirty="0"/>
          </a:p>
        </p:txBody>
      </p:sp>
      <p:pic>
        <p:nvPicPr>
          <p:cNvPr id="15" name="Picture 14">
            <a:extLst>
              <a:ext uri="{FF2B5EF4-FFF2-40B4-BE49-F238E27FC236}">
                <a16:creationId xmlns:a16="http://schemas.microsoft.com/office/drawing/2014/main" id="{8103CBF6-E578-4023-4564-B1711E019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098" y="3722951"/>
            <a:ext cx="4430589" cy="2769118"/>
          </a:xfrm>
          <a:prstGeom prst="rect">
            <a:avLst/>
          </a:prstGeom>
        </p:spPr>
      </p:pic>
      <p:pic>
        <p:nvPicPr>
          <p:cNvPr id="17" name="Picture 16">
            <a:extLst>
              <a:ext uri="{FF2B5EF4-FFF2-40B4-BE49-F238E27FC236}">
                <a16:creationId xmlns:a16="http://schemas.microsoft.com/office/drawing/2014/main" id="{FAB56CB9-B72F-A618-7BCC-16DB561779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9607" y="861322"/>
            <a:ext cx="4430589" cy="2769118"/>
          </a:xfrm>
          <a:prstGeom prst="rect">
            <a:avLst/>
          </a:prstGeom>
        </p:spPr>
      </p:pic>
      <p:pic>
        <p:nvPicPr>
          <p:cNvPr id="19" name="Picture 18">
            <a:extLst>
              <a:ext uri="{FF2B5EF4-FFF2-40B4-BE49-F238E27FC236}">
                <a16:creationId xmlns:a16="http://schemas.microsoft.com/office/drawing/2014/main" id="{614E2234-25E2-7AEF-2BC8-0099050840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1099" y="861322"/>
            <a:ext cx="4430589" cy="2769118"/>
          </a:xfrm>
          <a:prstGeom prst="rect">
            <a:avLst/>
          </a:prstGeom>
        </p:spPr>
      </p:pic>
      <p:pic>
        <p:nvPicPr>
          <p:cNvPr id="11" name="Picture 10">
            <a:extLst>
              <a:ext uri="{FF2B5EF4-FFF2-40B4-BE49-F238E27FC236}">
                <a16:creationId xmlns:a16="http://schemas.microsoft.com/office/drawing/2014/main" id="{4BB1AFAF-2B9D-BFE3-1C66-1433A169B1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9607" y="3722951"/>
            <a:ext cx="4430589" cy="2769118"/>
          </a:xfrm>
          <a:prstGeom prst="rect">
            <a:avLst/>
          </a:prstGeom>
        </p:spPr>
      </p:pic>
    </p:spTree>
    <p:extLst>
      <p:ext uri="{BB962C8B-B14F-4D97-AF65-F5344CB8AC3E}">
        <p14:creationId xmlns:p14="http://schemas.microsoft.com/office/powerpoint/2010/main" val="3515836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DE89D-3580-38C8-6DB9-BAD66D832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8C887-4C8A-0F9D-40BF-E4C47C427A26}"/>
              </a:ext>
            </a:extLst>
          </p:cNvPr>
          <p:cNvSpPr>
            <a:spLocks noGrp="1"/>
          </p:cNvSpPr>
          <p:nvPr>
            <p:ph type="title"/>
          </p:nvPr>
        </p:nvSpPr>
        <p:spPr/>
        <p:txBody>
          <a:bodyPr/>
          <a:lstStyle/>
          <a:p>
            <a:r>
              <a:rPr lang="en-US" altLang="zh-TW" dirty="0"/>
              <a:t>1. Smaller Control Step</a:t>
            </a:r>
            <a:endParaRPr lang="zh-TW" altLang="en-US" dirty="0"/>
          </a:p>
        </p:txBody>
      </p:sp>
      <p:sp>
        <p:nvSpPr>
          <p:cNvPr id="4" name="Slide Number Placeholder 3">
            <a:extLst>
              <a:ext uri="{FF2B5EF4-FFF2-40B4-BE49-F238E27FC236}">
                <a16:creationId xmlns:a16="http://schemas.microsoft.com/office/drawing/2014/main" id="{625E6B66-316C-2F89-E74F-B3C70F5D839B}"/>
              </a:ext>
            </a:extLst>
          </p:cNvPr>
          <p:cNvSpPr>
            <a:spLocks noGrp="1"/>
          </p:cNvSpPr>
          <p:nvPr>
            <p:ph type="sldNum" sz="quarter" idx="12"/>
          </p:nvPr>
        </p:nvSpPr>
        <p:spPr/>
        <p:txBody>
          <a:bodyPr/>
          <a:lstStyle/>
          <a:p>
            <a:fld id="{5A741E56-E3D9-46FF-B47D-3FCBEAE97EB2}" type="slidenum">
              <a:rPr lang="en-US" smtClean="0"/>
              <a:pPr/>
              <a:t>21</a:t>
            </a:fld>
            <a:endParaRPr lang="en-US" dirty="0"/>
          </a:p>
        </p:txBody>
      </p:sp>
      <p:sp>
        <p:nvSpPr>
          <p:cNvPr id="5" name="Footer Placeholder 4">
            <a:extLst>
              <a:ext uri="{FF2B5EF4-FFF2-40B4-BE49-F238E27FC236}">
                <a16:creationId xmlns:a16="http://schemas.microsoft.com/office/drawing/2014/main" id="{1744FFD6-1D21-4861-6D23-5391FB512513}"/>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923C903A-5AED-52AE-DFAC-E7FC639A64F3}"/>
              </a:ext>
            </a:extLst>
          </p:cNvPr>
          <p:cNvSpPr>
            <a:spLocks noGrp="1"/>
          </p:cNvSpPr>
          <p:nvPr>
            <p:ph type="dt" sz="half" idx="10"/>
          </p:nvPr>
        </p:nvSpPr>
        <p:spPr/>
        <p:txBody>
          <a:bodyPr/>
          <a:lstStyle/>
          <a:p>
            <a:fld id="{E4965A3C-7C44-491F-A2CC-585294ABE301}" type="datetime1">
              <a:rPr lang="en-US" smtClean="0"/>
              <a:t>9/24/26</a:t>
            </a:fld>
            <a:endParaRPr lang="en-US" dirty="0"/>
          </a:p>
        </p:txBody>
      </p:sp>
      <p:graphicFrame>
        <p:nvGraphicFramePr>
          <p:cNvPr id="11" name="Table 10">
            <a:extLst>
              <a:ext uri="{FF2B5EF4-FFF2-40B4-BE49-F238E27FC236}">
                <a16:creationId xmlns:a16="http://schemas.microsoft.com/office/drawing/2014/main" id="{7769FE6B-0E7D-35B5-D675-BA022CEF22CA}"/>
              </a:ext>
            </a:extLst>
          </p:cNvPr>
          <p:cNvGraphicFramePr>
            <a:graphicFrameLocks noGrp="1"/>
          </p:cNvGraphicFramePr>
          <p:nvPr>
            <p:extLst>
              <p:ext uri="{D42A27DB-BD31-4B8C-83A1-F6EECF244321}">
                <p14:modId xmlns:p14="http://schemas.microsoft.com/office/powerpoint/2010/main" val="2411808656"/>
              </p:ext>
            </p:extLst>
          </p:nvPr>
        </p:nvGraphicFramePr>
        <p:xfrm>
          <a:off x="790848" y="1008161"/>
          <a:ext cx="10610301" cy="4217248"/>
        </p:xfrm>
        <a:graphic>
          <a:graphicData uri="http://schemas.openxmlformats.org/drawingml/2006/table">
            <a:tbl>
              <a:tblPr>
                <a:tableStyleId>{5C22544A-7EE6-4342-B048-85BDC9FD1C3A}</a:tableStyleId>
              </a:tblPr>
              <a:tblGrid>
                <a:gridCol w="2736000">
                  <a:extLst>
                    <a:ext uri="{9D8B030D-6E8A-4147-A177-3AD203B41FA5}">
                      <a16:colId xmlns:a16="http://schemas.microsoft.com/office/drawing/2014/main" val="3215107973"/>
                    </a:ext>
                  </a:extLst>
                </a:gridCol>
                <a:gridCol w="2624767">
                  <a:extLst>
                    <a:ext uri="{9D8B030D-6E8A-4147-A177-3AD203B41FA5}">
                      <a16:colId xmlns:a16="http://schemas.microsoft.com/office/drawing/2014/main" val="2576242222"/>
                    </a:ext>
                  </a:extLst>
                </a:gridCol>
                <a:gridCol w="2624767">
                  <a:extLst>
                    <a:ext uri="{9D8B030D-6E8A-4147-A177-3AD203B41FA5}">
                      <a16:colId xmlns:a16="http://schemas.microsoft.com/office/drawing/2014/main" val="226987998"/>
                    </a:ext>
                  </a:extLst>
                </a:gridCol>
                <a:gridCol w="2624767">
                  <a:extLst>
                    <a:ext uri="{9D8B030D-6E8A-4147-A177-3AD203B41FA5}">
                      <a16:colId xmlns:a16="http://schemas.microsoft.com/office/drawing/2014/main" val="3489774207"/>
                    </a:ext>
                  </a:extLst>
                </a:gridCol>
              </a:tblGrid>
              <a:tr h="652384">
                <a:tc>
                  <a:txBody>
                    <a:bodyPr/>
                    <a:lstStyle/>
                    <a:p>
                      <a:pPr algn="ctr">
                        <a:buNone/>
                      </a:pPr>
                      <a:r>
                        <a:rPr lang="zh-TW" sz="1800" dirty="0"/>
                        <a:t>Metric at 3.5 s</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sz="1800" dirty="0"/>
                        <a:t>control_dt = 0.50 s</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sz="1800" dirty="0"/>
                        <a:t>control_dt = 0.25 s</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zh-TW" sz="1800" dirty="0"/>
                        <a:t>control_dt = 0.</a:t>
                      </a:r>
                      <a:r>
                        <a:rPr lang="en-US" altLang="zh-TW" sz="1800" dirty="0"/>
                        <a:t>1</a:t>
                      </a:r>
                      <a:r>
                        <a:rPr lang="zh-TW" altLang="zh-TW" sz="1800" dirty="0"/>
                        <a:t> s</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744118573"/>
                  </a:ext>
                </a:extLst>
              </a:tr>
              <a:tr h="365185">
                <a:tc>
                  <a:txBody>
                    <a:bodyPr/>
                    <a:lstStyle/>
                    <a:p>
                      <a:pPr algn="ctr">
                        <a:buNone/>
                      </a:pPr>
                      <a:r>
                        <a:rPr lang="zh-TW" sz="1800" dirty="0"/>
                        <a:t>Requested DoC</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sz="1800"/>
                        <a:t>0.4000</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sz="1800"/>
                        <a:t>0.4000</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TW" sz="1800" dirty="0"/>
                        <a:t>0.4000</a:t>
                      </a:r>
                      <a:endParaRPr lang="zh-TW" sz="1800" dirty="0"/>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1704023"/>
                  </a:ext>
                </a:extLst>
              </a:tr>
              <a:tr h="365185">
                <a:tc>
                  <a:txBody>
                    <a:bodyPr/>
                    <a:lstStyle/>
                    <a:p>
                      <a:pPr algn="ctr">
                        <a:buNone/>
                      </a:pPr>
                      <a:r>
                        <a:rPr lang="zh-TW" sz="1800" dirty="0"/>
                        <a:t>Mean target DoC</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sz="1800"/>
                        <a:t>0.6269</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sz="1800"/>
                        <a:t>0.4758</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TW" sz="1800" dirty="0"/>
                        <a:t>0.4005</a:t>
                      </a:r>
                      <a:endParaRPr lang="zh-TW" sz="1800" dirty="0"/>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8822987"/>
                  </a:ext>
                </a:extLst>
              </a:tr>
              <a:tr h="365185">
                <a:tc>
                  <a:txBody>
                    <a:bodyPr/>
                    <a:lstStyle/>
                    <a:p>
                      <a:pPr algn="ctr">
                        <a:buNone/>
                      </a:pPr>
                      <a:r>
                        <a:rPr lang="zh-TW" sz="1800"/>
                        <a:t>Mean error</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sz="1800" dirty="0"/>
                        <a:t>+0.2269</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sz="1800" dirty="0"/>
                        <a:t>+0.0758</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TW" sz="1800" dirty="0"/>
                        <a:t>+0.0005</a:t>
                      </a:r>
                      <a:endParaRPr lang="zh-TW" sz="1800" dirty="0"/>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242190"/>
                  </a:ext>
                </a:extLst>
              </a:tr>
              <a:tr h="365185">
                <a:tc>
                  <a:txBody>
                    <a:bodyPr/>
                    <a:lstStyle/>
                    <a:p>
                      <a:pPr algn="ctr">
                        <a:buNone/>
                      </a:pPr>
                      <a:r>
                        <a:rPr lang="zh-TW" sz="1800" dirty="0"/>
                        <a:t>Target min</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sz="1800" dirty="0"/>
                        <a:t>0.0000</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sz="1800"/>
                        <a:t>0.0000</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TW" sz="1800" dirty="0"/>
                        <a:t>0.0000</a:t>
                      </a:r>
                      <a:endParaRPr lang="zh-TW" sz="1800" dirty="0"/>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9759828"/>
                  </a:ext>
                </a:extLst>
              </a:tr>
              <a:tr h="365185">
                <a:tc>
                  <a:txBody>
                    <a:bodyPr/>
                    <a:lstStyle/>
                    <a:p>
                      <a:pPr algn="ctr">
                        <a:buNone/>
                      </a:pPr>
                      <a:r>
                        <a:rPr lang="zh-TW" sz="1800" dirty="0"/>
                        <a:t>Target max</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sz="1800"/>
                        <a:t>0.8201</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sz="1800" dirty="0"/>
                        <a:t>0.7552</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TW" sz="1800" dirty="0"/>
                        <a:t>0.4090</a:t>
                      </a:r>
                      <a:endParaRPr lang="zh-TW" sz="1800" dirty="0"/>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699431"/>
                  </a:ext>
                </a:extLst>
              </a:tr>
              <a:tr h="365185">
                <a:tc>
                  <a:txBody>
                    <a:bodyPr/>
                    <a:lstStyle/>
                    <a:p>
                      <a:pPr algn="ctr">
                        <a:buNone/>
                      </a:pPr>
                      <a:r>
                        <a:rPr lang="zh-TW" sz="1800" dirty="0"/>
                        <a:t>Target std</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sz="1800" dirty="0"/>
                        <a:t>0.1679</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sz="1800"/>
                        <a:t>0.1212</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TW" sz="1800" dirty="0"/>
                        <a:t>0.0041</a:t>
                      </a:r>
                      <a:endParaRPr lang="zh-TW" sz="1800" dirty="0"/>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9054640"/>
                  </a:ext>
                </a:extLst>
              </a:tr>
              <a:tr h="365185">
                <a:tc>
                  <a:txBody>
                    <a:bodyPr/>
                    <a:lstStyle/>
                    <a:p>
                      <a:pPr algn="ctr">
                        <a:buNone/>
                      </a:pPr>
                      <a:r>
                        <a:rPr lang="zh-TW" sz="1800" dirty="0"/>
                        <a:t>Min component mean</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sz="1800"/>
                        <a:t>0.3923</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sz="1800"/>
                        <a:t>0.3922</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TW" sz="1800" dirty="0"/>
                        <a:t>0.3921</a:t>
                      </a:r>
                      <a:endParaRPr lang="zh-TW" sz="1800" dirty="0"/>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6273"/>
                  </a:ext>
                </a:extLst>
              </a:tr>
              <a:tr h="365185">
                <a:tc>
                  <a:txBody>
                    <a:bodyPr/>
                    <a:lstStyle/>
                    <a:p>
                      <a:pPr algn="ctr">
                        <a:buNone/>
                      </a:pPr>
                      <a:r>
                        <a:rPr lang="zh-TW" sz="1800" dirty="0"/>
                        <a:t>Max component mean</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sz="1800" dirty="0"/>
                        <a:t>0.7026</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sz="1800" dirty="0"/>
                        <a:t>0.5462</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TW" sz="1800" dirty="0"/>
                        <a:t>0.4006</a:t>
                      </a:r>
                      <a:endParaRPr lang="zh-TW" sz="1800" dirty="0"/>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0617798"/>
                  </a:ext>
                </a:extLst>
              </a:tr>
              <a:tr h="639074">
                <a:tc>
                  <a:txBody>
                    <a:bodyPr/>
                    <a:lstStyle/>
                    <a:p>
                      <a:pPr algn="ctr">
                        <a:buNone/>
                      </a:pPr>
                      <a:r>
                        <a:rPr lang="zh-TW" sz="1800" dirty="0"/>
                        <a:t>Component-mean range width</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sz="1800" dirty="0"/>
                        <a:t>0.3103</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sz="1800" dirty="0"/>
                        <a:t>0.1540</a:t>
                      </a:r>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TW" sz="1800" dirty="0"/>
                        <a:t>0.0085</a:t>
                      </a:r>
                      <a:endParaRPr lang="zh-TW" sz="1800" dirty="0"/>
                    </a:p>
                  </a:txBody>
                  <a:tcPr marL="91296" marR="91296" marT="45648" marB="456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363304"/>
                  </a:ext>
                </a:extLst>
              </a:tr>
            </a:tbl>
          </a:graphicData>
        </a:graphic>
      </p:graphicFrame>
      <p:sp>
        <p:nvSpPr>
          <p:cNvPr id="12" name="TextBox 11">
            <a:extLst>
              <a:ext uri="{FF2B5EF4-FFF2-40B4-BE49-F238E27FC236}">
                <a16:creationId xmlns:a16="http://schemas.microsoft.com/office/drawing/2014/main" id="{10CEAD86-040D-D683-C504-0911B69C5FD5}"/>
              </a:ext>
            </a:extLst>
          </p:cNvPr>
          <p:cNvSpPr txBox="1"/>
          <p:nvPr/>
        </p:nvSpPr>
        <p:spPr>
          <a:xfrm>
            <a:off x="790848" y="5558743"/>
            <a:ext cx="10317754"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T</a:t>
            </a:r>
            <a:r>
              <a:rPr lang="zh-TW" altLang="zh-TW" sz="1800" dirty="0"/>
              <a:t>arget</a:t>
            </a:r>
            <a:r>
              <a:rPr lang="en-US" altLang="zh-TW" sz="1800" dirty="0"/>
              <a:t>s include all-white pixels, whereas the component is the pixels within each lines or shapes</a:t>
            </a:r>
            <a:endParaRPr lang="zh-TW" altLang="en-US" dirty="0"/>
          </a:p>
        </p:txBody>
      </p:sp>
    </p:spTree>
    <p:extLst>
      <p:ext uri="{BB962C8B-B14F-4D97-AF65-F5344CB8AC3E}">
        <p14:creationId xmlns:p14="http://schemas.microsoft.com/office/powerpoint/2010/main" val="3749576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0B27D-BFFF-8881-A1DF-1A4A8AEBCEEC}"/>
              </a:ext>
            </a:extLst>
          </p:cNvPr>
          <p:cNvSpPr>
            <a:spLocks noGrp="1"/>
          </p:cNvSpPr>
          <p:nvPr>
            <p:ph type="title"/>
          </p:nvPr>
        </p:nvSpPr>
        <p:spPr/>
        <p:txBody>
          <a:bodyPr/>
          <a:lstStyle/>
          <a:p>
            <a:r>
              <a:rPr lang="en-US" altLang="zh-TW" dirty="0"/>
              <a:t>Next Step</a:t>
            </a:r>
            <a:endParaRPr lang="zh-TW" altLang="en-US" dirty="0"/>
          </a:p>
        </p:txBody>
      </p:sp>
      <p:sp>
        <p:nvSpPr>
          <p:cNvPr id="3" name="Content Placeholder 2">
            <a:extLst>
              <a:ext uri="{FF2B5EF4-FFF2-40B4-BE49-F238E27FC236}">
                <a16:creationId xmlns:a16="http://schemas.microsoft.com/office/drawing/2014/main" id="{C349A242-7593-01A5-75F6-DC0ABEC6B32B}"/>
              </a:ext>
            </a:extLst>
          </p:cNvPr>
          <p:cNvSpPr>
            <a:spLocks noGrp="1"/>
          </p:cNvSpPr>
          <p:nvPr>
            <p:ph idx="1"/>
          </p:nvPr>
        </p:nvSpPr>
        <p:spPr/>
        <p:txBody>
          <a:bodyPr/>
          <a:lstStyle/>
          <a:p>
            <a:r>
              <a:rPr lang="en-US" altLang="zh-TW" dirty="0"/>
              <a:t>Redefine the loss function?</a:t>
            </a:r>
          </a:p>
          <a:p>
            <a:endParaRPr lang="en-US" altLang="zh-TW" dirty="0"/>
          </a:p>
          <a:p>
            <a:r>
              <a:rPr lang="en-US" altLang="zh-TW" dirty="0"/>
              <a:t>Investigate the initial constraint</a:t>
            </a:r>
          </a:p>
          <a:p>
            <a:endParaRPr lang="en-US" altLang="zh-TW" dirty="0"/>
          </a:p>
          <a:p>
            <a:r>
              <a:rPr lang="en-US" altLang="zh-TW" dirty="0"/>
              <a:t>Check the hardware limitation</a:t>
            </a:r>
            <a:endParaRPr lang="zh-TW" altLang="en-US" dirty="0"/>
          </a:p>
        </p:txBody>
      </p:sp>
      <p:sp>
        <p:nvSpPr>
          <p:cNvPr id="4" name="Slide Number Placeholder 3">
            <a:extLst>
              <a:ext uri="{FF2B5EF4-FFF2-40B4-BE49-F238E27FC236}">
                <a16:creationId xmlns:a16="http://schemas.microsoft.com/office/drawing/2014/main" id="{227DA49B-C756-7946-2094-1167597551A3}"/>
              </a:ext>
            </a:extLst>
          </p:cNvPr>
          <p:cNvSpPr>
            <a:spLocks noGrp="1"/>
          </p:cNvSpPr>
          <p:nvPr>
            <p:ph type="sldNum" sz="quarter" idx="12"/>
          </p:nvPr>
        </p:nvSpPr>
        <p:spPr/>
        <p:txBody>
          <a:bodyPr/>
          <a:lstStyle/>
          <a:p>
            <a:fld id="{5A741E56-E3D9-46FF-B47D-3FCBEAE97EB2}" type="slidenum">
              <a:rPr lang="en-US" smtClean="0"/>
              <a:pPr/>
              <a:t>22</a:t>
            </a:fld>
            <a:endParaRPr lang="en-US" dirty="0"/>
          </a:p>
        </p:txBody>
      </p:sp>
      <p:sp>
        <p:nvSpPr>
          <p:cNvPr id="5" name="Footer Placeholder 4">
            <a:extLst>
              <a:ext uri="{FF2B5EF4-FFF2-40B4-BE49-F238E27FC236}">
                <a16:creationId xmlns:a16="http://schemas.microsoft.com/office/drawing/2014/main" id="{F9E83430-3869-C8FA-D072-3147DD2ED449}"/>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067A9867-F124-2814-184B-8382EC1D28C8}"/>
              </a:ext>
            </a:extLst>
          </p:cNvPr>
          <p:cNvSpPr>
            <a:spLocks noGrp="1"/>
          </p:cNvSpPr>
          <p:nvPr>
            <p:ph type="dt" sz="half" idx="10"/>
          </p:nvPr>
        </p:nvSpPr>
        <p:spPr/>
        <p:txBody>
          <a:bodyPr/>
          <a:lstStyle/>
          <a:p>
            <a:fld id="{E4965A3C-7C44-491F-A2CC-585294ABE301}" type="datetime1">
              <a:rPr lang="en-US" smtClean="0"/>
              <a:t>9/24/26</a:t>
            </a:fld>
            <a:endParaRPr lang="en-US" dirty="0"/>
          </a:p>
        </p:txBody>
      </p:sp>
    </p:spTree>
    <p:extLst>
      <p:ext uri="{BB962C8B-B14F-4D97-AF65-F5344CB8AC3E}">
        <p14:creationId xmlns:p14="http://schemas.microsoft.com/office/powerpoint/2010/main" val="1478144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600A1-9B12-50A5-309A-C2A7C8CB65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AD796-CC83-2CE5-77AF-B8F3C74C3F70}"/>
              </a:ext>
            </a:extLst>
          </p:cNvPr>
          <p:cNvSpPr>
            <a:spLocks noGrp="1"/>
          </p:cNvSpPr>
          <p:nvPr>
            <p:ph type="title"/>
          </p:nvPr>
        </p:nvSpPr>
        <p:spPr>
          <a:xfrm>
            <a:off x="838200" y="2268537"/>
            <a:ext cx="10515600" cy="850554"/>
          </a:xfrm>
        </p:spPr>
        <p:txBody>
          <a:bodyPr/>
          <a:lstStyle/>
          <a:p>
            <a:r>
              <a:rPr lang="en-US" altLang="zh-TW" dirty="0"/>
              <a:t>09/10/2026</a:t>
            </a:r>
            <a:endParaRPr lang="zh-TW" altLang="en-US" dirty="0"/>
          </a:p>
        </p:txBody>
      </p:sp>
      <p:sp>
        <p:nvSpPr>
          <p:cNvPr id="3" name="Text Placeholder 2">
            <a:extLst>
              <a:ext uri="{FF2B5EF4-FFF2-40B4-BE49-F238E27FC236}">
                <a16:creationId xmlns:a16="http://schemas.microsoft.com/office/drawing/2014/main" id="{CC1CCA9B-4021-4A00-0B2D-CE48749DE4A2}"/>
              </a:ext>
            </a:extLst>
          </p:cNvPr>
          <p:cNvSpPr>
            <a:spLocks noGrp="1"/>
          </p:cNvSpPr>
          <p:nvPr>
            <p:ph type="body" idx="1"/>
          </p:nvPr>
        </p:nvSpPr>
        <p:spPr>
          <a:xfrm>
            <a:off x="838200" y="3119091"/>
            <a:ext cx="10515600" cy="1500187"/>
          </a:xfrm>
        </p:spPr>
        <p:txBody>
          <a:bodyPr/>
          <a:lstStyle/>
          <a:p>
            <a:r>
              <a:rPr lang="zh-TW" altLang="zh-TW" dirty="0"/>
              <a:t>Differentiable Nonlinear MPC for AIE-VPP Mask Control</a:t>
            </a:r>
            <a:endParaRPr lang="zh-TW" altLang="en-US" dirty="0"/>
          </a:p>
        </p:txBody>
      </p:sp>
    </p:spTree>
    <p:extLst>
      <p:ext uri="{BB962C8B-B14F-4D97-AF65-F5344CB8AC3E}">
        <p14:creationId xmlns:p14="http://schemas.microsoft.com/office/powerpoint/2010/main" val="847164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B5CF-B0B7-2BFB-E466-8BB6D0B2E5F6}"/>
              </a:ext>
            </a:extLst>
          </p:cNvPr>
          <p:cNvSpPr>
            <a:spLocks noGrp="1"/>
          </p:cNvSpPr>
          <p:nvPr>
            <p:ph type="title"/>
          </p:nvPr>
        </p:nvSpPr>
        <p:spPr/>
        <p:txBody>
          <a:bodyPr/>
          <a:lstStyle/>
          <a:p>
            <a:r>
              <a:rPr lang="en-US" altLang="zh-TW" dirty="0"/>
              <a:t>MPC Initialization &amp; Convergence Issues</a:t>
            </a:r>
            <a:endParaRPr lang="zh-TW" altLang="en-US" dirty="0"/>
          </a:p>
        </p:txBody>
      </p:sp>
      <p:sp>
        <p:nvSpPr>
          <p:cNvPr id="3" name="Content Placeholder 2">
            <a:extLst>
              <a:ext uri="{FF2B5EF4-FFF2-40B4-BE49-F238E27FC236}">
                <a16:creationId xmlns:a16="http://schemas.microsoft.com/office/drawing/2014/main" id="{252ECC20-EAC4-CE25-5BE2-CF15DFF5650C}"/>
              </a:ext>
            </a:extLst>
          </p:cNvPr>
          <p:cNvSpPr>
            <a:spLocks noGrp="1"/>
          </p:cNvSpPr>
          <p:nvPr>
            <p:ph idx="1"/>
          </p:nvPr>
        </p:nvSpPr>
        <p:spPr/>
        <p:txBody>
          <a:bodyPr/>
          <a:lstStyle/>
          <a:p>
            <a:r>
              <a:rPr lang="en-US" altLang="zh-TW" dirty="0"/>
              <a:t>From simulations, all different step sizes, e.g., 0.5, 0.25, 0.1, were generating the pretty close bright first masks. </a:t>
            </a:r>
          </a:p>
          <a:p>
            <a:endParaRPr lang="en-US" altLang="zh-TW" dirty="0"/>
          </a:p>
          <a:p>
            <a:r>
              <a:rPr lang="en-US" altLang="zh-TW" dirty="0"/>
              <a:t>Larger step size wouldn’t have enough chance to compensate overshoots. Also, the DoC irreversibility caused the controller has less room to mistake.</a:t>
            </a:r>
          </a:p>
          <a:p>
            <a:endParaRPr lang="en-US" altLang="zh-TW" dirty="0"/>
          </a:p>
          <a:p>
            <a:r>
              <a:rPr lang="en-US" altLang="zh-TW" dirty="0"/>
              <a:t>Solution: increase the number of iterations for each time step.</a:t>
            </a:r>
            <a:endParaRPr lang="zh-TW" altLang="en-US" dirty="0"/>
          </a:p>
        </p:txBody>
      </p:sp>
      <p:sp>
        <p:nvSpPr>
          <p:cNvPr id="4" name="Slide Number Placeholder 3">
            <a:extLst>
              <a:ext uri="{FF2B5EF4-FFF2-40B4-BE49-F238E27FC236}">
                <a16:creationId xmlns:a16="http://schemas.microsoft.com/office/drawing/2014/main" id="{3BDCC326-1B89-EE5B-9A36-593F64024995}"/>
              </a:ext>
            </a:extLst>
          </p:cNvPr>
          <p:cNvSpPr>
            <a:spLocks noGrp="1"/>
          </p:cNvSpPr>
          <p:nvPr>
            <p:ph type="sldNum" sz="quarter" idx="12"/>
          </p:nvPr>
        </p:nvSpPr>
        <p:spPr/>
        <p:txBody>
          <a:bodyPr/>
          <a:lstStyle/>
          <a:p>
            <a:fld id="{5A741E56-E3D9-46FF-B47D-3FCBEAE97EB2}" type="slidenum">
              <a:rPr lang="en-US" smtClean="0"/>
              <a:pPr/>
              <a:t>24</a:t>
            </a:fld>
            <a:endParaRPr lang="en-US" dirty="0"/>
          </a:p>
        </p:txBody>
      </p:sp>
      <p:sp>
        <p:nvSpPr>
          <p:cNvPr id="5" name="Footer Placeholder 4">
            <a:extLst>
              <a:ext uri="{FF2B5EF4-FFF2-40B4-BE49-F238E27FC236}">
                <a16:creationId xmlns:a16="http://schemas.microsoft.com/office/drawing/2014/main" id="{1E47E399-2116-0759-A27C-0FB5994F3456}"/>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12DACA20-ECCA-96C8-3B5A-ADCE5E4946A4}"/>
              </a:ext>
            </a:extLst>
          </p:cNvPr>
          <p:cNvSpPr>
            <a:spLocks noGrp="1"/>
          </p:cNvSpPr>
          <p:nvPr>
            <p:ph type="dt" sz="half" idx="10"/>
          </p:nvPr>
        </p:nvSpPr>
        <p:spPr/>
        <p:txBody>
          <a:bodyPr/>
          <a:lstStyle/>
          <a:p>
            <a:fld id="{E4965A3C-7C44-491F-A2CC-585294ABE301}" type="datetime1">
              <a:rPr lang="en-US" smtClean="0"/>
              <a:t>9/24/26</a:t>
            </a:fld>
            <a:endParaRPr lang="en-US" dirty="0"/>
          </a:p>
        </p:txBody>
      </p:sp>
    </p:spTree>
    <p:extLst>
      <p:ext uri="{BB962C8B-B14F-4D97-AF65-F5344CB8AC3E}">
        <p14:creationId xmlns:p14="http://schemas.microsoft.com/office/powerpoint/2010/main" val="40699342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9452B-7142-1201-586E-E4B218AEF468}"/>
              </a:ext>
            </a:extLst>
          </p:cNvPr>
          <p:cNvSpPr>
            <a:spLocks noGrp="1"/>
          </p:cNvSpPr>
          <p:nvPr>
            <p:ph type="title"/>
          </p:nvPr>
        </p:nvSpPr>
        <p:spPr/>
        <p:txBody>
          <a:bodyPr/>
          <a:lstStyle/>
          <a:p>
            <a:r>
              <a:rPr lang="en-US" altLang="zh-TW" dirty="0"/>
              <a:t>MPC Iterations Analysis</a:t>
            </a:r>
            <a:endParaRPr lang="zh-TW" altLang="en-US" dirty="0"/>
          </a:p>
        </p:txBody>
      </p:sp>
      <p:graphicFrame>
        <p:nvGraphicFramePr>
          <p:cNvPr id="7" name="Content Placeholder 6">
            <a:extLst>
              <a:ext uri="{FF2B5EF4-FFF2-40B4-BE49-F238E27FC236}">
                <a16:creationId xmlns:a16="http://schemas.microsoft.com/office/drawing/2014/main" id="{ADDECC4A-2939-64B6-E2FA-96A1168A70E3}"/>
              </a:ext>
            </a:extLst>
          </p:cNvPr>
          <p:cNvGraphicFramePr>
            <a:graphicFrameLocks noGrp="1"/>
          </p:cNvGraphicFramePr>
          <p:nvPr>
            <p:ph idx="1"/>
            <p:extLst>
              <p:ext uri="{D42A27DB-BD31-4B8C-83A1-F6EECF244321}">
                <p14:modId xmlns:p14="http://schemas.microsoft.com/office/powerpoint/2010/main" val="1006691178"/>
              </p:ext>
            </p:extLst>
          </p:nvPr>
        </p:nvGraphicFramePr>
        <p:xfrm>
          <a:off x="838199" y="1008161"/>
          <a:ext cx="10515600" cy="292608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693332017"/>
                    </a:ext>
                  </a:extLst>
                </a:gridCol>
                <a:gridCol w="2628900">
                  <a:extLst>
                    <a:ext uri="{9D8B030D-6E8A-4147-A177-3AD203B41FA5}">
                      <a16:colId xmlns:a16="http://schemas.microsoft.com/office/drawing/2014/main" val="1337505674"/>
                    </a:ext>
                  </a:extLst>
                </a:gridCol>
                <a:gridCol w="2628900">
                  <a:extLst>
                    <a:ext uri="{9D8B030D-6E8A-4147-A177-3AD203B41FA5}">
                      <a16:colId xmlns:a16="http://schemas.microsoft.com/office/drawing/2014/main" val="1720993539"/>
                    </a:ext>
                  </a:extLst>
                </a:gridCol>
                <a:gridCol w="2628900">
                  <a:extLst>
                    <a:ext uri="{9D8B030D-6E8A-4147-A177-3AD203B41FA5}">
                      <a16:colId xmlns:a16="http://schemas.microsoft.com/office/drawing/2014/main" val="331261004"/>
                    </a:ext>
                  </a:extLst>
                </a:gridCol>
              </a:tblGrid>
              <a:tr h="0">
                <a:tc>
                  <a:txBody>
                    <a:bodyPr/>
                    <a:lstStyle/>
                    <a:p>
                      <a:pPr algn="ctr">
                        <a:buNone/>
                      </a:pPr>
                      <a:r>
                        <a:rPr lang="zh-TW" dirty="0"/>
                        <a:t>Time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dirty="0"/>
                        <a:t>20 iterations</a:t>
                      </a:r>
                      <a:r>
                        <a:rPr lang="en-US" altLang="zh-TW" dirty="0"/>
                        <a:t> mean DoC</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dirty="0"/>
                        <a:t>50 iterations</a:t>
                      </a:r>
                      <a:r>
                        <a:rPr lang="en-US" altLang="zh-TW" dirty="0"/>
                        <a:t> mean DoC</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dirty="0"/>
                        <a:t>Difference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302818695"/>
                  </a:ext>
                </a:extLst>
              </a:tr>
              <a:tr h="0">
                <a:tc>
                  <a:txBody>
                    <a:bodyPr/>
                    <a:lstStyle/>
                    <a:p>
                      <a:pPr algn="ctr">
                        <a:buNone/>
                      </a:pPr>
                      <a:r>
                        <a:rPr lang="zh-TW"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dirty="0"/>
                        <a:t>0.0143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-0.0143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52947821"/>
                  </a:ext>
                </a:extLst>
              </a:tr>
              <a:tr h="0">
                <a:tc>
                  <a:txBody>
                    <a:bodyPr/>
                    <a:lstStyle/>
                    <a:p>
                      <a:pPr algn="ctr">
                        <a:buNone/>
                      </a:pPr>
                      <a:r>
                        <a:rPr lang="zh-TW"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dirty="0"/>
                        <a:t>0.2932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-0.2932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49194031"/>
                  </a:ext>
                </a:extLst>
              </a:tr>
              <a:tr h="0">
                <a:tc>
                  <a:txBody>
                    <a:bodyPr/>
                    <a:lstStyle/>
                    <a:p>
                      <a:pPr algn="ctr">
                        <a:buNone/>
                      </a:pPr>
                      <a:r>
                        <a:rPr lang="zh-TW"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dirty="0"/>
                        <a:t>0.4062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-0.4062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92273321"/>
                  </a:ext>
                </a:extLst>
              </a:tr>
              <a:tr h="0">
                <a:tc>
                  <a:txBody>
                    <a:bodyPr/>
                    <a:lstStyle/>
                    <a:p>
                      <a:pPr algn="ctr">
                        <a:buNone/>
                      </a:pPr>
                      <a:r>
                        <a:rPr lang="zh-TW"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0.4670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-0.4670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37601952"/>
                  </a:ext>
                </a:extLst>
              </a:tr>
              <a:tr h="0">
                <a:tc>
                  <a:txBody>
                    <a:bodyPr/>
                    <a:lstStyle/>
                    <a:p>
                      <a:pPr algn="ctr">
                        <a:buNone/>
                      </a:pPr>
                      <a:r>
                        <a:rPr lang="zh-TW" dirty="0"/>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0.5034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-0.5034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96094158"/>
                  </a:ext>
                </a:extLst>
              </a:tr>
              <a:tr h="0">
                <a:tc>
                  <a:txBody>
                    <a:bodyPr/>
                    <a:lstStyle/>
                    <a:p>
                      <a:pPr algn="ctr">
                        <a:buNone/>
                      </a:pPr>
                      <a:r>
                        <a:rPr lang="zh-TW"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0.5342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0.0793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-0.4549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65388590"/>
                  </a:ext>
                </a:extLst>
              </a:tr>
              <a:tr h="0">
                <a:tc>
                  <a:txBody>
                    <a:bodyPr/>
                    <a:lstStyle/>
                    <a:p>
                      <a:pPr algn="ctr">
                        <a:buNone/>
                      </a:pPr>
                      <a:r>
                        <a:rPr lang="zh-TW" dirty="0"/>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0.6270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a:t>0.4003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-0.2267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60783725"/>
                  </a:ext>
                </a:extLst>
              </a:tr>
            </a:tbl>
          </a:graphicData>
        </a:graphic>
      </p:graphicFrame>
      <p:sp>
        <p:nvSpPr>
          <p:cNvPr id="4" name="Slide Number Placeholder 3">
            <a:extLst>
              <a:ext uri="{FF2B5EF4-FFF2-40B4-BE49-F238E27FC236}">
                <a16:creationId xmlns:a16="http://schemas.microsoft.com/office/drawing/2014/main" id="{0238C175-2737-44E3-7D4F-FA337EE480D7}"/>
              </a:ext>
            </a:extLst>
          </p:cNvPr>
          <p:cNvSpPr>
            <a:spLocks noGrp="1"/>
          </p:cNvSpPr>
          <p:nvPr>
            <p:ph type="sldNum" sz="quarter" idx="12"/>
          </p:nvPr>
        </p:nvSpPr>
        <p:spPr/>
        <p:txBody>
          <a:bodyPr/>
          <a:lstStyle/>
          <a:p>
            <a:fld id="{5A741E56-E3D9-46FF-B47D-3FCBEAE97EB2}" type="slidenum">
              <a:rPr lang="en-US" smtClean="0"/>
              <a:pPr/>
              <a:t>25</a:t>
            </a:fld>
            <a:endParaRPr lang="en-US" dirty="0"/>
          </a:p>
        </p:txBody>
      </p:sp>
      <p:sp>
        <p:nvSpPr>
          <p:cNvPr id="5" name="Footer Placeholder 4">
            <a:extLst>
              <a:ext uri="{FF2B5EF4-FFF2-40B4-BE49-F238E27FC236}">
                <a16:creationId xmlns:a16="http://schemas.microsoft.com/office/drawing/2014/main" id="{B314CCCE-7A0F-4756-8AC9-D2455ADF9718}"/>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32E61FCD-BA54-0E37-E5BD-5706459AAA69}"/>
              </a:ext>
            </a:extLst>
          </p:cNvPr>
          <p:cNvSpPr>
            <a:spLocks noGrp="1"/>
          </p:cNvSpPr>
          <p:nvPr>
            <p:ph type="dt" sz="half" idx="10"/>
          </p:nvPr>
        </p:nvSpPr>
        <p:spPr/>
        <p:txBody>
          <a:bodyPr/>
          <a:lstStyle/>
          <a:p>
            <a:fld id="{E4965A3C-7C44-491F-A2CC-585294ABE301}" type="datetime1">
              <a:rPr lang="en-US" smtClean="0"/>
              <a:t>9/24/26</a:t>
            </a:fld>
            <a:endParaRPr lang="en-US" dirty="0"/>
          </a:p>
        </p:txBody>
      </p:sp>
      <p:pic>
        <p:nvPicPr>
          <p:cNvPr id="9" name="Picture 8">
            <a:extLst>
              <a:ext uri="{FF2B5EF4-FFF2-40B4-BE49-F238E27FC236}">
                <a16:creationId xmlns:a16="http://schemas.microsoft.com/office/drawing/2014/main" id="{778F37A1-D3F5-E7F9-EC6C-B1BD2288F2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26294" y="4046899"/>
            <a:ext cx="3594613" cy="2246633"/>
          </a:xfrm>
          <a:prstGeom prst="rect">
            <a:avLst/>
          </a:prstGeom>
        </p:spPr>
      </p:pic>
      <p:pic>
        <p:nvPicPr>
          <p:cNvPr id="11" name="Picture 10">
            <a:extLst>
              <a:ext uri="{FF2B5EF4-FFF2-40B4-BE49-F238E27FC236}">
                <a16:creationId xmlns:a16="http://schemas.microsoft.com/office/drawing/2014/main" id="{FF6493BA-36C2-87CE-9D57-B5CFBBBC65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1093" y="4046899"/>
            <a:ext cx="3594613" cy="2246633"/>
          </a:xfrm>
          <a:prstGeom prst="rect">
            <a:avLst/>
          </a:prstGeom>
        </p:spPr>
      </p:pic>
      <p:sp>
        <p:nvSpPr>
          <p:cNvPr id="12" name="TextBox 11">
            <a:extLst>
              <a:ext uri="{FF2B5EF4-FFF2-40B4-BE49-F238E27FC236}">
                <a16:creationId xmlns:a16="http://schemas.microsoft.com/office/drawing/2014/main" id="{75699B01-D1C4-D9FA-2B4B-8DF50D0CF142}"/>
              </a:ext>
            </a:extLst>
          </p:cNvPr>
          <p:cNvSpPr txBox="1"/>
          <p:nvPr/>
        </p:nvSpPr>
        <p:spPr>
          <a:xfrm>
            <a:off x="127502" y="4985549"/>
            <a:ext cx="1421394" cy="369332"/>
          </a:xfrm>
          <a:prstGeom prst="rect">
            <a:avLst/>
          </a:prstGeom>
          <a:noFill/>
        </p:spPr>
        <p:txBody>
          <a:bodyPr wrap="square" rtlCol="0">
            <a:spAutoFit/>
          </a:bodyPr>
          <a:lstStyle/>
          <a:p>
            <a:pPr algn="ctr"/>
            <a:r>
              <a:rPr lang="en-US" altLang="zh-TW" dirty="0"/>
              <a:t>Iterations: 20</a:t>
            </a:r>
            <a:endParaRPr lang="zh-TW" altLang="en-US" dirty="0"/>
          </a:p>
        </p:txBody>
      </p:sp>
      <p:sp>
        <p:nvSpPr>
          <p:cNvPr id="14" name="TextBox 13">
            <a:extLst>
              <a:ext uri="{FF2B5EF4-FFF2-40B4-BE49-F238E27FC236}">
                <a16:creationId xmlns:a16="http://schemas.microsoft.com/office/drawing/2014/main" id="{7D2F6076-CAE5-FBA4-A674-F200B9B3CA8F}"/>
              </a:ext>
            </a:extLst>
          </p:cNvPr>
          <p:cNvSpPr txBox="1"/>
          <p:nvPr/>
        </p:nvSpPr>
        <p:spPr>
          <a:xfrm>
            <a:off x="10643102" y="4985549"/>
            <a:ext cx="1421394" cy="369332"/>
          </a:xfrm>
          <a:prstGeom prst="rect">
            <a:avLst/>
          </a:prstGeom>
          <a:noFill/>
        </p:spPr>
        <p:txBody>
          <a:bodyPr wrap="square" rtlCol="0">
            <a:spAutoFit/>
          </a:bodyPr>
          <a:lstStyle/>
          <a:p>
            <a:pPr algn="ctr"/>
            <a:r>
              <a:rPr lang="en-US" altLang="zh-TW" dirty="0"/>
              <a:t>Iterations: 50</a:t>
            </a:r>
            <a:endParaRPr lang="zh-TW" altLang="en-US" dirty="0"/>
          </a:p>
        </p:txBody>
      </p:sp>
    </p:spTree>
    <p:extLst>
      <p:ext uri="{BB962C8B-B14F-4D97-AF65-F5344CB8AC3E}">
        <p14:creationId xmlns:p14="http://schemas.microsoft.com/office/powerpoint/2010/main" val="4094914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499E4-6E65-9EC2-55FD-BA2DEB97F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3E529-257F-1263-D850-D5447F9F1DAC}"/>
              </a:ext>
            </a:extLst>
          </p:cNvPr>
          <p:cNvSpPr>
            <a:spLocks noGrp="1"/>
          </p:cNvSpPr>
          <p:nvPr>
            <p:ph type="title"/>
          </p:nvPr>
        </p:nvSpPr>
        <p:spPr/>
        <p:txBody>
          <a:bodyPr/>
          <a:lstStyle/>
          <a:p>
            <a:r>
              <a:rPr lang="en-US" altLang="zh-TW" dirty="0"/>
              <a:t>MPC Iterations Analysis</a:t>
            </a:r>
            <a:endParaRPr lang="zh-TW" altLang="en-US" dirty="0"/>
          </a:p>
        </p:txBody>
      </p:sp>
      <p:graphicFrame>
        <p:nvGraphicFramePr>
          <p:cNvPr id="7" name="Content Placeholder 6">
            <a:extLst>
              <a:ext uri="{FF2B5EF4-FFF2-40B4-BE49-F238E27FC236}">
                <a16:creationId xmlns:a16="http://schemas.microsoft.com/office/drawing/2014/main" id="{623F0383-A80D-7414-86FE-359FDF5172D1}"/>
              </a:ext>
            </a:extLst>
          </p:cNvPr>
          <p:cNvGraphicFramePr>
            <a:graphicFrameLocks noGrp="1"/>
          </p:cNvGraphicFramePr>
          <p:nvPr>
            <p:ph idx="1"/>
          </p:nvPr>
        </p:nvGraphicFramePr>
        <p:xfrm>
          <a:off x="838199" y="1008161"/>
          <a:ext cx="10515600" cy="292608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693332017"/>
                    </a:ext>
                  </a:extLst>
                </a:gridCol>
                <a:gridCol w="2628900">
                  <a:extLst>
                    <a:ext uri="{9D8B030D-6E8A-4147-A177-3AD203B41FA5}">
                      <a16:colId xmlns:a16="http://schemas.microsoft.com/office/drawing/2014/main" val="1337505674"/>
                    </a:ext>
                  </a:extLst>
                </a:gridCol>
                <a:gridCol w="2628900">
                  <a:extLst>
                    <a:ext uri="{9D8B030D-6E8A-4147-A177-3AD203B41FA5}">
                      <a16:colId xmlns:a16="http://schemas.microsoft.com/office/drawing/2014/main" val="1720993539"/>
                    </a:ext>
                  </a:extLst>
                </a:gridCol>
                <a:gridCol w="2628900">
                  <a:extLst>
                    <a:ext uri="{9D8B030D-6E8A-4147-A177-3AD203B41FA5}">
                      <a16:colId xmlns:a16="http://schemas.microsoft.com/office/drawing/2014/main" val="331261004"/>
                    </a:ext>
                  </a:extLst>
                </a:gridCol>
              </a:tblGrid>
              <a:tr h="0">
                <a:tc>
                  <a:txBody>
                    <a:bodyPr/>
                    <a:lstStyle/>
                    <a:p>
                      <a:pPr algn="ctr">
                        <a:buNone/>
                      </a:pPr>
                      <a:r>
                        <a:rPr lang="zh-TW" dirty="0"/>
                        <a:t>Time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dirty="0"/>
                        <a:t>20 iterations</a:t>
                      </a:r>
                      <a:r>
                        <a:rPr lang="en-US" altLang="zh-TW" dirty="0"/>
                        <a:t> mean DoC</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dirty="0"/>
                        <a:t>50 iterations</a:t>
                      </a:r>
                      <a:r>
                        <a:rPr lang="en-US" altLang="zh-TW" dirty="0"/>
                        <a:t> mean DoC</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dirty="0"/>
                        <a:t>Difference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302818695"/>
                  </a:ext>
                </a:extLst>
              </a:tr>
              <a:tr h="0">
                <a:tc>
                  <a:txBody>
                    <a:bodyPr/>
                    <a:lstStyle/>
                    <a:p>
                      <a:pPr algn="ctr">
                        <a:buNone/>
                      </a:pPr>
                      <a:r>
                        <a:rPr lang="zh-TW"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dirty="0"/>
                        <a:t>0.0143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-0.0143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52947821"/>
                  </a:ext>
                </a:extLst>
              </a:tr>
              <a:tr h="0">
                <a:tc>
                  <a:txBody>
                    <a:bodyPr/>
                    <a:lstStyle/>
                    <a:p>
                      <a:pPr algn="ctr">
                        <a:buNone/>
                      </a:pPr>
                      <a:r>
                        <a:rPr lang="zh-TW"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dirty="0"/>
                        <a:t>0.2932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-0.2932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49194031"/>
                  </a:ext>
                </a:extLst>
              </a:tr>
              <a:tr h="0">
                <a:tc>
                  <a:txBody>
                    <a:bodyPr/>
                    <a:lstStyle/>
                    <a:p>
                      <a:pPr algn="ctr">
                        <a:buNone/>
                      </a:pPr>
                      <a:r>
                        <a:rPr lang="zh-TW"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dirty="0"/>
                        <a:t>0.4062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-0.4062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92273321"/>
                  </a:ext>
                </a:extLst>
              </a:tr>
              <a:tr h="0">
                <a:tc>
                  <a:txBody>
                    <a:bodyPr/>
                    <a:lstStyle/>
                    <a:p>
                      <a:pPr algn="ctr">
                        <a:buNone/>
                      </a:pPr>
                      <a:r>
                        <a:rPr lang="zh-TW"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0.4670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-0.4670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37601952"/>
                  </a:ext>
                </a:extLst>
              </a:tr>
              <a:tr h="0">
                <a:tc>
                  <a:txBody>
                    <a:bodyPr/>
                    <a:lstStyle/>
                    <a:p>
                      <a:pPr algn="ctr">
                        <a:buNone/>
                      </a:pPr>
                      <a:r>
                        <a:rPr lang="zh-TW" dirty="0"/>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0.5034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-0.5034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96094158"/>
                  </a:ext>
                </a:extLst>
              </a:tr>
              <a:tr h="0">
                <a:tc>
                  <a:txBody>
                    <a:bodyPr/>
                    <a:lstStyle/>
                    <a:p>
                      <a:pPr algn="ctr">
                        <a:buNone/>
                      </a:pPr>
                      <a:r>
                        <a:rPr lang="zh-TW"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0.5342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0.0793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-0.4549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65388590"/>
                  </a:ext>
                </a:extLst>
              </a:tr>
              <a:tr h="0">
                <a:tc>
                  <a:txBody>
                    <a:bodyPr/>
                    <a:lstStyle/>
                    <a:p>
                      <a:pPr algn="ctr">
                        <a:buNone/>
                      </a:pPr>
                      <a:r>
                        <a:rPr lang="zh-TW" dirty="0"/>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0.6270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a:t>0.4003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-0.2267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60783725"/>
                  </a:ext>
                </a:extLst>
              </a:tr>
            </a:tbl>
          </a:graphicData>
        </a:graphic>
      </p:graphicFrame>
      <p:sp>
        <p:nvSpPr>
          <p:cNvPr id="4" name="Slide Number Placeholder 3">
            <a:extLst>
              <a:ext uri="{FF2B5EF4-FFF2-40B4-BE49-F238E27FC236}">
                <a16:creationId xmlns:a16="http://schemas.microsoft.com/office/drawing/2014/main" id="{AD44F9B2-B97A-4A46-685F-4DEAA60A7B3D}"/>
              </a:ext>
            </a:extLst>
          </p:cNvPr>
          <p:cNvSpPr>
            <a:spLocks noGrp="1"/>
          </p:cNvSpPr>
          <p:nvPr>
            <p:ph type="sldNum" sz="quarter" idx="12"/>
          </p:nvPr>
        </p:nvSpPr>
        <p:spPr/>
        <p:txBody>
          <a:bodyPr/>
          <a:lstStyle/>
          <a:p>
            <a:fld id="{5A741E56-E3D9-46FF-B47D-3FCBEAE97EB2}" type="slidenum">
              <a:rPr lang="en-US" smtClean="0"/>
              <a:pPr/>
              <a:t>26</a:t>
            </a:fld>
            <a:endParaRPr lang="en-US" dirty="0"/>
          </a:p>
        </p:txBody>
      </p:sp>
      <p:sp>
        <p:nvSpPr>
          <p:cNvPr id="5" name="Footer Placeholder 4">
            <a:extLst>
              <a:ext uri="{FF2B5EF4-FFF2-40B4-BE49-F238E27FC236}">
                <a16:creationId xmlns:a16="http://schemas.microsoft.com/office/drawing/2014/main" id="{2409E5E9-46EF-0C9A-C20E-FE0DDB86D0EE}"/>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A0215E3F-A180-3770-DAF1-4769BBA0B1FC}"/>
              </a:ext>
            </a:extLst>
          </p:cNvPr>
          <p:cNvSpPr>
            <a:spLocks noGrp="1"/>
          </p:cNvSpPr>
          <p:nvPr>
            <p:ph type="dt" sz="half" idx="10"/>
          </p:nvPr>
        </p:nvSpPr>
        <p:spPr/>
        <p:txBody>
          <a:bodyPr/>
          <a:lstStyle/>
          <a:p>
            <a:fld id="{E4965A3C-7C44-491F-A2CC-585294ABE301}" type="datetime1">
              <a:rPr lang="en-US" smtClean="0"/>
              <a:t>9/24/26</a:t>
            </a:fld>
            <a:endParaRPr lang="en-US" dirty="0"/>
          </a:p>
        </p:txBody>
      </p:sp>
      <p:pic>
        <p:nvPicPr>
          <p:cNvPr id="9" name="Picture 8">
            <a:extLst>
              <a:ext uri="{FF2B5EF4-FFF2-40B4-BE49-F238E27FC236}">
                <a16:creationId xmlns:a16="http://schemas.microsoft.com/office/drawing/2014/main" id="{8D510410-1C40-6647-6898-11A20A1E72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26294" y="4046899"/>
            <a:ext cx="3594612" cy="2246633"/>
          </a:xfrm>
          <a:prstGeom prst="rect">
            <a:avLst/>
          </a:prstGeom>
        </p:spPr>
      </p:pic>
      <p:pic>
        <p:nvPicPr>
          <p:cNvPr id="11" name="Picture 10">
            <a:extLst>
              <a:ext uri="{FF2B5EF4-FFF2-40B4-BE49-F238E27FC236}">
                <a16:creationId xmlns:a16="http://schemas.microsoft.com/office/drawing/2014/main" id="{3B7C7A9E-8B25-27C2-F7BA-79D9282670E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71093" y="4046899"/>
            <a:ext cx="3594612" cy="2246633"/>
          </a:xfrm>
          <a:prstGeom prst="rect">
            <a:avLst/>
          </a:prstGeom>
        </p:spPr>
      </p:pic>
      <p:sp>
        <p:nvSpPr>
          <p:cNvPr id="12" name="TextBox 11">
            <a:extLst>
              <a:ext uri="{FF2B5EF4-FFF2-40B4-BE49-F238E27FC236}">
                <a16:creationId xmlns:a16="http://schemas.microsoft.com/office/drawing/2014/main" id="{FC4145C9-B8C4-3873-51DF-FBCDDEF52F1A}"/>
              </a:ext>
            </a:extLst>
          </p:cNvPr>
          <p:cNvSpPr txBox="1"/>
          <p:nvPr/>
        </p:nvSpPr>
        <p:spPr>
          <a:xfrm>
            <a:off x="127502" y="4985549"/>
            <a:ext cx="1421394" cy="369332"/>
          </a:xfrm>
          <a:prstGeom prst="rect">
            <a:avLst/>
          </a:prstGeom>
          <a:noFill/>
        </p:spPr>
        <p:txBody>
          <a:bodyPr wrap="square" rtlCol="0">
            <a:spAutoFit/>
          </a:bodyPr>
          <a:lstStyle/>
          <a:p>
            <a:pPr algn="ctr"/>
            <a:r>
              <a:rPr lang="en-US" altLang="zh-TW" dirty="0"/>
              <a:t>Iterations: 20</a:t>
            </a:r>
            <a:endParaRPr lang="zh-TW" altLang="en-US" dirty="0"/>
          </a:p>
        </p:txBody>
      </p:sp>
      <p:sp>
        <p:nvSpPr>
          <p:cNvPr id="14" name="TextBox 13">
            <a:extLst>
              <a:ext uri="{FF2B5EF4-FFF2-40B4-BE49-F238E27FC236}">
                <a16:creationId xmlns:a16="http://schemas.microsoft.com/office/drawing/2014/main" id="{3DD440CE-CCB5-21A8-F16D-C5F6990CB640}"/>
              </a:ext>
            </a:extLst>
          </p:cNvPr>
          <p:cNvSpPr txBox="1"/>
          <p:nvPr/>
        </p:nvSpPr>
        <p:spPr>
          <a:xfrm>
            <a:off x="10643102" y="4985549"/>
            <a:ext cx="1421394" cy="369332"/>
          </a:xfrm>
          <a:prstGeom prst="rect">
            <a:avLst/>
          </a:prstGeom>
          <a:noFill/>
        </p:spPr>
        <p:txBody>
          <a:bodyPr wrap="square" rtlCol="0">
            <a:spAutoFit/>
          </a:bodyPr>
          <a:lstStyle/>
          <a:p>
            <a:pPr algn="ctr"/>
            <a:r>
              <a:rPr lang="en-US" altLang="zh-TW" dirty="0"/>
              <a:t>Iterations: 50</a:t>
            </a:r>
            <a:endParaRPr lang="zh-TW" altLang="en-US" dirty="0"/>
          </a:p>
        </p:txBody>
      </p:sp>
    </p:spTree>
    <p:extLst>
      <p:ext uri="{BB962C8B-B14F-4D97-AF65-F5344CB8AC3E}">
        <p14:creationId xmlns:p14="http://schemas.microsoft.com/office/powerpoint/2010/main" val="1914977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FE5C5-294A-5F91-3BBD-C2A74D047E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DD854-A8AB-65C1-FC5B-6EA330799DBB}"/>
              </a:ext>
            </a:extLst>
          </p:cNvPr>
          <p:cNvSpPr>
            <a:spLocks noGrp="1"/>
          </p:cNvSpPr>
          <p:nvPr>
            <p:ph type="title"/>
          </p:nvPr>
        </p:nvSpPr>
        <p:spPr/>
        <p:txBody>
          <a:bodyPr/>
          <a:lstStyle/>
          <a:p>
            <a:r>
              <a:rPr lang="en-US" altLang="zh-TW" dirty="0"/>
              <a:t>MPC Iterations Analysis</a:t>
            </a:r>
            <a:endParaRPr lang="zh-TW" altLang="en-US" dirty="0"/>
          </a:p>
        </p:txBody>
      </p:sp>
      <p:graphicFrame>
        <p:nvGraphicFramePr>
          <p:cNvPr id="7" name="Content Placeholder 6">
            <a:extLst>
              <a:ext uri="{FF2B5EF4-FFF2-40B4-BE49-F238E27FC236}">
                <a16:creationId xmlns:a16="http://schemas.microsoft.com/office/drawing/2014/main" id="{822A10F0-E9FC-B695-6D52-623C3B98E8E3}"/>
              </a:ext>
            </a:extLst>
          </p:cNvPr>
          <p:cNvGraphicFramePr>
            <a:graphicFrameLocks noGrp="1"/>
          </p:cNvGraphicFramePr>
          <p:nvPr>
            <p:ph idx="1"/>
            <p:extLst>
              <p:ext uri="{D42A27DB-BD31-4B8C-83A1-F6EECF244321}">
                <p14:modId xmlns:p14="http://schemas.microsoft.com/office/powerpoint/2010/main" val="4055604900"/>
              </p:ext>
            </p:extLst>
          </p:nvPr>
        </p:nvGraphicFramePr>
        <p:xfrm>
          <a:off x="2152649" y="998807"/>
          <a:ext cx="7886700" cy="292608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693332017"/>
                    </a:ext>
                  </a:extLst>
                </a:gridCol>
                <a:gridCol w="2628900">
                  <a:extLst>
                    <a:ext uri="{9D8B030D-6E8A-4147-A177-3AD203B41FA5}">
                      <a16:colId xmlns:a16="http://schemas.microsoft.com/office/drawing/2014/main" val="1337505674"/>
                    </a:ext>
                  </a:extLst>
                </a:gridCol>
                <a:gridCol w="2628900">
                  <a:extLst>
                    <a:ext uri="{9D8B030D-6E8A-4147-A177-3AD203B41FA5}">
                      <a16:colId xmlns:a16="http://schemas.microsoft.com/office/drawing/2014/main" val="1720993539"/>
                    </a:ext>
                  </a:extLst>
                </a:gridCol>
              </a:tblGrid>
              <a:tr h="0">
                <a:tc>
                  <a:txBody>
                    <a:bodyPr/>
                    <a:lstStyle/>
                    <a:p>
                      <a:pPr algn="ctr">
                        <a:buNone/>
                      </a:pPr>
                      <a:r>
                        <a:rPr lang="zh-TW" dirty="0"/>
                        <a:t>Time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dirty="0"/>
                        <a:t>20 iterations</a:t>
                      </a:r>
                      <a:r>
                        <a:rPr lang="en-US" altLang="zh-TW" dirty="0"/>
                        <a:t> mask mean</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dirty="0"/>
                        <a:t>50 iterations</a:t>
                      </a:r>
                      <a:r>
                        <a:rPr lang="en-US" altLang="zh-TW" dirty="0"/>
                        <a:t> mask mean</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302818695"/>
                  </a:ext>
                </a:extLst>
              </a:tr>
              <a:tr h="0">
                <a:tc>
                  <a:txBody>
                    <a:bodyPr/>
                    <a:lstStyle/>
                    <a:p>
                      <a:pPr algn="ctr">
                        <a:buNone/>
                      </a:pPr>
                      <a:r>
                        <a:rPr lang="zh-TW"/>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0.219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b="1"/>
                        <a:t>0.039</a:t>
                      </a:r>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52947821"/>
                  </a:ext>
                </a:extLst>
              </a:tr>
              <a:tr h="0">
                <a:tc>
                  <a:txBody>
                    <a:bodyPr/>
                    <a:lstStyle/>
                    <a:p>
                      <a:pPr algn="ctr">
                        <a:buNone/>
                      </a:pPr>
                      <a:r>
                        <a:rPr lang="zh-TW"/>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0.127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a:t>0.056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49194031"/>
                  </a:ext>
                </a:extLst>
              </a:tr>
              <a:tr h="0">
                <a:tc>
                  <a:txBody>
                    <a:bodyPr/>
                    <a:lstStyle/>
                    <a:p>
                      <a:pPr algn="ctr">
                        <a:buNone/>
                      </a:pPr>
                      <a:r>
                        <a:rPr lang="zh-TW"/>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0.042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a:t>0.054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92273321"/>
                  </a:ext>
                </a:extLst>
              </a:tr>
              <a:tr h="0">
                <a:tc>
                  <a:txBody>
                    <a:bodyPr/>
                    <a:lstStyle/>
                    <a:p>
                      <a:pPr algn="ctr">
                        <a:buNone/>
                      </a:pPr>
                      <a:r>
                        <a:rPr lang="zh-TW"/>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a:t>0.052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37601952"/>
                  </a:ext>
                </a:extLst>
              </a:tr>
              <a:tr h="0">
                <a:tc>
                  <a:txBody>
                    <a:bodyPr/>
                    <a:lstStyle/>
                    <a:p>
                      <a:pPr algn="ctr">
                        <a:buNone/>
                      </a:pPr>
                      <a:r>
                        <a:rPr lang="zh-TW"/>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a:t>0.061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96094158"/>
                  </a:ext>
                </a:extLst>
              </a:tr>
              <a:tr h="0">
                <a:tc>
                  <a:txBody>
                    <a:bodyPr/>
                    <a:lstStyle/>
                    <a:p>
                      <a:pPr algn="ctr">
                        <a:buNone/>
                      </a:pPr>
                      <a:r>
                        <a:rPr lang="zh-TW"/>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a:t>0.045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a:t>0.100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65388590"/>
                  </a:ext>
                </a:extLst>
              </a:tr>
              <a:tr h="0">
                <a:tc>
                  <a:txBody>
                    <a:bodyPr/>
                    <a:lstStyle/>
                    <a:p>
                      <a:pPr algn="ctr">
                        <a:buNone/>
                      </a:pPr>
                      <a:r>
                        <a:rPr lang="zh-TW"/>
                        <a:t>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buNone/>
                      </a:pPr>
                      <a:r>
                        <a:rPr lang="zh-TW" dirty="0"/>
                        <a:t>0.058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zh-TW" dirty="0"/>
                        <a:t>0.136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60783725"/>
                  </a:ext>
                </a:extLst>
              </a:tr>
            </a:tbl>
          </a:graphicData>
        </a:graphic>
      </p:graphicFrame>
      <p:sp>
        <p:nvSpPr>
          <p:cNvPr id="4" name="Slide Number Placeholder 3">
            <a:extLst>
              <a:ext uri="{FF2B5EF4-FFF2-40B4-BE49-F238E27FC236}">
                <a16:creationId xmlns:a16="http://schemas.microsoft.com/office/drawing/2014/main" id="{184DBD09-E42E-B8B9-5626-FB4FC9874C98}"/>
              </a:ext>
            </a:extLst>
          </p:cNvPr>
          <p:cNvSpPr>
            <a:spLocks noGrp="1"/>
          </p:cNvSpPr>
          <p:nvPr>
            <p:ph type="sldNum" sz="quarter" idx="12"/>
          </p:nvPr>
        </p:nvSpPr>
        <p:spPr/>
        <p:txBody>
          <a:bodyPr/>
          <a:lstStyle/>
          <a:p>
            <a:fld id="{5A741E56-E3D9-46FF-B47D-3FCBEAE97EB2}" type="slidenum">
              <a:rPr lang="en-US" smtClean="0"/>
              <a:pPr/>
              <a:t>27</a:t>
            </a:fld>
            <a:endParaRPr lang="en-US" dirty="0"/>
          </a:p>
        </p:txBody>
      </p:sp>
      <p:sp>
        <p:nvSpPr>
          <p:cNvPr id="5" name="Footer Placeholder 4">
            <a:extLst>
              <a:ext uri="{FF2B5EF4-FFF2-40B4-BE49-F238E27FC236}">
                <a16:creationId xmlns:a16="http://schemas.microsoft.com/office/drawing/2014/main" id="{6324B3B1-8352-E69D-969E-A55DFA13F26C}"/>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863C5B5F-2A5E-F83B-3388-83A792B4801D}"/>
              </a:ext>
            </a:extLst>
          </p:cNvPr>
          <p:cNvSpPr>
            <a:spLocks noGrp="1"/>
          </p:cNvSpPr>
          <p:nvPr>
            <p:ph type="dt" sz="half" idx="10"/>
          </p:nvPr>
        </p:nvSpPr>
        <p:spPr/>
        <p:txBody>
          <a:bodyPr/>
          <a:lstStyle/>
          <a:p>
            <a:fld id="{E4965A3C-7C44-491F-A2CC-585294ABE301}" type="datetime1">
              <a:rPr lang="en-US" smtClean="0"/>
              <a:t>9/24/26</a:t>
            </a:fld>
            <a:endParaRPr lang="en-US" dirty="0"/>
          </a:p>
        </p:txBody>
      </p:sp>
      <p:graphicFrame>
        <p:nvGraphicFramePr>
          <p:cNvPr id="3" name="Table 2">
            <a:extLst>
              <a:ext uri="{FF2B5EF4-FFF2-40B4-BE49-F238E27FC236}">
                <a16:creationId xmlns:a16="http://schemas.microsoft.com/office/drawing/2014/main" id="{D87F1F52-1619-3A98-537B-92607790C816}"/>
              </a:ext>
            </a:extLst>
          </p:cNvPr>
          <p:cNvGraphicFramePr>
            <a:graphicFrameLocks noGrp="1"/>
          </p:cNvGraphicFramePr>
          <p:nvPr>
            <p:extLst>
              <p:ext uri="{D42A27DB-BD31-4B8C-83A1-F6EECF244321}">
                <p14:modId xmlns:p14="http://schemas.microsoft.com/office/powerpoint/2010/main" val="2557338904"/>
              </p:ext>
            </p:extLst>
          </p:nvPr>
        </p:nvGraphicFramePr>
        <p:xfrm>
          <a:off x="838199" y="4294078"/>
          <a:ext cx="10515600" cy="182880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4055998605"/>
                    </a:ext>
                  </a:extLst>
                </a:gridCol>
                <a:gridCol w="3505200">
                  <a:extLst>
                    <a:ext uri="{9D8B030D-6E8A-4147-A177-3AD203B41FA5}">
                      <a16:colId xmlns:a16="http://schemas.microsoft.com/office/drawing/2014/main" val="3692895585"/>
                    </a:ext>
                  </a:extLst>
                </a:gridCol>
                <a:gridCol w="3505200">
                  <a:extLst>
                    <a:ext uri="{9D8B030D-6E8A-4147-A177-3AD203B41FA5}">
                      <a16:colId xmlns:a16="http://schemas.microsoft.com/office/drawing/2014/main" val="4117692757"/>
                    </a:ext>
                  </a:extLst>
                </a:gridCol>
              </a:tblGrid>
              <a:tr h="0">
                <a:tc>
                  <a:txBody>
                    <a:bodyPr/>
                    <a:lstStyle/>
                    <a:p>
                      <a:pPr algn="ctr">
                        <a:buNone/>
                      </a:pPr>
                      <a:r>
                        <a:rPr lang="zh-TW" dirty="0"/>
                        <a:t>Component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dirty="0"/>
                        <a:t>20 iterations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dirty="0"/>
                        <a:t>50 iterations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541072224"/>
                  </a:ext>
                </a:extLst>
              </a:tr>
              <a:tr h="0">
                <a:tc>
                  <a:txBody>
                    <a:bodyPr/>
                    <a:lstStyle/>
                    <a:p>
                      <a:pPr algn="ctr">
                        <a:buNone/>
                      </a:pPr>
                      <a:r>
                        <a:rPr lang="zh-TW" dirty="0"/>
                        <a:t>Component mean DoC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dirty="0"/>
                        <a:t>0.5124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b="1" dirty="0"/>
                        <a:t>0.40027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4167648"/>
                  </a:ext>
                </a:extLst>
              </a:tr>
              <a:tr h="0">
                <a:tc>
                  <a:txBody>
                    <a:bodyPr/>
                    <a:lstStyle/>
                    <a:p>
                      <a:pPr algn="ctr">
                        <a:buNone/>
                      </a:pPr>
                      <a:r>
                        <a:rPr lang="zh-TW" dirty="0"/>
                        <a:t>Minimum component mean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dirty="0"/>
                        <a:t>0.3999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b="1" dirty="0"/>
                        <a:t>0.39995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4758143"/>
                  </a:ext>
                </a:extLst>
              </a:tr>
              <a:tr h="0">
                <a:tc>
                  <a:txBody>
                    <a:bodyPr/>
                    <a:lstStyle/>
                    <a:p>
                      <a:pPr algn="ctr">
                        <a:buNone/>
                      </a:pPr>
                      <a:r>
                        <a:rPr lang="zh-TW"/>
                        <a:t>Maximum component mean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dirty="0"/>
                        <a:t>0.7027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b="1" dirty="0"/>
                        <a:t>0.40036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3810218"/>
                  </a:ext>
                </a:extLst>
              </a:tr>
              <a:tr h="0">
                <a:tc>
                  <a:txBody>
                    <a:bodyPr/>
                    <a:lstStyle/>
                    <a:p>
                      <a:pPr algn="ctr">
                        <a:buNone/>
                      </a:pPr>
                      <a:r>
                        <a:rPr lang="zh-TW" dirty="0"/>
                        <a:t>Component range 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a:t>0.3028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b="1" dirty="0"/>
                        <a:t>0.00041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4180711"/>
                  </a:ext>
                </a:extLst>
              </a:tr>
            </a:tbl>
          </a:graphicData>
        </a:graphic>
      </p:graphicFrame>
    </p:spTree>
    <p:extLst>
      <p:ext uri="{BB962C8B-B14F-4D97-AF65-F5344CB8AC3E}">
        <p14:creationId xmlns:p14="http://schemas.microsoft.com/office/powerpoint/2010/main" val="248081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0847A-BE91-F8BC-DBE7-6A4C651CB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3BA31-31D6-3DCE-8F81-9AF449D91908}"/>
              </a:ext>
            </a:extLst>
          </p:cNvPr>
          <p:cNvSpPr>
            <a:spLocks noGrp="1"/>
          </p:cNvSpPr>
          <p:nvPr>
            <p:ph type="title"/>
          </p:nvPr>
        </p:nvSpPr>
        <p:spPr/>
        <p:txBody>
          <a:bodyPr/>
          <a:lstStyle/>
          <a:p>
            <a:r>
              <a:rPr lang="en-US" altLang="zh-TW" dirty="0"/>
              <a:t>Longer DoC Target</a:t>
            </a:r>
            <a:endParaRPr lang="zh-TW" altLang="en-US" dirty="0"/>
          </a:p>
        </p:txBody>
      </p:sp>
      <p:sp>
        <p:nvSpPr>
          <p:cNvPr id="3" name="Content Placeholder 2">
            <a:extLst>
              <a:ext uri="{FF2B5EF4-FFF2-40B4-BE49-F238E27FC236}">
                <a16:creationId xmlns:a16="http://schemas.microsoft.com/office/drawing/2014/main" id="{32F96EA4-5A65-06FB-7319-AF7245B730E2}"/>
              </a:ext>
            </a:extLst>
          </p:cNvPr>
          <p:cNvSpPr>
            <a:spLocks noGrp="1"/>
          </p:cNvSpPr>
          <p:nvPr>
            <p:ph idx="1"/>
          </p:nvPr>
        </p:nvSpPr>
        <p:spPr/>
        <p:txBody>
          <a:bodyPr/>
          <a:lstStyle/>
          <a:p>
            <a:r>
              <a:rPr lang="en-US" altLang="zh-TW" dirty="0"/>
              <a:t>If we try to aim 90% DoC @ 6 sec, it won’t have the same good results as the previous setting.</a:t>
            </a:r>
            <a:endParaRPr lang="zh-TW" altLang="en-US" dirty="0"/>
          </a:p>
        </p:txBody>
      </p:sp>
      <p:sp>
        <p:nvSpPr>
          <p:cNvPr id="4" name="Slide Number Placeholder 3">
            <a:extLst>
              <a:ext uri="{FF2B5EF4-FFF2-40B4-BE49-F238E27FC236}">
                <a16:creationId xmlns:a16="http://schemas.microsoft.com/office/drawing/2014/main" id="{64B62488-7FDF-9953-1997-66E711EA4A8A}"/>
              </a:ext>
            </a:extLst>
          </p:cNvPr>
          <p:cNvSpPr>
            <a:spLocks noGrp="1"/>
          </p:cNvSpPr>
          <p:nvPr>
            <p:ph type="sldNum" sz="quarter" idx="12"/>
          </p:nvPr>
        </p:nvSpPr>
        <p:spPr/>
        <p:txBody>
          <a:bodyPr/>
          <a:lstStyle/>
          <a:p>
            <a:fld id="{5A741E56-E3D9-46FF-B47D-3FCBEAE97EB2}" type="slidenum">
              <a:rPr lang="en-US" smtClean="0"/>
              <a:pPr/>
              <a:t>28</a:t>
            </a:fld>
            <a:endParaRPr lang="en-US" dirty="0"/>
          </a:p>
        </p:txBody>
      </p:sp>
      <p:sp>
        <p:nvSpPr>
          <p:cNvPr id="5" name="Footer Placeholder 4">
            <a:extLst>
              <a:ext uri="{FF2B5EF4-FFF2-40B4-BE49-F238E27FC236}">
                <a16:creationId xmlns:a16="http://schemas.microsoft.com/office/drawing/2014/main" id="{E5D2270E-7FE7-12D3-8D42-84DCBC8FAB80}"/>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4A0F21A6-3264-90FE-8DDD-B2FF3E52B1AA}"/>
              </a:ext>
            </a:extLst>
          </p:cNvPr>
          <p:cNvSpPr>
            <a:spLocks noGrp="1"/>
          </p:cNvSpPr>
          <p:nvPr>
            <p:ph type="dt" sz="half" idx="10"/>
          </p:nvPr>
        </p:nvSpPr>
        <p:spPr/>
        <p:txBody>
          <a:bodyPr/>
          <a:lstStyle/>
          <a:p>
            <a:fld id="{E4965A3C-7C44-491F-A2CC-585294ABE301}" type="datetime1">
              <a:rPr lang="en-US" smtClean="0"/>
              <a:t>9/24/26</a:t>
            </a:fld>
            <a:endParaRPr lang="en-US" dirty="0"/>
          </a:p>
        </p:txBody>
      </p:sp>
      <p:pic>
        <p:nvPicPr>
          <p:cNvPr id="14" name="Picture 13">
            <a:extLst>
              <a:ext uri="{FF2B5EF4-FFF2-40B4-BE49-F238E27FC236}">
                <a16:creationId xmlns:a16="http://schemas.microsoft.com/office/drawing/2014/main" id="{2C9B053E-85F3-2C2E-963E-487014CC678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8161" y="1976339"/>
            <a:ext cx="6140718" cy="3837949"/>
          </a:xfrm>
          <a:prstGeom prst="rect">
            <a:avLst/>
          </a:prstGeom>
        </p:spPr>
      </p:pic>
      <p:pic>
        <p:nvPicPr>
          <p:cNvPr id="16" name="Picture 15">
            <a:extLst>
              <a:ext uri="{FF2B5EF4-FFF2-40B4-BE49-F238E27FC236}">
                <a16:creationId xmlns:a16="http://schemas.microsoft.com/office/drawing/2014/main" id="{BE203FF2-2698-1C15-C42E-B0EED4E4844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58707" y="2371313"/>
            <a:ext cx="4876800" cy="3048000"/>
          </a:xfrm>
          <a:prstGeom prst="rect">
            <a:avLst/>
          </a:prstGeom>
        </p:spPr>
      </p:pic>
      <p:sp>
        <p:nvSpPr>
          <p:cNvPr id="8" name="TextBox 7">
            <a:extLst>
              <a:ext uri="{FF2B5EF4-FFF2-40B4-BE49-F238E27FC236}">
                <a16:creationId xmlns:a16="http://schemas.microsoft.com/office/drawing/2014/main" id="{6D4AA299-99E9-47D3-B5BD-641A989B2A8F}"/>
              </a:ext>
            </a:extLst>
          </p:cNvPr>
          <p:cNvSpPr txBox="1"/>
          <p:nvPr/>
        </p:nvSpPr>
        <p:spPr>
          <a:xfrm>
            <a:off x="1805748" y="5823642"/>
            <a:ext cx="3640933" cy="369332"/>
          </a:xfrm>
          <a:prstGeom prst="rect">
            <a:avLst/>
          </a:prstGeom>
          <a:noFill/>
        </p:spPr>
        <p:txBody>
          <a:bodyPr wrap="none" rtlCol="0">
            <a:spAutoFit/>
          </a:bodyPr>
          <a:lstStyle/>
          <a:p>
            <a:r>
              <a:rPr lang="en-US" altLang="zh-TW" dirty="0"/>
              <a:t>Initial mask intensity = 0.95 * 70 mW</a:t>
            </a:r>
            <a:endParaRPr lang="zh-TW" altLang="en-US" dirty="0"/>
          </a:p>
        </p:txBody>
      </p:sp>
    </p:spTree>
    <p:extLst>
      <p:ext uri="{BB962C8B-B14F-4D97-AF65-F5344CB8AC3E}">
        <p14:creationId xmlns:p14="http://schemas.microsoft.com/office/powerpoint/2010/main" val="2507697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BF66-CC43-C00F-51F4-9198773739DD}"/>
              </a:ext>
            </a:extLst>
          </p:cNvPr>
          <p:cNvSpPr>
            <a:spLocks noGrp="1"/>
          </p:cNvSpPr>
          <p:nvPr>
            <p:ph type="title"/>
          </p:nvPr>
        </p:nvSpPr>
        <p:spPr/>
        <p:txBody>
          <a:bodyPr/>
          <a:lstStyle/>
          <a:p>
            <a:r>
              <a:rPr lang="en-US" altLang="zh-TW" dirty="0"/>
              <a:t>Longer DoC Target</a:t>
            </a:r>
            <a:endParaRPr lang="zh-TW" altLang="en-US" dirty="0"/>
          </a:p>
        </p:txBody>
      </p:sp>
      <p:sp>
        <p:nvSpPr>
          <p:cNvPr id="3" name="Content Placeholder 2">
            <a:extLst>
              <a:ext uri="{FF2B5EF4-FFF2-40B4-BE49-F238E27FC236}">
                <a16:creationId xmlns:a16="http://schemas.microsoft.com/office/drawing/2014/main" id="{05D84D6D-C570-1A73-DFE8-C4DEC6567CF4}"/>
              </a:ext>
            </a:extLst>
          </p:cNvPr>
          <p:cNvSpPr>
            <a:spLocks noGrp="1"/>
          </p:cNvSpPr>
          <p:nvPr>
            <p:ph idx="1"/>
          </p:nvPr>
        </p:nvSpPr>
        <p:spPr/>
        <p:txBody>
          <a:bodyPr/>
          <a:lstStyle/>
          <a:p>
            <a:r>
              <a:rPr lang="en-US" altLang="zh-TW" dirty="0"/>
              <a:t>Even if we try to aim 90% DoC @ 6 sec with different initial mask intensity, the smallest feature hadn’t been cured.</a:t>
            </a:r>
            <a:endParaRPr lang="zh-TW" altLang="en-US" dirty="0"/>
          </a:p>
        </p:txBody>
      </p:sp>
      <p:sp>
        <p:nvSpPr>
          <p:cNvPr id="4" name="Slide Number Placeholder 3">
            <a:extLst>
              <a:ext uri="{FF2B5EF4-FFF2-40B4-BE49-F238E27FC236}">
                <a16:creationId xmlns:a16="http://schemas.microsoft.com/office/drawing/2014/main" id="{C9CF8CD1-F2A4-AC18-E8B6-66A8E6DFB313}"/>
              </a:ext>
            </a:extLst>
          </p:cNvPr>
          <p:cNvSpPr>
            <a:spLocks noGrp="1"/>
          </p:cNvSpPr>
          <p:nvPr>
            <p:ph type="sldNum" sz="quarter" idx="12"/>
          </p:nvPr>
        </p:nvSpPr>
        <p:spPr/>
        <p:txBody>
          <a:bodyPr/>
          <a:lstStyle/>
          <a:p>
            <a:fld id="{5A741E56-E3D9-46FF-B47D-3FCBEAE97EB2}" type="slidenum">
              <a:rPr lang="en-US" smtClean="0"/>
              <a:pPr/>
              <a:t>29</a:t>
            </a:fld>
            <a:endParaRPr lang="en-US" dirty="0"/>
          </a:p>
        </p:txBody>
      </p:sp>
      <p:sp>
        <p:nvSpPr>
          <p:cNvPr id="5" name="Footer Placeholder 4">
            <a:extLst>
              <a:ext uri="{FF2B5EF4-FFF2-40B4-BE49-F238E27FC236}">
                <a16:creationId xmlns:a16="http://schemas.microsoft.com/office/drawing/2014/main" id="{CE36B5E2-677D-CBCA-FB07-47DF41FDBFF6}"/>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9B4743F5-8DBA-E933-AA98-800C0B0BB36D}"/>
              </a:ext>
            </a:extLst>
          </p:cNvPr>
          <p:cNvSpPr>
            <a:spLocks noGrp="1"/>
          </p:cNvSpPr>
          <p:nvPr>
            <p:ph type="dt" sz="half" idx="10"/>
          </p:nvPr>
        </p:nvSpPr>
        <p:spPr/>
        <p:txBody>
          <a:bodyPr/>
          <a:lstStyle/>
          <a:p>
            <a:fld id="{E4965A3C-7C44-491F-A2CC-585294ABE301}" type="datetime1">
              <a:rPr lang="en-US" smtClean="0"/>
              <a:t>9/24/26</a:t>
            </a:fld>
            <a:endParaRPr lang="en-US" dirty="0"/>
          </a:p>
        </p:txBody>
      </p:sp>
      <p:pic>
        <p:nvPicPr>
          <p:cNvPr id="14" name="Picture 13">
            <a:extLst>
              <a:ext uri="{FF2B5EF4-FFF2-40B4-BE49-F238E27FC236}">
                <a16:creationId xmlns:a16="http://schemas.microsoft.com/office/drawing/2014/main" id="{37009079-DD97-3B7C-723B-607DC37AAD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161" y="1976339"/>
            <a:ext cx="6140719" cy="3837949"/>
          </a:xfrm>
          <a:prstGeom prst="rect">
            <a:avLst/>
          </a:prstGeom>
        </p:spPr>
      </p:pic>
      <p:pic>
        <p:nvPicPr>
          <p:cNvPr id="16" name="Picture 15">
            <a:extLst>
              <a:ext uri="{FF2B5EF4-FFF2-40B4-BE49-F238E27FC236}">
                <a16:creationId xmlns:a16="http://schemas.microsoft.com/office/drawing/2014/main" id="{302737CF-7B35-D94C-AA97-896A273E4A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8707" y="2371313"/>
            <a:ext cx="4876800" cy="3048000"/>
          </a:xfrm>
          <a:prstGeom prst="rect">
            <a:avLst/>
          </a:prstGeom>
        </p:spPr>
      </p:pic>
      <p:sp>
        <p:nvSpPr>
          <p:cNvPr id="17" name="TextBox 16">
            <a:extLst>
              <a:ext uri="{FF2B5EF4-FFF2-40B4-BE49-F238E27FC236}">
                <a16:creationId xmlns:a16="http://schemas.microsoft.com/office/drawing/2014/main" id="{2918FF0D-F71A-8FCE-A3AB-B8F314CDA051}"/>
              </a:ext>
            </a:extLst>
          </p:cNvPr>
          <p:cNvSpPr txBox="1"/>
          <p:nvPr/>
        </p:nvSpPr>
        <p:spPr>
          <a:xfrm>
            <a:off x="1667252" y="5815238"/>
            <a:ext cx="3640933" cy="369332"/>
          </a:xfrm>
          <a:prstGeom prst="rect">
            <a:avLst/>
          </a:prstGeom>
          <a:noFill/>
        </p:spPr>
        <p:txBody>
          <a:bodyPr wrap="none" rtlCol="0">
            <a:spAutoFit/>
          </a:bodyPr>
          <a:lstStyle/>
          <a:p>
            <a:r>
              <a:rPr lang="en-US" altLang="zh-TW" dirty="0"/>
              <a:t>Initial mask intensity = 0.20 * 70 mW</a:t>
            </a:r>
            <a:endParaRPr lang="zh-TW" altLang="en-US" dirty="0"/>
          </a:p>
        </p:txBody>
      </p:sp>
      <p:sp>
        <p:nvSpPr>
          <p:cNvPr id="18" name="Rectangle 17">
            <a:extLst>
              <a:ext uri="{FF2B5EF4-FFF2-40B4-BE49-F238E27FC236}">
                <a16:creationId xmlns:a16="http://schemas.microsoft.com/office/drawing/2014/main" id="{3FD4435B-5F43-170E-52B8-BB69672F0701}"/>
              </a:ext>
            </a:extLst>
          </p:cNvPr>
          <p:cNvSpPr/>
          <p:nvPr/>
        </p:nvSpPr>
        <p:spPr>
          <a:xfrm>
            <a:off x="6658707" y="2544024"/>
            <a:ext cx="801348" cy="113168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TextBox 18">
            <a:extLst>
              <a:ext uri="{FF2B5EF4-FFF2-40B4-BE49-F238E27FC236}">
                <a16:creationId xmlns:a16="http://schemas.microsoft.com/office/drawing/2014/main" id="{76E2C18C-602B-3A87-A3E1-F40F48125803}"/>
              </a:ext>
            </a:extLst>
          </p:cNvPr>
          <p:cNvSpPr txBox="1"/>
          <p:nvPr/>
        </p:nvSpPr>
        <p:spPr>
          <a:xfrm>
            <a:off x="6464174" y="1865014"/>
            <a:ext cx="4876800" cy="369332"/>
          </a:xfrm>
          <a:prstGeom prst="rect">
            <a:avLst/>
          </a:prstGeom>
          <a:noFill/>
        </p:spPr>
        <p:txBody>
          <a:bodyPr wrap="square" rtlCol="0">
            <a:spAutoFit/>
          </a:bodyPr>
          <a:lstStyle/>
          <a:p>
            <a:pPr algn="ctr"/>
            <a:r>
              <a:rPr lang="en-US" altLang="zh-TW" dirty="0"/>
              <a:t>Zero gradient due to oxygen incomplete depletion </a:t>
            </a:r>
            <a:endParaRPr lang="zh-TW" altLang="en-US" dirty="0"/>
          </a:p>
        </p:txBody>
      </p:sp>
      <p:cxnSp>
        <p:nvCxnSpPr>
          <p:cNvPr id="21" name="Straight Arrow Connector 20">
            <a:extLst>
              <a:ext uri="{FF2B5EF4-FFF2-40B4-BE49-F238E27FC236}">
                <a16:creationId xmlns:a16="http://schemas.microsoft.com/office/drawing/2014/main" id="{08E63EB8-E1E4-5397-6E19-FBA7BE03C5D4}"/>
              </a:ext>
            </a:extLst>
          </p:cNvPr>
          <p:cNvCxnSpPr>
            <a:cxnSpLocks/>
            <a:endCxn id="19" idx="2"/>
          </p:cNvCxnSpPr>
          <p:nvPr/>
        </p:nvCxnSpPr>
        <p:spPr>
          <a:xfrm flipV="1">
            <a:off x="7088863" y="2234346"/>
            <a:ext cx="1813711" cy="30967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C8AEBA4-80B5-AA40-66E6-FA4E79C9DDFF}"/>
              </a:ext>
            </a:extLst>
          </p:cNvPr>
          <p:cNvSpPr txBox="1"/>
          <p:nvPr/>
        </p:nvSpPr>
        <p:spPr>
          <a:xfrm>
            <a:off x="6857070" y="5538239"/>
            <a:ext cx="4480073" cy="923330"/>
          </a:xfrm>
          <a:prstGeom prst="rect">
            <a:avLst/>
          </a:prstGeom>
          <a:noFill/>
        </p:spPr>
        <p:txBody>
          <a:bodyPr wrap="none" rtlCol="0">
            <a:spAutoFit/>
          </a:bodyPr>
          <a:lstStyle/>
          <a:p>
            <a:pPr marL="285750" indent="-285750">
              <a:buFont typeface="Arial" panose="020B0604020202020204" pitchFamily="34" charset="0"/>
              <a:buChar char="•"/>
            </a:pPr>
            <a:r>
              <a:rPr lang="en-US" altLang="zh-TW" dirty="0"/>
              <a:t>MPC is too sensitive to the initial condition</a:t>
            </a:r>
          </a:p>
          <a:p>
            <a:pPr marL="742950" lvl="1" indent="-285750">
              <a:buFont typeface="Arial" panose="020B0604020202020204" pitchFamily="34" charset="0"/>
              <a:buChar char="•"/>
            </a:pPr>
            <a:r>
              <a:rPr lang="en-US" altLang="zh-TW" dirty="0"/>
              <a:t>Too high, it will cause overshoot</a:t>
            </a:r>
          </a:p>
          <a:p>
            <a:pPr marL="742950" lvl="1" indent="-285750">
              <a:buFont typeface="Arial" panose="020B0604020202020204" pitchFamily="34" charset="0"/>
              <a:buChar char="•"/>
            </a:pPr>
            <a:r>
              <a:rPr lang="en-US" altLang="zh-TW" dirty="0"/>
              <a:t>Too low, it will cause zero gradient</a:t>
            </a:r>
            <a:endParaRPr lang="zh-TW" altLang="en-US" dirty="0"/>
          </a:p>
        </p:txBody>
      </p:sp>
    </p:spTree>
    <p:extLst>
      <p:ext uri="{BB962C8B-B14F-4D97-AF65-F5344CB8AC3E}">
        <p14:creationId xmlns:p14="http://schemas.microsoft.com/office/powerpoint/2010/main" val="2264960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2FA29-40A5-6A96-DE01-1E3AA037C92E}"/>
              </a:ext>
            </a:extLst>
          </p:cNvPr>
          <p:cNvSpPr>
            <a:spLocks noGrp="1"/>
          </p:cNvSpPr>
          <p:nvPr>
            <p:ph type="title"/>
          </p:nvPr>
        </p:nvSpPr>
        <p:spPr/>
        <p:txBody>
          <a:bodyPr/>
          <a:lstStyle/>
          <a:p>
            <a:r>
              <a:rPr lang="en-US" altLang="zh-TW" dirty="0"/>
              <a:t>Optimize Reaction Progress instead of DoC</a:t>
            </a:r>
            <a:endParaRPr lang="zh-TW" altLang="en-US" dirty="0"/>
          </a:p>
        </p:txBody>
      </p:sp>
      <p:sp>
        <p:nvSpPr>
          <p:cNvPr id="4" name="Slide Number Placeholder 3">
            <a:extLst>
              <a:ext uri="{FF2B5EF4-FFF2-40B4-BE49-F238E27FC236}">
                <a16:creationId xmlns:a16="http://schemas.microsoft.com/office/drawing/2014/main" id="{248EBB74-6F0F-5B17-4F8F-12C526362231}"/>
              </a:ext>
            </a:extLst>
          </p:cNvPr>
          <p:cNvSpPr>
            <a:spLocks noGrp="1"/>
          </p:cNvSpPr>
          <p:nvPr>
            <p:ph type="sldNum" sz="quarter" idx="12"/>
          </p:nvPr>
        </p:nvSpPr>
        <p:spPr/>
        <p:txBody>
          <a:bodyPr/>
          <a:lstStyle/>
          <a:p>
            <a:fld id="{5A741E56-E3D9-46FF-B47D-3FCBEAE97EB2}" type="slidenum">
              <a:rPr lang="en-US" smtClean="0"/>
              <a:pPr/>
              <a:t>30</a:t>
            </a:fld>
            <a:endParaRPr lang="en-US" dirty="0"/>
          </a:p>
        </p:txBody>
      </p:sp>
      <p:sp>
        <p:nvSpPr>
          <p:cNvPr id="5" name="Footer Placeholder 4">
            <a:extLst>
              <a:ext uri="{FF2B5EF4-FFF2-40B4-BE49-F238E27FC236}">
                <a16:creationId xmlns:a16="http://schemas.microsoft.com/office/drawing/2014/main" id="{6FA022E4-07F0-F473-8F78-35A90AF9D258}"/>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D5198E72-AF1E-19C5-A8E1-A3025F65DB70}"/>
              </a:ext>
            </a:extLst>
          </p:cNvPr>
          <p:cNvSpPr>
            <a:spLocks noGrp="1"/>
          </p:cNvSpPr>
          <p:nvPr>
            <p:ph type="dt" sz="half" idx="10"/>
          </p:nvPr>
        </p:nvSpPr>
        <p:spPr/>
        <p:txBody>
          <a:bodyPr/>
          <a:lstStyle/>
          <a:p>
            <a:fld id="{E4965A3C-7C44-491F-A2CC-585294ABE301}" type="datetime1">
              <a:rPr lang="en-US" smtClean="0"/>
              <a:t>9/24/26</a:t>
            </a:fld>
            <a:endParaRPr lang="en-US" dirty="0"/>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7D14D867-2980-714A-3EE7-BF60F9911D90}"/>
                  </a:ext>
                </a:extLst>
              </p:cNvPr>
              <p:cNvGraphicFramePr>
                <a:graphicFrameLocks noGrp="1"/>
              </p:cNvGraphicFramePr>
              <p:nvPr>
                <p:extLst>
                  <p:ext uri="{D42A27DB-BD31-4B8C-83A1-F6EECF244321}">
                    <p14:modId xmlns:p14="http://schemas.microsoft.com/office/powerpoint/2010/main" val="3143942218"/>
                  </p:ext>
                </p:extLst>
              </p:nvPr>
            </p:nvGraphicFramePr>
            <p:xfrm>
              <a:off x="217283" y="1474333"/>
              <a:ext cx="11751398" cy="1928940"/>
            </p:xfrm>
            <a:graphic>
              <a:graphicData uri="http://schemas.openxmlformats.org/drawingml/2006/table">
                <a:tbl>
                  <a:tblPr firstRow="1" bandRow="1">
                    <a:tableStyleId>{21E4AEA4-8DFA-4A89-87EB-49C32662AFE0}</a:tableStyleId>
                  </a:tblPr>
                  <a:tblGrid>
                    <a:gridCol w="11751398">
                      <a:extLst>
                        <a:ext uri="{9D8B030D-6E8A-4147-A177-3AD203B41FA5}">
                          <a16:colId xmlns:a16="http://schemas.microsoft.com/office/drawing/2014/main" val="2553717004"/>
                        </a:ext>
                      </a:extLst>
                    </a:gridCol>
                  </a:tblGrid>
                  <a:tr h="360000">
                    <a:tc>
                      <a:txBody>
                        <a:bodyPr/>
                        <a:lstStyle/>
                        <a:p>
                          <a:pPr algn="ctr"/>
                          <a:r>
                            <a:rPr lang="en-US" altLang="zh-TW" dirty="0"/>
                            <a:t>DoC-based Loss</a:t>
                          </a:r>
                          <a:endParaRPr lang="zh-TW" altLang="en-US" dirty="0"/>
                        </a:p>
                      </a:txBody>
                      <a:tcPr/>
                    </a:tc>
                    <a:extLst>
                      <a:ext uri="{0D108BD9-81ED-4DB2-BD59-A6C34878D82A}">
                        <a16:rowId xmlns:a16="http://schemas.microsoft.com/office/drawing/2014/main" val="2367109999"/>
                      </a:ext>
                    </a:extLst>
                  </a:tr>
                  <a:tr h="763013">
                    <a:tc>
                      <a:txBody>
                        <a:bodyPr/>
                        <a:lstStyle/>
                        <a:p>
                          <a:pPr marL="0" indent="0">
                            <a:buNone/>
                          </a:pPr>
                          <a14:m>
                            <m:oMathPara xmlns:m="http://schemas.openxmlformats.org/officeDocument/2006/math">
                              <m:oMath>
                                <m:r>
                                  <a:rPr lang="en-US" altLang="zh-TW" b="0" i="1" smtClean="0">
                                    <a:latin typeface="Cambria Math" panose="02040503050406030204" pitchFamily="18" charset="0"/>
                                  </a:rPr>
                                  <m:t>𝐽</m:t>
                                </m:r>
                                <m:r>
                                  <a:rPr lang="en-US" altLang="zh-TW" b="0" i="1" smtClean="0">
                                    <a:latin typeface="Cambria Math" panose="02040503050406030204" pitchFamily="18" charset="0"/>
                                  </a:rPr>
                                  <m:t>=</m:t>
                                </m:r>
                                <m:r>
                                  <a:rPr lang="en-US" altLang="zh-TW" i="1">
                                    <a:latin typeface="Cambria Math" panose="02040503050406030204" pitchFamily="18" charset="0"/>
                                  </a:rPr>
                                  <m:t>𝑚𝑒𝑎</m:t>
                                </m:r>
                                <m:sSub>
                                  <m:sSubPr>
                                    <m:ctrlPr>
                                      <a:rPr lang="en-US" altLang="zh-TW" i="1">
                                        <a:latin typeface="Cambria Math" panose="02040503050406030204" pitchFamily="18" charset="0"/>
                                      </a:rPr>
                                    </m:ctrlPr>
                                  </m:sSubPr>
                                  <m:e>
                                    <m:r>
                                      <a:rPr lang="en-US" altLang="zh-TW" i="1">
                                        <a:latin typeface="Cambria Math" panose="02040503050406030204" pitchFamily="18" charset="0"/>
                                      </a:rPr>
                                      <m:t>𝑛</m:t>
                                    </m:r>
                                  </m:e>
                                  <m:sub>
                                    <m:r>
                                      <a:rPr lang="en-US" altLang="zh-TW" i="1">
                                        <a:latin typeface="Cambria Math" panose="02040503050406030204" pitchFamily="18" charset="0"/>
                                      </a:rPr>
                                      <m:t>𝑝</m:t>
                                    </m:r>
                                    <m:r>
                                      <a:rPr lang="en-US" altLang="zh-TW" i="1">
                                        <a:latin typeface="Cambria Math" panose="02040503050406030204" pitchFamily="18" charset="0"/>
                                      </a:rPr>
                                      <m:t>∈</m:t>
                                    </m:r>
                                    <m:sSub>
                                      <m:sSubPr>
                                        <m:ctrlPr>
                                          <a:rPr lang="en-US" altLang="zh-TW">
                                            <a:latin typeface="Cambria Math" panose="02040503050406030204" pitchFamily="18" charset="0"/>
                                          </a:rPr>
                                        </m:ctrlPr>
                                      </m:sSubPr>
                                      <m:e>
                                        <m:r>
                                          <m:rPr>
                                            <m:sty m:val="p"/>
                                          </m:rPr>
                                          <a:rPr lang="en-US" altLang="zh-TW">
                                            <a:latin typeface="Cambria Math" panose="02040503050406030204" pitchFamily="18" charset="0"/>
                                          </a:rPr>
                                          <m:t>Ω</m:t>
                                        </m:r>
                                      </m:e>
                                      <m:sub>
                                        <m:r>
                                          <a:rPr lang="en-US" altLang="zh-TW" b="0" i="1" smtClean="0">
                                            <a:latin typeface="Cambria Math" panose="02040503050406030204" pitchFamily="18" charset="0"/>
                                          </a:rPr>
                                          <m:t>𝑇</m:t>
                                        </m:r>
                                      </m:sub>
                                    </m:sSub>
                                  </m:sub>
                                </m:sSub>
                                <m:sSup>
                                  <m:sSupPr>
                                    <m:ctrlPr>
                                      <a:rPr lang="en-US" altLang="zh-TW" i="1">
                                        <a:latin typeface="Cambria Math" panose="02040503050406030204" pitchFamily="18" charset="0"/>
                                      </a:rPr>
                                    </m:ctrlPr>
                                  </m:sSupPr>
                                  <m:e>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𝑝</m:t>
                                            </m:r>
                                          </m:sub>
                                        </m:sSub>
                                        <m:r>
                                          <a:rPr lang="en-US" altLang="zh-TW" i="1">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𝐷</m:t>
                                            </m:r>
                                          </m:e>
                                          <m:sub>
                                            <m:r>
                                              <a:rPr lang="en-US" altLang="zh-TW" i="1">
                                                <a:latin typeface="Cambria Math" panose="02040503050406030204" pitchFamily="18" charset="0"/>
                                              </a:rPr>
                                              <m:t>𝑝</m:t>
                                            </m:r>
                                          </m:sub>
                                          <m:sup>
                                            <m:r>
                                              <a:rPr lang="en-US" altLang="zh-TW" i="1">
                                                <a:latin typeface="Cambria Math" panose="02040503050406030204" pitchFamily="18" charset="0"/>
                                              </a:rPr>
                                              <m:t>∗</m:t>
                                            </m:r>
                                          </m:sup>
                                        </m:sSubSup>
                                      </m:e>
                                    </m:d>
                                  </m:e>
                                  <m:sup>
                                    <m:r>
                                      <a:rPr lang="en-US" altLang="zh-TW" i="1">
                                        <a:latin typeface="Cambria Math" panose="02040503050406030204" pitchFamily="18" charset="0"/>
                                      </a:rPr>
                                      <m:t>2</m:t>
                                    </m:r>
                                  </m:sup>
                                </m:sSup>
                                <m:r>
                                  <a:rPr lang="en-US" altLang="zh-TW" b="0" i="1" smtClean="0">
                                    <a:latin typeface="Cambria Math" panose="02040503050406030204" pitchFamily="18" charset="0"/>
                                  </a:rPr>
                                  <m:t>+</m:t>
                                </m:r>
                                <m:r>
                                  <a:rPr lang="en-US" altLang="zh-TW" i="1">
                                    <a:latin typeface="Cambria Math" panose="02040503050406030204" pitchFamily="18" charset="0"/>
                                  </a:rPr>
                                  <m:t>𝑚𝑒𝑎</m:t>
                                </m:r>
                                <m:sSub>
                                  <m:sSubPr>
                                    <m:ctrlPr>
                                      <a:rPr lang="en-US" altLang="zh-TW" i="1">
                                        <a:latin typeface="Cambria Math" panose="02040503050406030204" pitchFamily="18" charset="0"/>
                                      </a:rPr>
                                    </m:ctrlPr>
                                  </m:sSubPr>
                                  <m:e>
                                    <m:r>
                                      <a:rPr lang="en-US" altLang="zh-TW" i="1">
                                        <a:latin typeface="Cambria Math" panose="02040503050406030204" pitchFamily="18" charset="0"/>
                                      </a:rPr>
                                      <m:t>𝑛</m:t>
                                    </m:r>
                                  </m:e>
                                  <m:sub>
                                    <m:r>
                                      <a:rPr lang="en-US" altLang="zh-TW" i="1">
                                        <a:latin typeface="Cambria Math" panose="02040503050406030204" pitchFamily="18" charset="0"/>
                                      </a:rPr>
                                      <m:t>𝑝</m:t>
                                    </m:r>
                                    <m:r>
                                      <a:rPr lang="en-US" altLang="zh-TW" i="1">
                                        <a:latin typeface="Cambria Math" panose="02040503050406030204" pitchFamily="18" charset="0"/>
                                      </a:rPr>
                                      <m:t>∈</m:t>
                                    </m:r>
                                    <m:sSub>
                                      <m:sSubPr>
                                        <m:ctrlPr>
                                          <a:rPr lang="en-US" altLang="zh-TW">
                                            <a:latin typeface="Cambria Math" panose="02040503050406030204" pitchFamily="18" charset="0"/>
                                          </a:rPr>
                                        </m:ctrlPr>
                                      </m:sSubPr>
                                      <m:e>
                                        <m:r>
                                          <m:rPr>
                                            <m:sty m:val="p"/>
                                          </m:rPr>
                                          <a:rPr lang="en-US" altLang="zh-TW">
                                            <a:latin typeface="Cambria Math" panose="02040503050406030204" pitchFamily="18" charset="0"/>
                                          </a:rPr>
                                          <m:t>Ω</m:t>
                                        </m:r>
                                      </m:e>
                                      <m:sub>
                                        <m:r>
                                          <a:rPr lang="en-US" altLang="zh-TW" b="0" i="1" smtClean="0">
                                            <a:latin typeface="Cambria Math" panose="02040503050406030204" pitchFamily="18" charset="0"/>
                                          </a:rPr>
                                          <m:t>𝑂𝑢𝑡</m:t>
                                        </m:r>
                                      </m:sub>
                                    </m:sSub>
                                  </m:sub>
                                </m:sSub>
                                <m:sSup>
                                  <m:sSupPr>
                                    <m:ctrlPr>
                                      <a:rPr lang="en-US" altLang="zh-TW" i="1">
                                        <a:latin typeface="Cambria Math" panose="02040503050406030204" pitchFamily="18" charset="0"/>
                                      </a:rPr>
                                    </m:ctrlPr>
                                  </m:sSupPr>
                                  <m:e>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𝑝</m:t>
                                            </m:r>
                                          </m:sub>
                                        </m:sSub>
                                      </m:e>
                                    </m:d>
                                  </m:e>
                                  <m:sup>
                                    <m:r>
                                      <a:rPr lang="en-US" altLang="zh-TW" i="1">
                                        <a:latin typeface="Cambria Math" panose="02040503050406030204" pitchFamily="18" charset="0"/>
                                      </a:rPr>
                                      <m:t>2</m:t>
                                    </m:r>
                                  </m:sup>
                                </m:sSup>
                              </m:oMath>
                            </m:oMathPara>
                          </a14:m>
                          <a:endParaRPr lang="en-US" altLang="zh-TW" dirty="0"/>
                        </a:p>
                        <a:p>
                          <a:r>
                            <a:rPr lang="en-US" altLang="zh-TW" b="1" dirty="0"/>
                            <a:t>For one pixel</a:t>
                          </a:r>
                          <a:r>
                            <a:rPr lang="en-US" altLang="zh-TW" dirty="0"/>
                            <a:t>,</a:t>
                          </a:r>
                        </a:p>
                        <a:p>
                          <a:pPr/>
                          <a14:m>
                            <m:oMathPara xmlns:m="http://schemas.openxmlformats.org/officeDocument/2006/math">
                              <m:oMath>
                                <m:f>
                                  <m:fPr>
                                    <m:ctrlPr>
                                      <a:rPr lang="zh-TW" altLang="en-US" i="1" smtClean="0">
                                        <a:latin typeface="Cambria Math" panose="02040503050406030204" pitchFamily="18" charset="0"/>
                                      </a:rPr>
                                    </m:ctrlPr>
                                  </m:fPr>
                                  <m:num>
                                    <m:r>
                                      <a:rPr lang="zh-TW" altLang="en-US" i="1" smtClean="0">
                                        <a:latin typeface="Cambria Math" panose="02040503050406030204" pitchFamily="18" charset="0"/>
                                      </a:rPr>
                                      <m:t>𝜕</m:t>
                                    </m:r>
                                    <m:r>
                                      <a:rPr lang="en-US" altLang="zh-TW" b="0" i="1" smtClean="0">
                                        <a:latin typeface="Cambria Math" panose="02040503050406030204" pitchFamily="18" charset="0"/>
                                      </a:rPr>
                                      <m:t>𝐽</m:t>
                                    </m:r>
                                  </m:num>
                                  <m:den>
                                    <m:r>
                                      <a:rPr lang="zh-TW" altLang="en-US" i="1" smtClean="0">
                                        <a:latin typeface="Cambria Math" panose="02040503050406030204" pitchFamily="18" charset="0"/>
                                      </a:rPr>
                                      <m:t>𝜕</m:t>
                                    </m:r>
                                    <m:r>
                                      <a:rPr lang="en-US" altLang="zh-TW" b="0" i="1" smtClean="0">
                                        <a:latin typeface="Cambria Math" panose="02040503050406030204" pitchFamily="18" charset="0"/>
                                      </a:rPr>
                                      <m:t>𝑢</m:t>
                                    </m:r>
                                  </m:den>
                                </m:f>
                                <m:r>
                                  <a:rPr lang="en-US" altLang="zh-TW" b="0" i="1" smtClean="0">
                                    <a:latin typeface="Cambria Math" panose="02040503050406030204" pitchFamily="18" charset="0"/>
                                  </a:rPr>
                                  <m:t>=</m:t>
                                </m:r>
                                <m:r>
                                  <a:rPr lang="en-US" altLang="zh-TW" b="0" i="1" smtClean="0">
                                    <a:solidFill>
                                      <a:schemeClr val="accent2"/>
                                    </a:solidFill>
                                    <a:latin typeface="Cambria Math" panose="02040503050406030204" pitchFamily="18" charset="0"/>
                                  </a:rPr>
                                  <m:t>2(</m:t>
                                </m:r>
                                <m:sSub>
                                  <m:sSubPr>
                                    <m:ctrlPr>
                                      <a:rPr lang="en-US" altLang="zh-TW" i="1">
                                        <a:solidFill>
                                          <a:schemeClr val="accent2"/>
                                        </a:solidFill>
                                        <a:latin typeface="Cambria Math" panose="02040503050406030204" pitchFamily="18" charset="0"/>
                                      </a:rPr>
                                    </m:ctrlPr>
                                  </m:sSubPr>
                                  <m:e>
                                    <m:r>
                                      <a:rPr lang="en-US" altLang="zh-TW" i="1">
                                        <a:solidFill>
                                          <a:schemeClr val="accent2"/>
                                        </a:solidFill>
                                        <a:latin typeface="Cambria Math" panose="02040503050406030204" pitchFamily="18" charset="0"/>
                                      </a:rPr>
                                      <m:t>𝐷</m:t>
                                    </m:r>
                                  </m:e>
                                  <m:sub>
                                    <m:r>
                                      <a:rPr lang="en-US" altLang="zh-TW" i="1">
                                        <a:solidFill>
                                          <a:schemeClr val="accent2"/>
                                        </a:solidFill>
                                        <a:latin typeface="Cambria Math" panose="02040503050406030204" pitchFamily="18" charset="0"/>
                                      </a:rPr>
                                      <m:t>𝑝</m:t>
                                    </m:r>
                                  </m:sub>
                                </m:sSub>
                                <m:r>
                                  <a:rPr lang="en-US" altLang="zh-TW" i="1">
                                    <a:solidFill>
                                      <a:schemeClr val="accent2"/>
                                    </a:solidFill>
                                    <a:latin typeface="Cambria Math" panose="02040503050406030204" pitchFamily="18" charset="0"/>
                                  </a:rPr>
                                  <m:t>−</m:t>
                                </m:r>
                                <m:sSubSup>
                                  <m:sSubSupPr>
                                    <m:ctrlPr>
                                      <a:rPr lang="en-US" altLang="zh-TW" i="1">
                                        <a:solidFill>
                                          <a:schemeClr val="accent2"/>
                                        </a:solidFill>
                                        <a:latin typeface="Cambria Math" panose="02040503050406030204" pitchFamily="18" charset="0"/>
                                      </a:rPr>
                                    </m:ctrlPr>
                                  </m:sSubSupPr>
                                  <m:e>
                                    <m:r>
                                      <a:rPr lang="en-US" altLang="zh-TW" i="1">
                                        <a:solidFill>
                                          <a:schemeClr val="accent2"/>
                                        </a:solidFill>
                                        <a:latin typeface="Cambria Math" panose="02040503050406030204" pitchFamily="18" charset="0"/>
                                      </a:rPr>
                                      <m:t>𝐷</m:t>
                                    </m:r>
                                  </m:e>
                                  <m:sub>
                                    <m:r>
                                      <a:rPr lang="en-US" altLang="zh-TW" i="1">
                                        <a:solidFill>
                                          <a:schemeClr val="accent2"/>
                                        </a:solidFill>
                                        <a:latin typeface="Cambria Math" panose="02040503050406030204" pitchFamily="18" charset="0"/>
                                      </a:rPr>
                                      <m:t>𝑝</m:t>
                                    </m:r>
                                  </m:sub>
                                  <m:sup>
                                    <m:r>
                                      <a:rPr lang="en-US" altLang="zh-TW" i="1">
                                        <a:solidFill>
                                          <a:schemeClr val="accent2"/>
                                        </a:solidFill>
                                        <a:latin typeface="Cambria Math" panose="02040503050406030204" pitchFamily="18" charset="0"/>
                                      </a:rPr>
                                      <m:t>∗</m:t>
                                    </m:r>
                                  </m:sup>
                                </m:sSubSup>
                                <m:r>
                                  <a:rPr lang="en-US" altLang="zh-TW" b="0" i="1" smtClean="0">
                                    <a:solidFill>
                                      <a:schemeClr val="accent2"/>
                                    </a:solidFill>
                                    <a:latin typeface="Cambria Math" panose="02040503050406030204" pitchFamily="18" charset="0"/>
                                  </a:rPr>
                                  <m:t>)</m:t>
                                </m:r>
                                <m:r>
                                  <a:rPr lang="en-US" altLang="zh-TW" b="0" i="1" smtClean="0">
                                    <a:solidFill>
                                      <a:schemeClr val="accent3"/>
                                    </a:solidFill>
                                    <a:latin typeface="Cambria Math" panose="02040503050406030204" pitchFamily="18" charset="0"/>
                                  </a:rPr>
                                  <m:t>(1−</m:t>
                                </m:r>
                                <m:r>
                                  <a:rPr lang="en-US" altLang="zh-TW" b="0" i="1" smtClean="0">
                                    <a:solidFill>
                                      <a:schemeClr val="accent3"/>
                                    </a:solidFill>
                                    <a:latin typeface="Cambria Math" panose="02040503050406030204" pitchFamily="18" charset="0"/>
                                  </a:rPr>
                                  <m:t>𝐷𝑝</m:t>
                                </m:r>
                                <m:r>
                                  <a:rPr lang="en-US" altLang="zh-TW" b="0" i="1" smtClean="0">
                                    <a:solidFill>
                                      <a:schemeClr val="accent3"/>
                                    </a:solidFill>
                                    <a:latin typeface="Cambria Math" panose="02040503050406030204" pitchFamily="18" charset="0"/>
                                  </a:rPr>
                                  <m:t>)</m:t>
                                </m:r>
                                <m:f>
                                  <m:fPr>
                                    <m:ctrlPr>
                                      <a:rPr lang="zh-TW" altLang="en-US" b="0" i="1" smtClean="0">
                                        <a:latin typeface="Cambria Math" panose="02040503050406030204" pitchFamily="18" charset="0"/>
                                      </a:rPr>
                                    </m:ctrlPr>
                                  </m:fPr>
                                  <m:num>
                                    <m:r>
                                      <a:rPr lang="zh-TW" altLang="en-US"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𝑅</m:t>
                                        </m:r>
                                      </m:e>
                                      <m:sub>
                                        <m:r>
                                          <a:rPr lang="en-US" altLang="zh-TW" b="0" i="1" smtClean="0">
                                            <a:latin typeface="Cambria Math" panose="02040503050406030204" pitchFamily="18" charset="0"/>
                                          </a:rPr>
                                          <m:t>𝑝</m:t>
                                        </m:r>
                                      </m:sub>
                                    </m:sSub>
                                  </m:num>
                                  <m:den>
                                    <m:r>
                                      <a:rPr lang="zh-TW" altLang="en-US" b="0" i="1" smtClean="0">
                                        <a:latin typeface="Cambria Math" panose="02040503050406030204" pitchFamily="18" charset="0"/>
                                      </a:rPr>
                                      <m:t>𝜕</m:t>
                                    </m:r>
                                    <m:r>
                                      <a:rPr lang="en-US" altLang="zh-TW" b="0" i="1" smtClean="0">
                                        <a:latin typeface="Cambria Math" panose="02040503050406030204" pitchFamily="18" charset="0"/>
                                      </a:rPr>
                                      <m:t>𝑢</m:t>
                                    </m:r>
                                  </m:den>
                                </m:f>
                              </m:oMath>
                            </m:oMathPara>
                          </a14:m>
                          <a:endParaRPr lang="en-US" altLang="zh-TW" dirty="0"/>
                        </a:p>
                        <a:p>
                          <a:pPr marL="285750" indent="-285750">
                            <a:buFont typeface="Arial" panose="020B0604020202020204" pitchFamily="34" charset="0"/>
                            <a:buChar char="•"/>
                          </a:pPr>
                          <a:r>
                            <a:rPr lang="en-US" altLang="zh-TW" dirty="0"/>
                            <a:t>As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𝑝</m:t>
                                  </m:r>
                                </m:sub>
                              </m:sSub>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1</m:t>
                              </m:r>
                            </m:oMath>
                          </a14:m>
                          <a:r>
                            <a:rPr lang="en-US" altLang="zh-TW" dirty="0"/>
                            <a:t>, the controller become less sensitive even if error still exists</a:t>
                          </a:r>
                          <a:endParaRPr lang="zh-TW" altLang="en-US" dirty="0"/>
                        </a:p>
                      </a:txBody>
                      <a:tcPr/>
                    </a:tc>
                    <a:extLst>
                      <a:ext uri="{0D108BD9-81ED-4DB2-BD59-A6C34878D82A}">
                        <a16:rowId xmlns:a16="http://schemas.microsoft.com/office/drawing/2014/main" val="782495225"/>
                      </a:ext>
                    </a:extLst>
                  </a:tr>
                </a:tbl>
              </a:graphicData>
            </a:graphic>
          </p:graphicFrame>
        </mc:Choice>
        <mc:Fallback xmlns="">
          <p:graphicFrame>
            <p:nvGraphicFramePr>
              <p:cNvPr id="8" name="Table 7">
                <a:extLst>
                  <a:ext uri="{FF2B5EF4-FFF2-40B4-BE49-F238E27FC236}">
                    <a16:creationId xmlns:a16="http://schemas.microsoft.com/office/drawing/2014/main" id="{7D14D867-2980-714A-3EE7-BF60F9911D90}"/>
                  </a:ext>
                </a:extLst>
              </p:cNvPr>
              <p:cNvGraphicFramePr>
                <a:graphicFrameLocks noGrp="1"/>
              </p:cNvGraphicFramePr>
              <p:nvPr>
                <p:extLst>
                  <p:ext uri="{D42A27DB-BD31-4B8C-83A1-F6EECF244321}">
                    <p14:modId xmlns:p14="http://schemas.microsoft.com/office/powerpoint/2010/main" val="3143942218"/>
                  </p:ext>
                </p:extLst>
              </p:nvPr>
            </p:nvGraphicFramePr>
            <p:xfrm>
              <a:off x="217283" y="1474333"/>
              <a:ext cx="11751398" cy="1928940"/>
            </p:xfrm>
            <a:graphic>
              <a:graphicData uri="http://schemas.openxmlformats.org/drawingml/2006/table">
                <a:tbl>
                  <a:tblPr firstRow="1" bandRow="1">
                    <a:tableStyleId>{21E4AEA4-8DFA-4A89-87EB-49C32662AFE0}</a:tableStyleId>
                  </a:tblPr>
                  <a:tblGrid>
                    <a:gridCol w="11751398">
                      <a:extLst>
                        <a:ext uri="{9D8B030D-6E8A-4147-A177-3AD203B41FA5}">
                          <a16:colId xmlns:a16="http://schemas.microsoft.com/office/drawing/2014/main" val="2553717004"/>
                        </a:ext>
                      </a:extLst>
                    </a:gridCol>
                  </a:tblGrid>
                  <a:tr h="365760">
                    <a:tc>
                      <a:txBody>
                        <a:bodyPr/>
                        <a:lstStyle/>
                        <a:p>
                          <a:pPr algn="ctr"/>
                          <a:r>
                            <a:rPr lang="en-US" altLang="zh-TW" dirty="0"/>
                            <a:t>DoC-based Loss</a:t>
                          </a:r>
                          <a:endParaRPr lang="zh-TW" altLang="en-US" dirty="0"/>
                        </a:p>
                      </a:txBody>
                      <a:tcPr/>
                    </a:tc>
                    <a:extLst>
                      <a:ext uri="{0D108BD9-81ED-4DB2-BD59-A6C34878D82A}">
                        <a16:rowId xmlns:a16="http://schemas.microsoft.com/office/drawing/2014/main" val="2367109999"/>
                      </a:ext>
                    </a:extLst>
                  </a:tr>
                  <a:tr h="1563180">
                    <a:tc>
                      <a:txBody>
                        <a:bodyPr/>
                        <a:lstStyle/>
                        <a:p>
                          <a:endParaRPr lang="zh-TW"/>
                        </a:p>
                      </a:txBody>
                      <a:tcPr>
                        <a:blipFill>
                          <a:blip r:embed="rId3"/>
                          <a:stretch>
                            <a:fillRect l="-52" t="-25194" r="-207" b="-5039"/>
                          </a:stretch>
                        </a:blipFill>
                      </a:tcPr>
                    </a:tc>
                    <a:extLst>
                      <a:ext uri="{0D108BD9-81ED-4DB2-BD59-A6C34878D82A}">
                        <a16:rowId xmlns:a16="http://schemas.microsoft.com/office/drawing/2014/main" val="782495225"/>
                      </a:ext>
                    </a:extLst>
                  </a:tr>
                </a:tbl>
              </a:graphicData>
            </a:graphic>
          </p:graphicFrame>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6B4CB81-C2B8-6D34-6D8B-DC1D32574BBF}"/>
                  </a:ext>
                </a:extLst>
              </p:cNvPr>
              <p:cNvSpPr txBox="1"/>
              <p:nvPr/>
            </p:nvSpPr>
            <p:spPr>
              <a:xfrm>
                <a:off x="217283" y="842213"/>
                <a:ext cx="2829209" cy="565348"/>
              </a:xfrm>
              <a:prstGeom prst="rect">
                <a:avLst/>
              </a:prstGeom>
              <a:noFill/>
            </p:spPr>
            <p:txBody>
              <a:bodyPr wrap="square">
                <a:spAutoFit/>
              </a:bodyPr>
              <a:lstStyle/>
              <a:p>
                <a:pPr/>
                <a14:m>
                  <m:oMathPara xmlns:m="http://schemas.openxmlformats.org/officeDocument/2006/math">
                    <m:oMath>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𝐷</m:t>
                          </m:r>
                        </m:e>
                        <m:sub>
                          <m:r>
                            <a:rPr lang="en-US" altLang="zh-TW" sz="2800" i="1">
                              <a:latin typeface="Cambria Math" panose="02040503050406030204" pitchFamily="18" charset="0"/>
                            </a:rPr>
                            <m:t>𝑝</m:t>
                          </m:r>
                        </m:sub>
                      </m:sSub>
                      <m:r>
                        <a:rPr lang="en-US" altLang="zh-TW" sz="2800" b="0" i="1" smtClean="0">
                          <a:latin typeface="Cambria Math" panose="02040503050406030204" pitchFamily="18" charset="0"/>
                        </a:rPr>
                        <m:t>=1−</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𝑒</m:t>
                          </m:r>
                        </m:e>
                        <m:sup>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𝑅</m:t>
                          </m:r>
                        </m:sup>
                      </m:sSup>
                    </m:oMath>
                  </m:oMathPara>
                </a14:m>
                <a:endParaRPr lang="zh-TW" altLang="en-US" dirty="0"/>
              </a:p>
            </p:txBody>
          </p:sp>
        </mc:Choice>
        <mc:Fallback xmlns="">
          <p:sp>
            <p:nvSpPr>
              <p:cNvPr id="10" name="TextBox 9">
                <a:extLst>
                  <a:ext uri="{FF2B5EF4-FFF2-40B4-BE49-F238E27FC236}">
                    <a16:creationId xmlns:a16="http://schemas.microsoft.com/office/drawing/2014/main" id="{76B4CB81-C2B8-6D34-6D8B-DC1D32574BBF}"/>
                  </a:ext>
                </a:extLst>
              </p:cNvPr>
              <p:cNvSpPr txBox="1">
                <a:spLocks noRot="1" noChangeAspect="1" noMove="1" noResize="1" noEditPoints="1" noAdjustHandles="1" noChangeArrowheads="1" noChangeShapeType="1" noTextEdit="1"/>
              </p:cNvSpPr>
              <p:nvPr/>
            </p:nvSpPr>
            <p:spPr>
              <a:xfrm>
                <a:off x="217283" y="842213"/>
                <a:ext cx="2829209" cy="56534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2D089F2-887B-93D2-2F35-A6095C7FDBF0}"/>
                  </a:ext>
                </a:extLst>
              </p:cNvPr>
              <p:cNvSpPr txBox="1"/>
              <p:nvPr/>
            </p:nvSpPr>
            <p:spPr>
              <a:xfrm>
                <a:off x="3237681" y="564764"/>
                <a:ext cx="5710411" cy="1145378"/>
              </a:xfrm>
              <a:prstGeom prst="rect">
                <a:avLst/>
              </a:prstGeom>
              <a:noFill/>
            </p:spPr>
            <p:txBody>
              <a:bodyPr wrap="square">
                <a:spAutoFit/>
              </a:bodyPr>
              <a:lstStyle/>
              <a:p>
                <a:pPr/>
                <a14:m>
                  <m:oMathPara xmlns:m="http://schemas.openxmlformats.org/officeDocument/2006/math">
                    <m:oMath>
                      <m:r>
                        <a:rPr lang="en-US" altLang="zh-TW" sz="2800" i="1" smtClean="0">
                          <a:latin typeface="Cambria Math" panose="02040503050406030204" pitchFamily="18" charset="0"/>
                        </a:rPr>
                        <m:t>𝑅</m:t>
                      </m:r>
                      <m:r>
                        <a:rPr lang="en-US" altLang="zh-TW" sz="2800" b="0" i="1" smtClean="0">
                          <a:latin typeface="Cambria Math" panose="02040503050406030204" pitchFamily="18" charset="0"/>
                        </a:rPr>
                        <m:t>=−</m:t>
                      </m:r>
                      <m:func>
                        <m:funcPr>
                          <m:ctrlPr>
                            <a:rPr lang="en-US" altLang="zh-TW" sz="2800" b="0" i="0" smtClean="0">
                              <a:latin typeface="Cambria Math" panose="02040503050406030204" pitchFamily="18" charset="0"/>
                            </a:rPr>
                          </m:ctrlPr>
                        </m:funcPr>
                        <m:fName>
                          <m:r>
                            <m:rPr>
                              <m:sty m:val="p"/>
                            </m:rPr>
                            <a:rPr lang="en-US" altLang="zh-TW" sz="2800" b="0" i="0" smtClean="0">
                              <a:latin typeface="Cambria Math" panose="02040503050406030204" pitchFamily="18" charset="0"/>
                            </a:rPr>
                            <m:t>ln</m:t>
                          </m:r>
                        </m:fName>
                        <m:e>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1−</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𝐷</m:t>
                                  </m:r>
                                </m:e>
                                <m:sub>
                                  <m:r>
                                    <a:rPr lang="en-US" altLang="zh-TW" sz="2800" b="0" i="1" smtClean="0">
                                      <a:latin typeface="Cambria Math" panose="02040503050406030204" pitchFamily="18" charset="0"/>
                                    </a:rPr>
                                    <m:t>𝑝</m:t>
                                  </m:r>
                                </m:sub>
                              </m:sSub>
                            </m:e>
                          </m:d>
                        </m:e>
                      </m:func>
                      <m:r>
                        <a:rPr lang="en-US" altLang="zh-TW" sz="2800" b="0" i="1" smtClean="0">
                          <a:latin typeface="Cambria Math" panose="02040503050406030204" pitchFamily="18" charset="0"/>
                        </a:rPr>
                        <m:t>=</m:t>
                      </m:r>
                      <m:nary>
                        <m:naryPr>
                          <m:chr m:val="∑"/>
                          <m:supHide m:val="on"/>
                          <m:ctrlPr>
                            <a:rPr lang="en-US" altLang="zh-TW" sz="2800" b="0" i="1" smtClean="0">
                              <a:latin typeface="Cambria Math" panose="02040503050406030204" pitchFamily="18" charset="0"/>
                            </a:rPr>
                          </m:ctrlPr>
                        </m:naryPr>
                        <m:sub>
                          <m:r>
                            <m:rPr>
                              <m:brk m:alnAt="7"/>
                            </m:rPr>
                            <a:rPr lang="en-US" altLang="zh-TW" sz="2800" b="0" i="1" smtClean="0">
                              <a:latin typeface="Cambria Math" panose="02040503050406030204" pitchFamily="18" charset="0"/>
                            </a:rPr>
                            <m:t>𝑘</m:t>
                          </m:r>
                        </m:sub>
                        <m:sup/>
                        <m:e>
                          <m:r>
                            <a:rPr lang="en-US" altLang="zh-TW" sz="2800" b="0" i="1" smtClean="0">
                              <a:latin typeface="Cambria Math" panose="02040503050406030204" pitchFamily="18" charset="0"/>
                            </a:rPr>
                            <m:t>𝐵</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𝐼</m:t>
                              </m:r>
                            </m:e>
                            <m:sub>
                              <m:r>
                                <a:rPr lang="en-US" altLang="zh-TW" sz="2800" b="0" i="1" smtClean="0">
                                  <a:latin typeface="Cambria Math" panose="02040503050406030204" pitchFamily="18" charset="0"/>
                                </a:rPr>
                                <m:t>𝑘</m:t>
                              </m:r>
                            </m:sub>
                          </m:sSub>
                          <m:r>
                            <a:rPr lang="en-US" altLang="zh-TW" sz="2800" b="0" i="1" smtClean="0">
                              <a:latin typeface="Cambria Math" panose="02040503050406030204" pitchFamily="18" charset="0"/>
                            </a:rPr>
                            <m:t>)</m:t>
                          </m:r>
                        </m:e>
                      </m:nary>
                      <m:r>
                        <m:rPr>
                          <m:sty m:val="p"/>
                        </m:rPr>
                        <a:rPr lang="en-US" altLang="zh-TW" sz="2800" b="0" i="0" smtClean="0">
                          <a:latin typeface="Cambria Math" panose="02040503050406030204" pitchFamily="18" charset="0"/>
                        </a:rPr>
                        <m:t>Δ</m:t>
                      </m:r>
                      <m:r>
                        <a:rPr lang="en-US" altLang="zh-TW" sz="2800" b="0" i="1" smtClean="0">
                          <a:latin typeface="Cambria Math" panose="02040503050406030204" pitchFamily="18" charset="0"/>
                        </a:rPr>
                        <m:t>𝑡</m:t>
                      </m:r>
                    </m:oMath>
                  </m:oMathPara>
                </a14:m>
                <a:endParaRPr lang="zh-TW" altLang="en-US" dirty="0"/>
              </a:p>
            </p:txBody>
          </p:sp>
        </mc:Choice>
        <mc:Fallback xmlns="">
          <p:sp>
            <p:nvSpPr>
              <p:cNvPr id="12" name="TextBox 11">
                <a:extLst>
                  <a:ext uri="{FF2B5EF4-FFF2-40B4-BE49-F238E27FC236}">
                    <a16:creationId xmlns:a16="http://schemas.microsoft.com/office/drawing/2014/main" id="{B2D089F2-887B-93D2-2F35-A6095C7FDBF0}"/>
                  </a:ext>
                </a:extLst>
              </p:cNvPr>
              <p:cNvSpPr txBox="1">
                <a:spLocks noRot="1" noChangeAspect="1" noMove="1" noResize="1" noEditPoints="1" noAdjustHandles="1" noChangeArrowheads="1" noChangeShapeType="1" noTextEdit="1"/>
              </p:cNvSpPr>
              <p:nvPr/>
            </p:nvSpPr>
            <p:spPr>
              <a:xfrm>
                <a:off x="3237681" y="564764"/>
                <a:ext cx="5710411" cy="1145378"/>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67B7811-31DA-92C8-871F-ABF13B77BE13}"/>
                  </a:ext>
                </a:extLst>
              </p:cNvPr>
              <p:cNvSpPr txBox="1"/>
              <p:nvPr/>
            </p:nvSpPr>
            <p:spPr>
              <a:xfrm>
                <a:off x="9139281" y="729940"/>
                <a:ext cx="3243907" cy="677621"/>
              </a:xfrm>
              <a:prstGeom prst="rect">
                <a:avLst/>
              </a:prstGeom>
              <a:noFill/>
            </p:spPr>
            <p:txBody>
              <a:bodyPr wrap="square">
                <a:spAutoFit/>
              </a:bodyPr>
              <a:lstStyle/>
              <a:p>
                <a:pPr/>
                <a14:m>
                  <m:oMathPara xmlns:m="http://schemas.openxmlformats.org/officeDocument/2006/math">
                    <m:oMath>
                      <m:f>
                        <m:fPr>
                          <m:ctrlPr>
                            <a:rPr lang="zh-TW" altLang="en-US" sz="2000" i="1" smtClean="0">
                              <a:latin typeface="Cambria Math" panose="02040503050406030204" pitchFamily="18" charset="0"/>
                            </a:rPr>
                          </m:ctrlPr>
                        </m:fPr>
                        <m:num>
                          <m:r>
                            <a:rPr lang="zh-TW" altLang="en-US" sz="2000" i="1" smtClean="0">
                              <a:latin typeface="Cambria Math" panose="02040503050406030204" pitchFamily="18" charset="0"/>
                            </a:rPr>
                            <m:t>𝜕</m:t>
                          </m:r>
                          <m:r>
                            <a:rPr lang="en-US" altLang="zh-TW" sz="2000" b="0" i="1" smtClean="0">
                              <a:latin typeface="Cambria Math" panose="02040503050406030204" pitchFamily="18" charset="0"/>
                            </a:rPr>
                            <m:t>𝐽</m:t>
                          </m:r>
                        </m:num>
                        <m:den>
                          <m:r>
                            <a:rPr lang="zh-TW" altLang="en-US" sz="2000" i="1" smtClean="0">
                              <a:latin typeface="Cambria Math" panose="02040503050406030204" pitchFamily="18" charset="0"/>
                            </a:rPr>
                            <m:t>𝜕</m:t>
                          </m:r>
                          <m:r>
                            <a:rPr lang="en-US" altLang="zh-TW" sz="2000" b="0" i="1" smtClean="0">
                              <a:latin typeface="Cambria Math" panose="02040503050406030204" pitchFamily="18" charset="0"/>
                            </a:rPr>
                            <m:t>𝑢</m:t>
                          </m:r>
                        </m:den>
                      </m:f>
                      <m:r>
                        <a:rPr lang="en-US" altLang="zh-TW" sz="2000" b="0" i="1" smtClean="0">
                          <a:latin typeface="Cambria Math" panose="02040503050406030204" pitchFamily="18" charset="0"/>
                        </a:rPr>
                        <m:t>=</m:t>
                      </m:r>
                      <m:f>
                        <m:fPr>
                          <m:ctrlPr>
                            <a:rPr lang="zh-TW" altLang="en-US" sz="2000" i="1">
                              <a:solidFill>
                                <a:schemeClr val="accent2"/>
                              </a:solidFill>
                              <a:latin typeface="Cambria Math" panose="02040503050406030204" pitchFamily="18" charset="0"/>
                            </a:rPr>
                          </m:ctrlPr>
                        </m:fPr>
                        <m:num>
                          <m:r>
                            <a:rPr lang="zh-TW" altLang="en-US" sz="2000" i="1">
                              <a:solidFill>
                                <a:schemeClr val="accent2"/>
                              </a:solidFill>
                              <a:latin typeface="Cambria Math" panose="02040503050406030204" pitchFamily="18" charset="0"/>
                            </a:rPr>
                            <m:t>𝜕</m:t>
                          </m:r>
                          <m:r>
                            <a:rPr lang="en-US" altLang="zh-TW" sz="2000" i="1">
                              <a:solidFill>
                                <a:schemeClr val="accent2"/>
                              </a:solidFill>
                              <a:latin typeface="Cambria Math" panose="02040503050406030204" pitchFamily="18" charset="0"/>
                            </a:rPr>
                            <m:t>𝐽</m:t>
                          </m:r>
                        </m:num>
                        <m:den>
                          <m:r>
                            <a:rPr lang="zh-TW" altLang="en-US" sz="2000" i="1">
                              <a:solidFill>
                                <a:schemeClr val="accent2"/>
                              </a:solidFill>
                              <a:latin typeface="Cambria Math" panose="02040503050406030204" pitchFamily="18" charset="0"/>
                            </a:rPr>
                            <m:t>𝜕</m:t>
                          </m:r>
                          <m:r>
                            <a:rPr lang="en-US" altLang="zh-TW" sz="2000" b="0" i="1" smtClean="0">
                              <a:solidFill>
                                <a:schemeClr val="accent2"/>
                              </a:solidFill>
                              <a:latin typeface="Cambria Math" panose="02040503050406030204" pitchFamily="18" charset="0"/>
                            </a:rPr>
                            <m:t>𝐷</m:t>
                          </m:r>
                        </m:den>
                      </m:f>
                      <m:f>
                        <m:fPr>
                          <m:ctrlPr>
                            <a:rPr lang="zh-TW" altLang="en-US" sz="2000" i="1">
                              <a:solidFill>
                                <a:schemeClr val="accent3"/>
                              </a:solidFill>
                              <a:latin typeface="Cambria Math" panose="02040503050406030204" pitchFamily="18" charset="0"/>
                            </a:rPr>
                          </m:ctrlPr>
                        </m:fPr>
                        <m:num>
                          <m:r>
                            <a:rPr lang="zh-TW" altLang="en-US" sz="2000" i="1">
                              <a:solidFill>
                                <a:schemeClr val="accent3"/>
                              </a:solidFill>
                              <a:latin typeface="Cambria Math" panose="02040503050406030204" pitchFamily="18" charset="0"/>
                            </a:rPr>
                            <m:t>𝜕</m:t>
                          </m:r>
                          <m:r>
                            <a:rPr lang="en-US" altLang="zh-TW" sz="2000" b="0" i="1" smtClean="0">
                              <a:solidFill>
                                <a:schemeClr val="accent3"/>
                              </a:solidFill>
                              <a:latin typeface="Cambria Math" panose="02040503050406030204" pitchFamily="18" charset="0"/>
                            </a:rPr>
                            <m:t>𝐷</m:t>
                          </m:r>
                        </m:num>
                        <m:den>
                          <m:r>
                            <a:rPr lang="zh-TW" altLang="en-US" sz="2000" i="1">
                              <a:solidFill>
                                <a:schemeClr val="accent3"/>
                              </a:solidFill>
                              <a:latin typeface="Cambria Math" panose="02040503050406030204" pitchFamily="18" charset="0"/>
                            </a:rPr>
                            <m:t>𝜕</m:t>
                          </m:r>
                          <m:r>
                            <a:rPr lang="en-US" altLang="zh-TW" sz="2000" b="0" i="1" smtClean="0">
                              <a:solidFill>
                                <a:schemeClr val="accent3"/>
                              </a:solidFill>
                              <a:latin typeface="Cambria Math" panose="02040503050406030204" pitchFamily="18" charset="0"/>
                            </a:rPr>
                            <m:t>𝑅</m:t>
                          </m:r>
                        </m:den>
                      </m:f>
                      <m:f>
                        <m:fPr>
                          <m:ctrlPr>
                            <a:rPr lang="zh-TW" altLang="en-US" sz="2000" i="1">
                              <a:latin typeface="Cambria Math" panose="02040503050406030204" pitchFamily="18" charset="0"/>
                            </a:rPr>
                          </m:ctrlPr>
                        </m:fPr>
                        <m:num>
                          <m:r>
                            <a:rPr lang="zh-TW" altLang="en-US" sz="2000" i="1">
                              <a:latin typeface="Cambria Math" panose="02040503050406030204" pitchFamily="18" charset="0"/>
                            </a:rPr>
                            <m:t>𝜕</m:t>
                          </m:r>
                          <m:r>
                            <a:rPr lang="en-US" altLang="zh-TW" sz="2000" b="0" i="1" smtClean="0">
                              <a:latin typeface="Cambria Math" panose="02040503050406030204" pitchFamily="18" charset="0"/>
                            </a:rPr>
                            <m:t>𝑅</m:t>
                          </m:r>
                        </m:num>
                        <m:den>
                          <m:r>
                            <a:rPr lang="zh-TW" altLang="en-US" sz="2000" i="1">
                              <a:latin typeface="Cambria Math" panose="02040503050406030204" pitchFamily="18" charset="0"/>
                            </a:rPr>
                            <m:t>𝜕</m:t>
                          </m:r>
                          <m:r>
                            <a:rPr lang="en-US" altLang="zh-TW" sz="2000" b="0" i="1" smtClean="0">
                              <a:latin typeface="Cambria Math" panose="02040503050406030204" pitchFamily="18" charset="0"/>
                            </a:rPr>
                            <m:t>𝐼</m:t>
                          </m:r>
                        </m:den>
                      </m:f>
                      <m:f>
                        <m:fPr>
                          <m:ctrlPr>
                            <a:rPr lang="zh-TW" altLang="en-US" sz="2000" i="1">
                              <a:latin typeface="Cambria Math" panose="02040503050406030204" pitchFamily="18" charset="0"/>
                            </a:rPr>
                          </m:ctrlPr>
                        </m:fPr>
                        <m:num>
                          <m:r>
                            <a:rPr lang="zh-TW" altLang="en-US" sz="2000" i="1">
                              <a:latin typeface="Cambria Math" panose="02040503050406030204" pitchFamily="18" charset="0"/>
                            </a:rPr>
                            <m:t>𝜕</m:t>
                          </m:r>
                          <m:r>
                            <a:rPr lang="en-US" altLang="zh-TW" sz="2000" b="0" i="1" smtClean="0">
                              <a:latin typeface="Cambria Math" panose="02040503050406030204" pitchFamily="18" charset="0"/>
                            </a:rPr>
                            <m:t>𝐼</m:t>
                          </m:r>
                        </m:num>
                        <m:den>
                          <m:r>
                            <a:rPr lang="zh-TW" altLang="en-US" sz="2000" i="1">
                              <a:latin typeface="Cambria Math" panose="02040503050406030204" pitchFamily="18" charset="0"/>
                            </a:rPr>
                            <m:t>𝜕</m:t>
                          </m:r>
                          <m:r>
                            <a:rPr lang="en-US" altLang="zh-TW" sz="2000" b="0" i="1" smtClean="0">
                              <a:latin typeface="Cambria Math" panose="02040503050406030204" pitchFamily="18" charset="0"/>
                            </a:rPr>
                            <m:t>𝑢</m:t>
                          </m:r>
                        </m:den>
                      </m:f>
                    </m:oMath>
                  </m:oMathPara>
                </a14:m>
                <a:endParaRPr lang="zh-TW" altLang="en-US" sz="2000" dirty="0"/>
              </a:p>
            </p:txBody>
          </p:sp>
        </mc:Choice>
        <mc:Fallback xmlns="">
          <p:sp>
            <p:nvSpPr>
              <p:cNvPr id="14" name="TextBox 13">
                <a:extLst>
                  <a:ext uri="{FF2B5EF4-FFF2-40B4-BE49-F238E27FC236}">
                    <a16:creationId xmlns:a16="http://schemas.microsoft.com/office/drawing/2014/main" id="{567B7811-31DA-92C8-871F-ABF13B77BE13}"/>
                  </a:ext>
                </a:extLst>
              </p:cNvPr>
              <p:cNvSpPr txBox="1">
                <a:spLocks noRot="1" noChangeAspect="1" noMove="1" noResize="1" noEditPoints="1" noAdjustHandles="1" noChangeArrowheads="1" noChangeShapeType="1" noTextEdit="1"/>
              </p:cNvSpPr>
              <p:nvPr/>
            </p:nvSpPr>
            <p:spPr>
              <a:xfrm>
                <a:off x="9139281" y="729940"/>
                <a:ext cx="3243907" cy="677621"/>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D9F05987-854F-E148-98D9-9F63AABA43B6}"/>
                  </a:ext>
                </a:extLst>
              </p:cNvPr>
              <p:cNvGraphicFramePr>
                <a:graphicFrameLocks noGrp="1"/>
              </p:cNvGraphicFramePr>
              <p:nvPr>
                <p:extLst>
                  <p:ext uri="{D42A27DB-BD31-4B8C-83A1-F6EECF244321}">
                    <p14:modId xmlns:p14="http://schemas.microsoft.com/office/powerpoint/2010/main" val="2593100001"/>
                  </p:ext>
                </p:extLst>
              </p:nvPr>
            </p:nvGraphicFramePr>
            <p:xfrm>
              <a:off x="217284" y="3541919"/>
              <a:ext cx="11751398" cy="1907731"/>
            </p:xfrm>
            <a:graphic>
              <a:graphicData uri="http://schemas.openxmlformats.org/drawingml/2006/table">
                <a:tbl>
                  <a:tblPr firstRow="1" bandRow="1">
                    <a:tableStyleId>{073A0DAA-6AF3-43AB-8588-CEC1D06C72B9}</a:tableStyleId>
                  </a:tblPr>
                  <a:tblGrid>
                    <a:gridCol w="11751398">
                      <a:extLst>
                        <a:ext uri="{9D8B030D-6E8A-4147-A177-3AD203B41FA5}">
                          <a16:colId xmlns:a16="http://schemas.microsoft.com/office/drawing/2014/main" val="2553717004"/>
                        </a:ext>
                      </a:extLst>
                    </a:gridCol>
                  </a:tblGrid>
                  <a:tr h="360000">
                    <a:tc>
                      <a:txBody>
                        <a:bodyPr/>
                        <a:lstStyle/>
                        <a:p>
                          <a:pPr algn="ctr"/>
                          <a:r>
                            <a:rPr lang="en-US" altLang="zh-TW" dirty="0"/>
                            <a:t>Reaction-Progress-based Loss</a:t>
                          </a:r>
                          <a:endParaRPr lang="zh-TW" altLang="en-US" dirty="0"/>
                        </a:p>
                      </a:txBody>
                      <a:tcPr/>
                    </a:tc>
                    <a:extLst>
                      <a:ext uri="{0D108BD9-81ED-4DB2-BD59-A6C34878D82A}">
                        <a16:rowId xmlns:a16="http://schemas.microsoft.com/office/drawing/2014/main" val="2367109999"/>
                      </a:ext>
                    </a:extLst>
                  </a:tr>
                  <a:tr h="763013">
                    <a:tc>
                      <a:txBody>
                        <a:bodyPr/>
                        <a:lstStyle/>
                        <a:p>
                          <a:pPr marL="0" indent="0">
                            <a:buNone/>
                          </a:pPr>
                          <a14:m>
                            <m:oMathPara xmlns:m="http://schemas.openxmlformats.org/officeDocument/2006/math">
                              <m:oMath>
                                <m:r>
                                  <a:rPr lang="en-US" altLang="zh-TW" b="0" smtClean="0">
                                    <a:latin typeface="Cambria Math" panose="02040503050406030204" pitchFamily="18" charset="0"/>
                                  </a:rPr>
                                  <m:t>𝐽</m:t>
                                </m:r>
                                <m:r>
                                  <a:rPr lang="en-US" altLang="zh-TW" b="0" smtClean="0">
                                    <a:latin typeface="Cambria Math" panose="02040503050406030204" pitchFamily="18" charset="0"/>
                                  </a:rPr>
                                  <m:t>=</m:t>
                                </m:r>
                                <m:r>
                                  <a:rPr lang="en-US" altLang="zh-TW">
                                    <a:latin typeface="Cambria Math" panose="02040503050406030204" pitchFamily="18" charset="0"/>
                                  </a:rPr>
                                  <m:t>𝑚𝑒𝑎</m:t>
                                </m:r>
                                <m:sSub>
                                  <m:sSubPr>
                                    <m:ctrlPr>
                                      <a:rPr lang="en-US" altLang="zh-TW">
                                        <a:latin typeface="Cambria Math" panose="02040503050406030204" pitchFamily="18" charset="0"/>
                                      </a:rPr>
                                    </m:ctrlPr>
                                  </m:sSubPr>
                                  <m:e>
                                    <m:r>
                                      <a:rPr lang="en-US" altLang="zh-TW">
                                        <a:latin typeface="Cambria Math" panose="02040503050406030204" pitchFamily="18" charset="0"/>
                                      </a:rPr>
                                      <m:t>𝑛</m:t>
                                    </m:r>
                                  </m:e>
                                  <m:sub>
                                    <m:r>
                                      <a:rPr lang="en-US" altLang="zh-TW">
                                        <a:latin typeface="Cambria Math" panose="02040503050406030204" pitchFamily="18" charset="0"/>
                                      </a:rPr>
                                      <m:t>𝑝</m:t>
                                    </m:r>
                                    <m:r>
                                      <a:rPr lang="en-US" altLang="zh-TW">
                                        <a:latin typeface="Cambria Math" panose="02040503050406030204" pitchFamily="18" charset="0"/>
                                      </a:rPr>
                                      <m:t>∈</m:t>
                                    </m:r>
                                    <m:sSub>
                                      <m:sSubPr>
                                        <m:ctrlPr>
                                          <a:rPr lang="en-US" altLang="zh-TW">
                                            <a:latin typeface="Cambria Math" panose="02040503050406030204" pitchFamily="18" charset="0"/>
                                          </a:rPr>
                                        </m:ctrlPr>
                                      </m:sSubPr>
                                      <m:e>
                                        <m:r>
                                          <m:rPr>
                                            <m:sty m:val="p"/>
                                          </m:rPr>
                                          <a:rPr lang="en-US" altLang="zh-TW">
                                            <a:latin typeface="Cambria Math" panose="02040503050406030204" pitchFamily="18" charset="0"/>
                                          </a:rPr>
                                          <m:t>Ω</m:t>
                                        </m:r>
                                      </m:e>
                                      <m:sub>
                                        <m:r>
                                          <a:rPr lang="en-US" altLang="zh-TW" b="0" i="1" smtClean="0">
                                            <a:latin typeface="Cambria Math" panose="02040503050406030204" pitchFamily="18" charset="0"/>
                                          </a:rPr>
                                          <m:t>𝑇</m:t>
                                        </m:r>
                                      </m:sub>
                                    </m:sSub>
                                  </m:sub>
                                </m:sSub>
                                <m:sSup>
                                  <m:sSupPr>
                                    <m:ctrlPr>
                                      <a:rPr lang="en-US" altLang="zh-TW" b="0" i="1" smtClean="0">
                                        <a:latin typeface="Cambria Math" panose="02040503050406030204" pitchFamily="18" charset="0"/>
                                      </a:rPr>
                                    </m:ctrlPr>
                                  </m:sSupPr>
                                  <m:e>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𝑅</m:t>
                                            </m:r>
                                          </m:e>
                                          <m:sub>
                                            <m:r>
                                              <a:rPr lang="en-US" altLang="zh-TW" i="1">
                                                <a:latin typeface="Cambria Math" panose="02040503050406030204" pitchFamily="18" charset="0"/>
                                              </a:rPr>
                                              <m:t>𝑝</m:t>
                                            </m:r>
                                          </m:sub>
                                        </m:sSub>
                                        <m:r>
                                          <a:rPr lang="en-US" altLang="zh-TW" i="1">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𝑅</m:t>
                                            </m:r>
                                          </m:e>
                                          <m:sub>
                                            <m:r>
                                              <a:rPr lang="en-US" altLang="zh-TW" i="1">
                                                <a:latin typeface="Cambria Math" panose="02040503050406030204" pitchFamily="18" charset="0"/>
                                              </a:rPr>
                                              <m:t>𝑝</m:t>
                                            </m:r>
                                          </m:sub>
                                          <m:sup>
                                            <m:r>
                                              <a:rPr lang="en-US" altLang="zh-TW" i="1">
                                                <a:latin typeface="Cambria Math" panose="02040503050406030204" pitchFamily="18" charset="0"/>
                                              </a:rPr>
                                              <m:t>∗</m:t>
                                            </m:r>
                                          </m:sup>
                                        </m:sSubSup>
                                      </m:e>
                                    </m:d>
                                  </m:e>
                                  <m:sup>
                                    <m:r>
                                      <a:rPr lang="en-US" altLang="zh-TW">
                                        <a:latin typeface="Cambria Math" panose="02040503050406030204" pitchFamily="18" charset="0"/>
                                      </a:rPr>
                                      <m:t>2</m:t>
                                    </m:r>
                                  </m:sup>
                                </m:sSup>
                                <m:r>
                                  <a:rPr lang="en-US" altLang="zh-TW" b="0" smtClean="0">
                                    <a:latin typeface="Cambria Math" panose="02040503050406030204" pitchFamily="18" charset="0"/>
                                  </a:rPr>
                                  <m:t>+</m:t>
                                </m:r>
                                <m:r>
                                  <a:rPr lang="en-US" altLang="zh-TW">
                                    <a:latin typeface="Cambria Math" panose="02040503050406030204" pitchFamily="18" charset="0"/>
                                  </a:rPr>
                                  <m:t>𝑚𝑒𝑎</m:t>
                                </m:r>
                                <m:sSub>
                                  <m:sSubPr>
                                    <m:ctrlPr>
                                      <a:rPr lang="en-US" altLang="zh-TW">
                                        <a:latin typeface="Cambria Math" panose="02040503050406030204" pitchFamily="18" charset="0"/>
                                      </a:rPr>
                                    </m:ctrlPr>
                                  </m:sSubPr>
                                  <m:e>
                                    <m:r>
                                      <a:rPr lang="en-US" altLang="zh-TW">
                                        <a:latin typeface="Cambria Math" panose="02040503050406030204" pitchFamily="18" charset="0"/>
                                      </a:rPr>
                                      <m:t>𝑛</m:t>
                                    </m:r>
                                  </m:e>
                                  <m:sub>
                                    <m:r>
                                      <a:rPr lang="en-US" altLang="zh-TW">
                                        <a:latin typeface="Cambria Math" panose="02040503050406030204" pitchFamily="18" charset="0"/>
                                      </a:rPr>
                                      <m:t>𝑝</m:t>
                                    </m:r>
                                    <m:r>
                                      <a:rPr lang="en-US" altLang="zh-TW">
                                        <a:latin typeface="Cambria Math" panose="02040503050406030204" pitchFamily="18" charset="0"/>
                                      </a:rPr>
                                      <m:t>∈</m:t>
                                    </m:r>
                                    <m:sSub>
                                      <m:sSubPr>
                                        <m:ctrlPr>
                                          <a:rPr lang="en-US" altLang="zh-TW">
                                            <a:latin typeface="Cambria Math" panose="02040503050406030204" pitchFamily="18" charset="0"/>
                                          </a:rPr>
                                        </m:ctrlPr>
                                      </m:sSubPr>
                                      <m:e>
                                        <m:r>
                                          <m:rPr>
                                            <m:sty m:val="p"/>
                                          </m:rPr>
                                          <a:rPr lang="en-US" altLang="zh-TW">
                                            <a:latin typeface="Cambria Math" panose="02040503050406030204" pitchFamily="18" charset="0"/>
                                          </a:rPr>
                                          <m:t>Ω</m:t>
                                        </m:r>
                                      </m:e>
                                      <m:sub>
                                        <m:r>
                                          <a:rPr lang="en-US" altLang="zh-TW" b="0" i="1" smtClean="0">
                                            <a:latin typeface="Cambria Math" panose="02040503050406030204" pitchFamily="18" charset="0"/>
                                          </a:rPr>
                                          <m:t>𝑂𝑢𝑡</m:t>
                                        </m:r>
                                      </m:sub>
                                    </m:sSub>
                                  </m:sub>
                                </m:sSub>
                                <m:sSup>
                                  <m:sSupPr>
                                    <m:ctrlPr>
                                      <a:rPr lang="en-US" altLang="zh-TW" b="0" i="1" smtClean="0">
                                        <a:latin typeface="Cambria Math" panose="02040503050406030204" pitchFamily="18" charset="0"/>
                                      </a:rPr>
                                    </m:ctrlPr>
                                  </m:sSupPr>
                                  <m:e>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𝑅</m:t>
                                            </m:r>
                                          </m:e>
                                          <m:sub>
                                            <m:r>
                                              <a:rPr lang="en-US" altLang="zh-TW" i="1">
                                                <a:latin typeface="Cambria Math" panose="02040503050406030204" pitchFamily="18" charset="0"/>
                                              </a:rPr>
                                              <m:t>𝑝</m:t>
                                            </m:r>
                                          </m:sub>
                                        </m:sSub>
                                      </m:e>
                                    </m:d>
                                  </m:e>
                                  <m:sup>
                                    <m:r>
                                      <a:rPr lang="en-US" altLang="zh-TW">
                                        <a:latin typeface="Cambria Math" panose="02040503050406030204" pitchFamily="18" charset="0"/>
                                      </a:rPr>
                                      <m:t>2</m:t>
                                    </m:r>
                                  </m:sup>
                                </m:sSup>
                              </m:oMath>
                            </m:oMathPara>
                          </a14:m>
                          <a:endParaRPr lang="en-US" altLang="zh-TW" dirty="0"/>
                        </a:p>
                        <a:p>
                          <a:r>
                            <a:rPr lang="en-US" altLang="zh-TW" b="1" dirty="0"/>
                            <a:t>For one pixel</a:t>
                          </a:r>
                          <a:r>
                            <a:rPr lang="en-US" altLang="zh-TW" dirty="0"/>
                            <a:t>,</a:t>
                          </a:r>
                        </a:p>
                        <a:p>
                          <a:pPr/>
                          <a14:m>
                            <m:oMathPara xmlns:m="http://schemas.openxmlformats.org/officeDocument/2006/math">
                              <m:oMath>
                                <m:f>
                                  <m:fPr>
                                    <m:ctrlPr>
                                      <a:rPr lang="zh-TW" altLang="en-US" smtClean="0">
                                        <a:latin typeface="Cambria Math" panose="02040503050406030204" pitchFamily="18" charset="0"/>
                                      </a:rPr>
                                    </m:ctrlPr>
                                  </m:fPr>
                                  <m:num>
                                    <m:r>
                                      <a:rPr lang="zh-TW" altLang="en-US" smtClean="0">
                                        <a:latin typeface="Cambria Math" panose="02040503050406030204" pitchFamily="18" charset="0"/>
                                      </a:rPr>
                                      <m:t>𝜕</m:t>
                                    </m:r>
                                    <m:r>
                                      <a:rPr lang="en-US" altLang="zh-TW" b="0" smtClean="0">
                                        <a:latin typeface="Cambria Math" panose="02040503050406030204" pitchFamily="18" charset="0"/>
                                      </a:rPr>
                                      <m:t>𝐽</m:t>
                                    </m:r>
                                  </m:num>
                                  <m:den>
                                    <m:r>
                                      <a:rPr lang="zh-TW" altLang="en-US" smtClean="0">
                                        <a:latin typeface="Cambria Math" panose="02040503050406030204" pitchFamily="18" charset="0"/>
                                      </a:rPr>
                                      <m:t>𝜕</m:t>
                                    </m:r>
                                    <m:r>
                                      <a:rPr lang="en-US" altLang="zh-TW" b="0" smtClean="0">
                                        <a:latin typeface="Cambria Math" panose="02040503050406030204" pitchFamily="18" charset="0"/>
                                      </a:rPr>
                                      <m:t>𝑢</m:t>
                                    </m:r>
                                  </m:den>
                                </m:f>
                                <m:r>
                                  <a:rPr lang="en-US" altLang="zh-TW" b="0" smtClean="0">
                                    <a:latin typeface="Cambria Math" panose="02040503050406030204" pitchFamily="18" charset="0"/>
                                  </a:rPr>
                                  <m:t>=</m:t>
                                </m:r>
                                <m:r>
                                  <a:rPr lang="en-US" altLang="zh-TW" b="0" i="1" smtClean="0">
                                    <a:solidFill>
                                      <a:schemeClr val="accent2"/>
                                    </a:solidFill>
                                    <a:latin typeface="Cambria Math" panose="02040503050406030204" pitchFamily="18" charset="0"/>
                                  </a:rPr>
                                  <m:t>2(</m:t>
                                </m:r>
                                <m:sSub>
                                  <m:sSubPr>
                                    <m:ctrlPr>
                                      <a:rPr lang="en-US" altLang="zh-TW" b="0" i="1" smtClean="0">
                                        <a:solidFill>
                                          <a:schemeClr val="accent2"/>
                                        </a:solidFill>
                                        <a:latin typeface="Cambria Math" panose="02040503050406030204" pitchFamily="18" charset="0"/>
                                      </a:rPr>
                                    </m:ctrlPr>
                                  </m:sSubPr>
                                  <m:e>
                                    <m:r>
                                      <a:rPr lang="en-US" altLang="zh-TW" b="0" i="1" smtClean="0">
                                        <a:solidFill>
                                          <a:schemeClr val="accent2"/>
                                        </a:solidFill>
                                        <a:latin typeface="Cambria Math" panose="02040503050406030204" pitchFamily="18" charset="0"/>
                                      </a:rPr>
                                      <m:t>𝑅</m:t>
                                    </m:r>
                                  </m:e>
                                  <m:sub>
                                    <m:r>
                                      <a:rPr lang="en-US" altLang="zh-TW" i="1">
                                        <a:solidFill>
                                          <a:schemeClr val="accent2"/>
                                        </a:solidFill>
                                        <a:latin typeface="Cambria Math" panose="02040503050406030204" pitchFamily="18" charset="0"/>
                                      </a:rPr>
                                      <m:t>𝑝</m:t>
                                    </m:r>
                                  </m:sub>
                                </m:sSub>
                                <m:r>
                                  <a:rPr lang="en-US" altLang="zh-TW" i="1">
                                    <a:solidFill>
                                      <a:schemeClr val="accent2"/>
                                    </a:solidFill>
                                    <a:latin typeface="Cambria Math" panose="02040503050406030204" pitchFamily="18" charset="0"/>
                                  </a:rPr>
                                  <m:t>−</m:t>
                                </m:r>
                                <m:sSubSup>
                                  <m:sSubSupPr>
                                    <m:ctrlPr>
                                      <a:rPr lang="en-US" altLang="zh-TW" b="0" i="1" smtClean="0">
                                        <a:solidFill>
                                          <a:schemeClr val="accent2"/>
                                        </a:solidFill>
                                        <a:latin typeface="Cambria Math" panose="02040503050406030204" pitchFamily="18" charset="0"/>
                                      </a:rPr>
                                    </m:ctrlPr>
                                  </m:sSubSupPr>
                                  <m:e>
                                    <m:r>
                                      <a:rPr lang="en-US" altLang="zh-TW" b="0" i="1" smtClean="0">
                                        <a:solidFill>
                                          <a:schemeClr val="accent2"/>
                                        </a:solidFill>
                                        <a:latin typeface="Cambria Math" panose="02040503050406030204" pitchFamily="18" charset="0"/>
                                      </a:rPr>
                                      <m:t>𝑅</m:t>
                                    </m:r>
                                  </m:e>
                                  <m:sub>
                                    <m:r>
                                      <a:rPr lang="en-US" altLang="zh-TW" i="1">
                                        <a:solidFill>
                                          <a:schemeClr val="accent2"/>
                                        </a:solidFill>
                                        <a:latin typeface="Cambria Math" panose="02040503050406030204" pitchFamily="18" charset="0"/>
                                      </a:rPr>
                                      <m:t>𝑝</m:t>
                                    </m:r>
                                  </m:sub>
                                  <m:sup>
                                    <m:r>
                                      <a:rPr lang="en-US" altLang="zh-TW" i="1">
                                        <a:solidFill>
                                          <a:schemeClr val="accent2"/>
                                        </a:solidFill>
                                        <a:latin typeface="Cambria Math" panose="02040503050406030204" pitchFamily="18" charset="0"/>
                                      </a:rPr>
                                      <m:t>∗</m:t>
                                    </m:r>
                                  </m:sup>
                                </m:sSubSup>
                                <m:r>
                                  <a:rPr lang="en-US" altLang="zh-TW" b="0" i="1" smtClean="0">
                                    <a:solidFill>
                                      <a:schemeClr val="accent2"/>
                                    </a:solidFill>
                                    <a:latin typeface="Cambria Math" panose="02040503050406030204" pitchFamily="18" charset="0"/>
                                  </a:rPr>
                                  <m:t>)</m:t>
                                </m:r>
                                <m:f>
                                  <m:fPr>
                                    <m:ctrlPr>
                                      <a:rPr lang="zh-TW" altLang="en-US" b="0" smtClean="0">
                                        <a:latin typeface="Cambria Math" panose="02040503050406030204" pitchFamily="18" charset="0"/>
                                      </a:rPr>
                                    </m:ctrlPr>
                                  </m:fPr>
                                  <m:num>
                                    <m:r>
                                      <a:rPr lang="zh-TW" altLang="en-US" b="0" smtClean="0">
                                        <a:latin typeface="Cambria Math" panose="02040503050406030204" pitchFamily="18" charset="0"/>
                                      </a:rPr>
                                      <m:t>𝜕</m:t>
                                    </m:r>
                                    <m:sSub>
                                      <m:sSubPr>
                                        <m:ctrlPr>
                                          <a:rPr lang="en-US" altLang="zh-TW" b="0" smtClean="0">
                                            <a:latin typeface="Cambria Math" panose="02040503050406030204" pitchFamily="18" charset="0"/>
                                          </a:rPr>
                                        </m:ctrlPr>
                                      </m:sSubPr>
                                      <m:e>
                                        <m:r>
                                          <a:rPr lang="en-US" altLang="zh-TW" b="0" smtClean="0">
                                            <a:latin typeface="Cambria Math" panose="02040503050406030204" pitchFamily="18" charset="0"/>
                                          </a:rPr>
                                          <m:t>𝑅</m:t>
                                        </m:r>
                                      </m:e>
                                      <m:sub>
                                        <m:r>
                                          <a:rPr lang="en-US" altLang="zh-TW" b="0" smtClean="0">
                                            <a:latin typeface="Cambria Math" panose="02040503050406030204" pitchFamily="18" charset="0"/>
                                          </a:rPr>
                                          <m:t>𝑝</m:t>
                                        </m:r>
                                      </m:sub>
                                    </m:sSub>
                                  </m:num>
                                  <m:den>
                                    <m:r>
                                      <a:rPr lang="zh-TW" altLang="en-US" b="0" smtClean="0">
                                        <a:latin typeface="Cambria Math" panose="02040503050406030204" pitchFamily="18" charset="0"/>
                                      </a:rPr>
                                      <m:t>𝜕</m:t>
                                    </m:r>
                                    <m:r>
                                      <a:rPr lang="en-US" altLang="zh-TW" b="0" smtClean="0">
                                        <a:latin typeface="Cambria Math" panose="02040503050406030204" pitchFamily="18" charset="0"/>
                                      </a:rPr>
                                      <m:t>𝑢</m:t>
                                    </m:r>
                                  </m:den>
                                </m:f>
                              </m:oMath>
                            </m:oMathPara>
                          </a14:m>
                          <a:endParaRPr lang="en-US" altLang="zh-TW" dirty="0"/>
                        </a:p>
                        <a:p>
                          <a:pPr marL="285750" indent="-285750">
                            <a:buFont typeface="Arial" panose="020B0604020202020204" pitchFamily="34" charset="0"/>
                            <a:buChar char="•"/>
                          </a:pPr>
                          <a:r>
                            <a:rPr lang="en-US" altLang="zh-TW" dirty="0"/>
                            <a:t>Stronger correction signal is preserved near high conversion</a:t>
                          </a:r>
                          <a:endParaRPr lang="zh-TW" altLang="en-US" dirty="0"/>
                        </a:p>
                      </a:txBody>
                      <a:tcPr/>
                    </a:tc>
                    <a:extLst>
                      <a:ext uri="{0D108BD9-81ED-4DB2-BD59-A6C34878D82A}">
                        <a16:rowId xmlns:a16="http://schemas.microsoft.com/office/drawing/2014/main" val="782495225"/>
                      </a:ext>
                    </a:extLst>
                  </a:tr>
                </a:tbl>
              </a:graphicData>
            </a:graphic>
          </p:graphicFrame>
        </mc:Choice>
        <mc:Fallback xmlns="">
          <p:graphicFrame>
            <p:nvGraphicFramePr>
              <p:cNvPr id="18" name="Table 17">
                <a:extLst>
                  <a:ext uri="{FF2B5EF4-FFF2-40B4-BE49-F238E27FC236}">
                    <a16:creationId xmlns:a16="http://schemas.microsoft.com/office/drawing/2014/main" id="{D9F05987-854F-E148-98D9-9F63AABA43B6}"/>
                  </a:ext>
                </a:extLst>
              </p:cNvPr>
              <p:cNvGraphicFramePr>
                <a:graphicFrameLocks noGrp="1"/>
              </p:cNvGraphicFramePr>
              <p:nvPr>
                <p:extLst>
                  <p:ext uri="{D42A27DB-BD31-4B8C-83A1-F6EECF244321}">
                    <p14:modId xmlns:p14="http://schemas.microsoft.com/office/powerpoint/2010/main" val="2593100001"/>
                  </p:ext>
                </p:extLst>
              </p:nvPr>
            </p:nvGraphicFramePr>
            <p:xfrm>
              <a:off x="217284" y="3541919"/>
              <a:ext cx="11751398" cy="1907731"/>
            </p:xfrm>
            <a:graphic>
              <a:graphicData uri="http://schemas.openxmlformats.org/drawingml/2006/table">
                <a:tbl>
                  <a:tblPr firstRow="1" bandRow="1">
                    <a:tableStyleId>{073A0DAA-6AF3-43AB-8588-CEC1D06C72B9}</a:tableStyleId>
                  </a:tblPr>
                  <a:tblGrid>
                    <a:gridCol w="11751398">
                      <a:extLst>
                        <a:ext uri="{9D8B030D-6E8A-4147-A177-3AD203B41FA5}">
                          <a16:colId xmlns:a16="http://schemas.microsoft.com/office/drawing/2014/main" val="2553717004"/>
                        </a:ext>
                      </a:extLst>
                    </a:gridCol>
                  </a:tblGrid>
                  <a:tr h="365760">
                    <a:tc>
                      <a:txBody>
                        <a:bodyPr/>
                        <a:lstStyle/>
                        <a:p>
                          <a:pPr algn="ctr"/>
                          <a:r>
                            <a:rPr lang="en-US" altLang="zh-TW" dirty="0"/>
                            <a:t>Reaction-Progress-based Loss</a:t>
                          </a:r>
                          <a:endParaRPr lang="zh-TW" altLang="en-US" dirty="0"/>
                        </a:p>
                      </a:txBody>
                      <a:tcPr/>
                    </a:tc>
                    <a:extLst>
                      <a:ext uri="{0D108BD9-81ED-4DB2-BD59-A6C34878D82A}">
                        <a16:rowId xmlns:a16="http://schemas.microsoft.com/office/drawing/2014/main" val="2367109999"/>
                      </a:ext>
                    </a:extLst>
                  </a:tr>
                  <a:tr h="1541971">
                    <a:tc>
                      <a:txBody>
                        <a:bodyPr/>
                        <a:lstStyle/>
                        <a:p>
                          <a:endParaRPr lang="zh-TW"/>
                        </a:p>
                      </a:txBody>
                      <a:tcPr>
                        <a:blipFill>
                          <a:blip r:embed="rId7"/>
                          <a:stretch>
                            <a:fillRect l="-52" t="-25692" r="-207" b="-6324"/>
                          </a:stretch>
                        </a:blipFill>
                      </a:tcPr>
                    </a:tc>
                    <a:extLst>
                      <a:ext uri="{0D108BD9-81ED-4DB2-BD59-A6C34878D82A}">
                        <a16:rowId xmlns:a16="http://schemas.microsoft.com/office/drawing/2014/main" val="782495225"/>
                      </a:ext>
                    </a:extLst>
                  </a:tr>
                </a:tbl>
              </a:graphicData>
            </a:graphic>
          </p:graphicFrame>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6E24D1D-314A-0523-0CC1-4DF5D919A129}"/>
                  </a:ext>
                </a:extLst>
              </p:cNvPr>
              <p:cNvSpPr txBox="1"/>
              <p:nvPr/>
            </p:nvSpPr>
            <p:spPr>
              <a:xfrm>
                <a:off x="217283" y="5549616"/>
                <a:ext cx="11974717" cy="923330"/>
              </a:xfrm>
              <a:prstGeom prst="rect">
                <a:avLst/>
              </a:prstGeom>
              <a:noFill/>
            </p:spPr>
            <p:txBody>
              <a:bodyPr wrap="square" rtlCol="0">
                <a:spAutoFit/>
              </a:bodyPr>
              <a:lstStyle/>
              <a:p>
                <a:r>
                  <a:rPr lang="en-US" altLang="zh-TW" b="1" dirty="0"/>
                  <a:t>Interpretation: </a:t>
                </a:r>
              </a:p>
              <a:p>
                <a:r>
                  <a:rPr lang="en-US" altLang="zh-TW" dirty="0"/>
                  <a:t>For highly cured pixel, optimizing </a:t>
                </a:r>
                <a14:m>
                  <m:oMath xmlns:m="http://schemas.openxmlformats.org/officeDocument/2006/math">
                    <m:r>
                      <a:rPr lang="en-US" altLang="zh-TW" i="1">
                        <a:latin typeface="Cambria Math" panose="02040503050406030204" pitchFamily="18" charset="0"/>
                      </a:rPr>
                      <m:t>𝑅</m:t>
                    </m:r>
                  </m:oMath>
                </a14:m>
                <a:r>
                  <a:rPr lang="en-US" altLang="zh-TW" dirty="0"/>
                  <a:t> provides a much stronger gradient than optimizing </a:t>
                </a:r>
                <a14:m>
                  <m:oMath xmlns:m="http://schemas.openxmlformats.org/officeDocument/2006/math">
                    <m:r>
                      <a:rPr lang="en-US" altLang="zh-TW" b="0" i="1" smtClean="0">
                        <a:latin typeface="Cambria Math" panose="02040503050406030204" pitchFamily="18" charset="0"/>
                      </a:rPr>
                      <m:t>𝐷</m:t>
                    </m:r>
                  </m:oMath>
                </a14:m>
                <a:r>
                  <a:rPr lang="en-US" altLang="zh-TW" dirty="0"/>
                  <a:t>, which would prevent overcured situation more. </a:t>
                </a:r>
                <a:endParaRPr lang="zh-TW" altLang="en-US" dirty="0"/>
              </a:p>
            </p:txBody>
          </p:sp>
        </mc:Choice>
        <mc:Fallback xmlns="">
          <p:sp>
            <p:nvSpPr>
              <p:cNvPr id="21" name="TextBox 20">
                <a:extLst>
                  <a:ext uri="{FF2B5EF4-FFF2-40B4-BE49-F238E27FC236}">
                    <a16:creationId xmlns:a16="http://schemas.microsoft.com/office/drawing/2014/main" id="{E6E24D1D-314A-0523-0CC1-4DF5D919A129}"/>
                  </a:ext>
                </a:extLst>
              </p:cNvPr>
              <p:cNvSpPr txBox="1">
                <a:spLocks noRot="1" noChangeAspect="1" noMove="1" noResize="1" noEditPoints="1" noAdjustHandles="1" noChangeArrowheads="1" noChangeShapeType="1" noTextEdit="1"/>
              </p:cNvSpPr>
              <p:nvPr/>
            </p:nvSpPr>
            <p:spPr>
              <a:xfrm>
                <a:off x="217283" y="5549616"/>
                <a:ext cx="11974717" cy="923330"/>
              </a:xfrm>
              <a:prstGeom prst="rect">
                <a:avLst/>
              </a:prstGeom>
              <a:blipFill>
                <a:blip r:embed="rId8"/>
                <a:stretch>
                  <a:fillRect l="-458" t="-3289" b="-92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E49406F-1CD0-D547-16F5-53F086D6951F}"/>
                  </a:ext>
                </a:extLst>
              </p:cNvPr>
              <p:cNvSpPr txBox="1"/>
              <p:nvPr/>
            </p:nvSpPr>
            <p:spPr>
              <a:xfrm>
                <a:off x="351028" y="1514143"/>
                <a:ext cx="3842975" cy="276999"/>
              </a:xfrm>
              <a:prstGeom prst="rect">
                <a:avLst/>
              </a:prstGeom>
              <a:noFill/>
            </p:spPr>
            <p:txBody>
              <a:bodyPr wrap="none" lIns="0" tIns="0" rIns="0" bIns="0" rtlCol="0">
                <a:spAutoFit/>
              </a:bodyPr>
              <a:lstStyle/>
              <a:p>
                <a:pPr/>
                <a14:m>
                  <m:oMathPara xmlns:m="http://schemas.openxmlformats.org/officeDocument/2006/math">
                    <m:oMath>
                      <m:r>
                        <m:rPr>
                          <m:sty m:val="p"/>
                        </m:rPr>
                        <a:rPr lang="en-US" altLang="zh-TW" i="0" smtClean="0">
                          <a:latin typeface="Cambria Math" panose="02040503050406030204" pitchFamily="18" charset="0"/>
                        </a:rPr>
                        <m:t>Ω</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en-US" altLang="zh-TW" b="0" i="1" smtClean="0">
                                  <a:latin typeface="Cambria Math" panose="02040503050406030204" pitchFamily="18" charset="0"/>
                                </a:rPr>
                                <m:t>𝑦</m:t>
                              </m:r>
                            </m:e>
                          </m:d>
                          <m:r>
                            <a:rPr lang="en-US" altLang="zh-TW" b="0" i="1" smtClean="0">
                              <a:latin typeface="Cambria Math" panose="02040503050406030204" pitchFamily="18" charset="0"/>
                            </a:rPr>
                            <m:t> </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𝑥</m:t>
                      </m:r>
                      <m:r>
                        <a:rPr lang="en-US" altLang="zh-TW" b="0" i="1" smtClean="0">
                          <a:latin typeface="Cambria Math" panose="02040503050406030204" pitchFamily="18" charset="0"/>
                        </a:rPr>
                        <m:t>=1, …,</m:t>
                      </m:r>
                      <m:r>
                        <a:rPr lang="en-US" altLang="zh-TW" b="0" i="1" smtClean="0">
                          <a:latin typeface="Cambria Math" panose="02040503050406030204" pitchFamily="18" charset="0"/>
                        </a:rPr>
                        <m:t>𝑊</m:t>
                      </m:r>
                      <m:r>
                        <a:rPr lang="en-US" altLang="zh-TW" b="0" i="1" smtClean="0">
                          <a:latin typeface="Cambria Math" panose="02040503050406030204" pitchFamily="18" charset="0"/>
                        </a:rPr>
                        <m:t>, </m:t>
                      </m:r>
                      <m:r>
                        <a:rPr lang="en-US" altLang="zh-TW" b="0" i="1" smtClean="0">
                          <a:latin typeface="Cambria Math" panose="02040503050406030204" pitchFamily="18" charset="0"/>
                        </a:rPr>
                        <m:t>𝑦</m:t>
                      </m:r>
                      <m:r>
                        <a:rPr lang="en-US" altLang="zh-TW" b="0" i="1" smtClean="0">
                          <a:latin typeface="Cambria Math" panose="02040503050406030204" pitchFamily="18" charset="0"/>
                        </a:rPr>
                        <m:t>=1,…,</m:t>
                      </m:r>
                      <m:r>
                        <a:rPr lang="en-US" altLang="zh-TW" b="0" i="1" smtClean="0">
                          <a:latin typeface="Cambria Math" panose="02040503050406030204" pitchFamily="18" charset="0"/>
                        </a:rPr>
                        <m:t>𝐻</m:t>
                      </m:r>
                      <m:r>
                        <a:rPr lang="en-US" altLang="zh-TW" b="0" i="1" smtClean="0">
                          <a:latin typeface="Cambria Math" panose="02040503050406030204" pitchFamily="18" charset="0"/>
                        </a:rPr>
                        <m:t>} </m:t>
                      </m:r>
                    </m:oMath>
                  </m:oMathPara>
                </a14:m>
                <a:endParaRPr lang="zh-TW" altLang="en-US" dirty="0"/>
              </a:p>
            </p:txBody>
          </p:sp>
        </mc:Choice>
        <mc:Fallback xmlns="">
          <p:sp>
            <p:nvSpPr>
              <p:cNvPr id="3" name="TextBox 2">
                <a:extLst>
                  <a:ext uri="{FF2B5EF4-FFF2-40B4-BE49-F238E27FC236}">
                    <a16:creationId xmlns:a16="http://schemas.microsoft.com/office/drawing/2014/main" id="{FE49406F-1CD0-D547-16F5-53F086D6951F}"/>
                  </a:ext>
                </a:extLst>
              </p:cNvPr>
              <p:cNvSpPr txBox="1">
                <a:spLocks noRot="1" noChangeAspect="1" noMove="1" noResize="1" noEditPoints="1" noAdjustHandles="1" noChangeArrowheads="1" noChangeShapeType="1" noTextEdit="1"/>
              </p:cNvSpPr>
              <p:nvPr/>
            </p:nvSpPr>
            <p:spPr>
              <a:xfrm>
                <a:off x="351028" y="1514143"/>
                <a:ext cx="3842975" cy="276999"/>
              </a:xfrm>
              <a:prstGeom prst="rect">
                <a:avLst/>
              </a:prstGeom>
              <a:blipFill>
                <a:blip r:embed="rId9"/>
                <a:stretch>
                  <a:fillRect l="-1111" t="-2174" r="-476" b="-3695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219113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225FF-16B3-8028-1329-BCB3940D47A1}"/>
              </a:ext>
            </a:extLst>
          </p:cNvPr>
          <p:cNvSpPr>
            <a:spLocks noGrp="1"/>
          </p:cNvSpPr>
          <p:nvPr>
            <p:ph type="title"/>
          </p:nvPr>
        </p:nvSpPr>
        <p:spPr/>
        <p:txBody>
          <a:bodyPr/>
          <a:lstStyle/>
          <a:p>
            <a:r>
              <a:rPr lang="en-US" altLang="zh-TW" dirty="0"/>
              <a:t>Snowflake Hollow</a:t>
            </a:r>
            <a:endParaRPr lang="zh-TW" altLang="en-US" dirty="0"/>
          </a:p>
        </p:txBody>
      </p:sp>
      <p:sp>
        <p:nvSpPr>
          <p:cNvPr id="4" name="Slide Number Placeholder 3">
            <a:extLst>
              <a:ext uri="{FF2B5EF4-FFF2-40B4-BE49-F238E27FC236}">
                <a16:creationId xmlns:a16="http://schemas.microsoft.com/office/drawing/2014/main" id="{360F7ED6-4428-79B0-032A-BAC0CFF2DE12}"/>
              </a:ext>
            </a:extLst>
          </p:cNvPr>
          <p:cNvSpPr>
            <a:spLocks noGrp="1"/>
          </p:cNvSpPr>
          <p:nvPr>
            <p:ph type="sldNum" sz="quarter" idx="12"/>
          </p:nvPr>
        </p:nvSpPr>
        <p:spPr/>
        <p:txBody>
          <a:bodyPr/>
          <a:lstStyle/>
          <a:p>
            <a:fld id="{5A741E56-E3D9-46FF-B47D-3FCBEAE97EB2}" type="slidenum">
              <a:rPr lang="en-US" smtClean="0"/>
              <a:pPr/>
              <a:t>31</a:t>
            </a:fld>
            <a:endParaRPr lang="en-US" dirty="0"/>
          </a:p>
        </p:txBody>
      </p:sp>
      <p:sp>
        <p:nvSpPr>
          <p:cNvPr id="5" name="Footer Placeholder 4">
            <a:extLst>
              <a:ext uri="{FF2B5EF4-FFF2-40B4-BE49-F238E27FC236}">
                <a16:creationId xmlns:a16="http://schemas.microsoft.com/office/drawing/2014/main" id="{97D4DDDD-0F11-6453-8293-E5B45DBAF84B}"/>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837B2C78-F731-42AF-6042-CC3646A67AB4}"/>
              </a:ext>
            </a:extLst>
          </p:cNvPr>
          <p:cNvSpPr>
            <a:spLocks noGrp="1"/>
          </p:cNvSpPr>
          <p:nvPr>
            <p:ph type="dt" sz="half" idx="10"/>
          </p:nvPr>
        </p:nvSpPr>
        <p:spPr/>
        <p:txBody>
          <a:bodyPr/>
          <a:lstStyle/>
          <a:p>
            <a:fld id="{E4965A3C-7C44-491F-A2CC-585294ABE301}" type="datetime1">
              <a:rPr lang="en-US" smtClean="0"/>
              <a:t>9/24/26</a:t>
            </a:fld>
            <a:endParaRPr lang="en-US" dirty="0"/>
          </a:p>
        </p:txBody>
      </p:sp>
      <p:graphicFrame>
        <p:nvGraphicFramePr>
          <p:cNvPr id="7" name="Table 6">
            <a:extLst>
              <a:ext uri="{FF2B5EF4-FFF2-40B4-BE49-F238E27FC236}">
                <a16:creationId xmlns:a16="http://schemas.microsoft.com/office/drawing/2014/main" id="{AA69D594-A2DB-2542-1C1E-3A4D4D26C2AA}"/>
              </a:ext>
            </a:extLst>
          </p:cNvPr>
          <p:cNvGraphicFramePr>
            <a:graphicFrameLocks noGrp="1"/>
          </p:cNvGraphicFramePr>
          <p:nvPr>
            <p:extLst>
              <p:ext uri="{D42A27DB-BD31-4B8C-83A1-F6EECF244321}">
                <p14:modId xmlns:p14="http://schemas.microsoft.com/office/powerpoint/2010/main" val="3093080197"/>
              </p:ext>
            </p:extLst>
          </p:nvPr>
        </p:nvGraphicFramePr>
        <p:xfrm>
          <a:off x="838199" y="832089"/>
          <a:ext cx="10515600" cy="329184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3505948118"/>
                    </a:ext>
                  </a:extLst>
                </a:gridCol>
                <a:gridCol w="3505200">
                  <a:extLst>
                    <a:ext uri="{9D8B030D-6E8A-4147-A177-3AD203B41FA5}">
                      <a16:colId xmlns:a16="http://schemas.microsoft.com/office/drawing/2014/main" val="1656447521"/>
                    </a:ext>
                  </a:extLst>
                </a:gridCol>
                <a:gridCol w="3505200">
                  <a:extLst>
                    <a:ext uri="{9D8B030D-6E8A-4147-A177-3AD203B41FA5}">
                      <a16:colId xmlns:a16="http://schemas.microsoft.com/office/drawing/2014/main" val="2141753152"/>
                    </a:ext>
                  </a:extLst>
                </a:gridCol>
              </a:tblGrid>
              <a:tr h="0">
                <a:tc>
                  <a:txBody>
                    <a:bodyPr/>
                    <a:lstStyle/>
                    <a:p>
                      <a:pPr algn="ctr">
                        <a:buNone/>
                      </a:pPr>
                      <a:r>
                        <a:rPr lang="zh-TW" dirty="0"/>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zh-TW" dirty="0"/>
                        <a:t>MPC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buNone/>
                      </a:pPr>
                      <a:r>
                        <a:rPr lang="en-US" altLang="zh-TW" dirty="0"/>
                        <a:t>Static</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498730675"/>
                  </a:ext>
                </a:extLst>
              </a:tr>
              <a:tr h="0">
                <a:tc>
                  <a:txBody>
                    <a:bodyPr/>
                    <a:lstStyle/>
                    <a:p>
                      <a:pPr algn="ctr">
                        <a:buNone/>
                      </a:pPr>
                      <a:r>
                        <a:rPr lang="zh-TW" dirty="0"/>
                        <a:t>Checkpoint mean DoC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b="1" dirty="0"/>
                        <a:t>0.8997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dirty="0"/>
                        <a:t>0.7890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5303504"/>
                  </a:ext>
                </a:extLst>
              </a:tr>
              <a:tr h="0">
                <a:tc>
                  <a:txBody>
                    <a:bodyPr/>
                    <a:lstStyle/>
                    <a:p>
                      <a:pPr algn="ctr">
                        <a:buNone/>
                      </a:pPr>
                      <a:r>
                        <a:rPr lang="zh-TW" dirty="0"/>
                        <a:t>Checkpoint abs. 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b="1" dirty="0"/>
                        <a:t>0.000263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a:t>0.111045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9763364"/>
                  </a:ext>
                </a:extLst>
              </a:tr>
              <a:tr h="0">
                <a:tc>
                  <a:txBody>
                    <a:bodyPr/>
                    <a:lstStyle/>
                    <a:p>
                      <a:pPr algn="ctr">
                        <a:buNone/>
                      </a:pPr>
                      <a:r>
                        <a:rPr lang="zh-TW"/>
                        <a:t>Target DoC RMSE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b="1" dirty="0"/>
                        <a:t>0.001355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a:t>0.323922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9202683"/>
                  </a:ext>
                </a:extLst>
              </a:tr>
              <a:tr h="0">
                <a:tc>
                  <a:txBody>
                    <a:bodyPr/>
                    <a:lstStyle/>
                    <a:p>
                      <a:pPr algn="ctr">
                        <a:buNone/>
                      </a:pPr>
                      <a:r>
                        <a:rPr lang="zh-TW" dirty="0"/>
                        <a:t>Target DoC std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b="1" dirty="0"/>
                        <a:t>0.00133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a:t>0.304293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73183"/>
                  </a:ext>
                </a:extLst>
              </a:tr>
              <a:tr h="0">
                <a:tc>
                  <a:txBody>
                    <a:bodyPr/>
                    <a:lstStyle/>
                    <a:p>
                      <a:pPr algn="ctr">
                        <a:buNone/>
                      </a:pPr>
                      <a:r>
                        <a:rPr lang="zh-TW" dirty="0"/>
                        <a:t>Component mean DoC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b="1" dirty="0"/>
                        <a:t>0.899707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a:t>0.786087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4221392"/>
                  </a:ext>
                </a:extLst>
              </a:tr>
              <a:tr h="0">
                <a:tc>
                  <a:txBody>
                    <a:bodyPr/>
                    <a:lstStyle/>
                    <a:p>
                      <a:pPr algn="ctr">
                        <a:buNone/>
                      </a:pPr>
                      <a:r>
                        <a:rPr lang="zh-TW" dirty="0"/>
                        <a:t>Mean outside DoC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a:t>0.008671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b="1" dirty="0"/>
                        <a:t>0.001731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26015"/>
                  </a:ext>
                </a:extLst>
              </a:tr>
              <a:tr h="0">
                <a:tc>
                  <a:txBody>
                    <a:bodyPr/>
                    <a:lstStyle/>
                    <a:p>
                      <a:pPr algn="ctr">
                        <a:buNone/>
                      </a:pPr>
                      <a:r>
                        <a:rPr lang="zh-TW" dirty="0"/>
                        <a:t>IoU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a:t>0.7177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b="1" dirty="0"/>
                        <a:t>0.7844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168275"/>
                  </a:ext>
                </a:extLst>
              </a:tr>
              <a:tr h="0">
                <a:tc>
                  <a:txBody>
                    <a:bodyPr/>
                    <a:lstStyle/>
                    <a:p>
                      <a:pPr algn="ctr">
                        <a:buNone/>
                      </a:pPr>
                      <a:r>
                        <a:rPr lang="zh-TW" dirty="0"/>
                        <a:t>Dice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r>
                        <a:rPr lang="zh-TW" dirty="0"/>
                        <a:t>0.8357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TW" b="1" dirty="0"/>
                        <a:t>0.8792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858464"/>
                  </a:ext>
                </a:extLst>
              </a:tr>
            </a:tbl>
          </a:graphicData>
        </a:graphic>
      </p:graphicFrame>
      <p:pic>
        <p:nvPicPr>
          <p:cNvPr id="9" name="Picture 8">
            <a:extLst>
              <a:ext uri="{FF2B5EF4-FFF2-40B4-BE49-F238E27FC236}">
                <a16:creationId xmlns:a16="http://schemas.microsoft.com/office/drawing/2014/main" id="{E82B66C2-9937-2684-6255-312AEFA945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2836" y="4217781"/>
            <a:ext cx="3526326" cy="2203954"/>
          </a:xfrm>
          <a:prstGeom prst="rect">
            <a:avLst/>
          </a:prstGeom>
        </p:spPr>
      </p:pic>
      <p:pic>
        <p:nvPicPr>
          <p:cNvPr id="11" name="Picture 10">
            <a:extLst>
              <a:ext uri="{FF2B5EF4-FFF2-40B4-BE49-F238E27FC236}">
                <a16:creationId xmlns:a16="http://schemas.microsoft.com/office/drawing/2014/main" id="{F9356A0C-458F-4A0F-BCE5-EC3FE3CEDA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298" y="4217781"/>
            <a:ext cx="3526327" cy="2203954"/>
          </a:xfrm>
          <a:prstGeom prst="rect">
            <a:avLst/>
          </a:prstGeom>
        </p:spPr>
      </p:pic>
      <p:pic>
        <p:nvPicPr>
          <p:cNvPr id="13" name="Picture 12">
            <a:extLst>
              <a:ext uri="{FF2B5EF4-FFF2-40B4-BE49-F238E27FC236}">
                <a16:creationId xmlns:a16="http://schemas.microsoft.com/office/drawing/2014/main" id="{91CCF4BE-81C7-43E3-FA75-F9CEB5A2AB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12999" y="4217781"/>
            <a:ext cx="3526327" cy="2203954"/>
          </a:xfrm>
          <a:prstGeom prst="rect">
            <a:avLst/>
          </a:prstGeom>
        </p:spPr>
      </p:pic>
      <p:sp>
        <p:nvSpPr>
          <p:cNvPr id="14" name="TextBox 13">
            <a:extLst>
              <a:ext uri="{FF2B5EF4-FFF2-40B4-BE49-F238E27FC236}">
                <a16:creationId xmlns:a16="http://schemas.microsoft.com/office/drawing/2014/main" id="{8147F9C7-692D-E23F-FC89-67382EB69D1A}"/>
              </a:ext>
            </a:extLst>
          </p:cNvPr>
          <p:cNvSpPr txBox="1"/>
          <p:nvPr/>
        </p:nvSpPr>
        <p:spPr>
          <a:xfrm>
            <a:off x="1656784" y="5135092"/>
            <a:ext cx="950614" cy="369332"/>
          </a:xfrm>
          <a:prstGeom prst="rect">
            <a:avLst/>
          </a:prstGeom>
          <a:noFill/>
        </p:spPr>
        <p:txBody>
          <a:bodyPr wrap="square" rtlCol="0">
            <a:spAutoFit/>
          </a:bodyPr>
          <a:lstStyle/>
          <a:p>
            <a:pPr algn="ctr"/>
            <a:r>
              <a:rPr lang="en-US" altLang="zh-TW" dirty="0">
                <a:solidFill>
                  <a:schemeClr val="bg1"/>
                </a:solidFill>
              </a:rPr>
              <a:t>Target</a:t>
            </a:r>
            <a:endParaRPr lang="zh-TW" altLang="en-US" dirty="0">
              <a:solidFill>
                <a:schemeClr val="bg1"/>
              </a:solidFill>
            </a:endParaRPr>
          </a:p>
        </p:txBody>
      </p:sp>
      <p:sp>
        <p:nvSpPr>
          <p:cNvPr id="16" name="TextBox 15">
            <a:extLst>
              <a:ext uri="{FF2B5EF4-FFF2-40B4-BE49-F238E27FC236}">
                <a16:creationId xmlns:a16="http://schemas.microsoft.com/office/drawing/2014/main" id="{DC1A8764-2583-F00C-9F21-74C628F97F58}"/>
              </a:ext>
            </a:extLst>
          </p:cNvPr>
          <p:cNvSpPr txBox="1"/>
          <p:nvPr/>
        </p:nvSpPr>
        <p:spPr>
          <a:xfrm>
            <a:off x="5620692" y="5135092"/>
            <a:ext cx="950614" cy="369332"/>
          </a:xfrm>
          <a:prstGeom prst="rect">
            <a:avLst/>
          </a:prstGeom>
          <a:noFill/>
        </p:spPr>
        <p:txBody>
          <a:bodyPr wrap="square" rtlCol="0">
            <a:spAutoFit/>
          </a:bodyPr>
          <a:lstStyle/>
          <a:p>
            <a:pPr algn="ctr"/>
            <a:r>
              <a:rPr lang="en-US" altLang="zh-TW" dirty="0">
                <a:solidFill>
                  <a:schemeClr val="bg1"/>
                </a:solidFill>
              </a:rPr>
              <a:t>MPC</a:t>
            </a:r>
            <a:endParaRPr lang="zh-TW" altLang="en-US" dirty="0">
              <a:solidFill>
                <a:schemeClr val="bg1"/>
              </a:solidFill>
            </a:endParaRPr>
          </a:p>
        </p:txBody>
      </p:sp>
      <p:sp>
        <p:nvSpPr>
          <p:cNvPr id="18" name="TextBox 17">
            <a:extLst>
              <a:ext uri="{FF2B5EF4-FFF2-40B4-BE49-F238E27FC236}">
                <a16:creationId xmlns:a16="http://schemas.microsoft.com/office/drawing/2014/main" id="{FECD3347-633C-7325-CF84-A2915DB7B364}"/>
              </a:ext>
            </a:extLst>
          </p:cNvPr>
          <p:cNvSpPr txBox="1"/>
          <p:nvPr/>
        </p:nvSpPr>
        <p:spPr>
          <a:xfrm>
            <a:off x="9500855" y="5133083"/>
            <a:ext cx="950614" cy="369332"/>
          </a:xfrm>
          <a:prstGeom prst="rect">
            <a:avLst/>
          </a:prstGeom>
          <a:noFill/>
        </p:spPr>
        <p:txBody>
          <a:bodyPr wrap="square" rtlCol="0">
            <a:spAutoFit/>
          </a:bodyPr>
          <a:lstStyle/>
          <a:p>
            <a:pPr algn="ctr"/>
            <a:r>
              <a:rPr lang="en-US" altLang="zh-TW" dirty="0">
                <a:solidFill>
                  <a:schemeClr val="bg1"/>
                </a:solidFill>
              </a:rPr>
              <a:t>Static</a:t>
            </a:r>
            <a:endParaRPr lang="zh-TW" altLang="en-US" dirty="0">
              <a:solidFill>
                <a:schemeClr val="bg1"/>
              </a:solidFill>
            </a:endParaRPr>
          </a:p>
        </p:txBody>
      </p:sp>
    </p:spTree>
    <p:extLst>
      <p:ext uri="{BB962C8B-B14F-4D97-AF65-F5344CB8AC3E}">
        <p14:creationId xmlns:p14="http://schemas.microsoft.com/office/powerpoint/2010/main" val="27234211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BA520-0C2F-C2B2-21F2-7192947496D1}"/>
              </a:ext>
            </a:extLst>
          </p:cNvPr>
          <p:cNvSpPr>
            <a:spLocks noGrp="1"/>
          </p:cNvSpPr>
          <p:nvPr>
            <p:ph type="title"/>
          </p:nvPr>
        </p:nvSpPr>
        <p:spPr/>
        <p:txBody>
          <a:bodyPr/>
          <a:lstStyle/>
          <a:p>
            <a:r>
              <a:rPr lang="en-US" altLang="zh-TW" dirty="0"/>
              <a:t>Comments</a:t>
            </a:r>
            <a:endParaRPr lang="zh-TW"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063B50-6D99-87C2-3DCC-B3A545E84171}"/>
                  </a:ext>
                </a:extLst>
              </p:cNvPr>
              <p:cNvSpPr>
                <a:spLocks noGrp="1"/>
              </p:cNvSpPr>
              <p:nvPr>
                <p:ph idx="1"/>
              </p:nvPr>
            </p:nvSpPr>
            <p:spPr>
              <a:xfrm>
                <a:off x="264940" y="825227"/>
                <a:ext cx="11662117" cy="5852330"/>
              </a:xfrm>
            </p:spPr>
            <p:txBody>
              <a:bodyPr>
                <a:normAutofit fontScale="92500" lnSpcReduction="10000"/>
              </a:bodyPr>
              <a:lstStyle/>
              <a:p>
                <a:r>
                  <a:rPr lang="en-US" altLang="zh-TW" dirty="0"/>
                  <a:t>Current reaction-progress MPC</a:t>
                </a:r>
              </a:p>
              <a:p>
                <a:pPr marL="0" indent="0">
                  <a:buNone/>
                </a:pPr>
                <a14:m>
                  <m:oMathPara xmlns:m="http://schemas.openxmlformats.org/officeDocument/2006/math">
                    <m:oMath>
                      <m:r>
                        <a:rPr lang="en-US" altLang="zh-TW">
                          <a:latin typeface="Cambria Math" panose="02040503050406030204" pitchFamily="18" charset="0"/>
                        </a:rPr>
                        <m:t>𝐽</m:t>
                      </m:r>
                      <m:r>
                        <a:rPr lang="en-US" altLang="zh-TW">
                          <a:latin typeface="Cambria Math" panose="02040503050406030204" pitchFamily="18" charset="0"/>
                        </a:rPr>
                        <m:t>=</m:t>
                      </m:r>
                      <m:r>
                        <a:rPr lang="en-US" altLang="zh-TW">
                          <a:latin typeface="Cambria Math" panose="02040503050406030204" pitchFamily="18" charset="0"/>
                        </a:rPr>
                        <m:t>𝑚𝑒𝑎</m:t>
                      </m:r>
                      <m:sSub>
                        <m:sSubPr>
                          <m:ctrlPr>
                            <a:rPr lang="en-US" altLang="zh-TW">
                              <a:latin typeface="Cambria Math" panose="02040503050406030204" pitchFamily="18" charset="0"/>
                            </a:rPr>
                          </m:ctrlPr>
                        </m:sSubPr>
                        <m:e>
                          <m:r>
                            <a:rPr lang="en-US" altLang="zh-TW">
                              <a:latin typeface="Cambria Math" panose="02040503050406030204" pitchFamily="18" charset="0"/>
                            </a:rPr>
                            <m:t>𝑛</m:t>
                          </m:r>
                        </m:e>
                        <m:sub>
                          <m:r>
                            <a:rPr lang="en-US" altLang="zh-TW">
                              <a:latin typeface="Cambria Math" panose="02040503050406030204" pitchFamily="18" charset="0"/>
                            </a:rPr>
                            <m:t>𝑝</m:t>
                          </m:r>
                          <m:r>
                            <a:rPr lang="en-US" altLang="zh-TW">
                              <a:latin typeface="Cambria Math" panose="02040503050406030204" pitchFamily="18" charset="0"/>
                            </a:rPr>
                            <m:t>∈</m:t>
                          </m:r>
                          <m:sSub>
                            <m:sSubPr>
                              <m:ctrlPr>
                                <a:rPr lang="en-US" altLang="zh-TW">
                                  <a:latin typeface="Cambria Math" panose="02040503050406030204" pitchFamily="18" charset="0"/>
                                </a:rPr>
                              </m:ctrlPr>
                            </m:sSubPr>
                            <m:e>
                              <m:r>
                                <m:rPr>
                                  <m:sty m:val="p"/>
                                </m:rPr>
                                <a:rPr lang="en-US" altLang="zh-TW">
                                  <a:latin typeface="Cambria Math" panose="02040503050406030204" pitchFamily="18" charset="0"/>
                                </a:rPr>
                                <m:t>Ω</m:t>
                              </m:r>
                            </m:e>
                            <m:sub>
                              <m:r>
                                <a:rPr lang="en-US" altLang="zh-TW" i="1">
                                  <a:latin typeface="Cambria Math" panose="02040503050406030204" pitchFamily="18" charset="0"/>
                                </a:rPr>
                                <m:t>𝑇</m:t>
                              </m:r>
                            </m:sub>
                          </m:sSub>
                        </m:sub>
                      </m:sSub>
                      <m:sSup>
                        <m:sSupPr>
                          <m:ctrlPr>
                            <a:rPr lang="en-US" altLang="zh-TW" i="1">
                              <a:latin typeface="Cambria Math" panose="02040503050406030204" pitchFamily="18" charset="0"/>
                            </a:rPr>
                          </m:ctrlPr>
                        </m:sSupPr>
                        <m:e>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i="1">
                                      <a:latin typeface="Cambria Math" panose="02040503050406030204" pitchFamily="18" charset="0"/>
                                    </a:rPr>
                                    <m:t>𝑝</m:t>
                                  </m:r>
                                </m:sub>
                              </m:sSub>
                              <m:r>
                                <a:rPr lang="en-US" altLang="zh-TW" i="1">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𝑅</m:t>
                                  </m:r>
                                </m:e>
                                <m:sub>
                                  <m:r>
                                    <a:rPr lang="en-US" altLang="zh-TW" i="1">
                                      <a:latin typeface="Cambria Math" panose="02040503050406030204" pitchFamily="18" charset="0"/>
                                    </a:rPr>
                                    <m:t>𝑝</m:t>
                                  </m:r>
                                </m:sub>
                                <m:sup>
                                  <m:r>
                                    <a:rPr lang="en-US" altLang="zh-TW" i="1">
                                      <a:latin typeface="Cambria Math" panose="02040503050406030204" pitchFamily="18" charset="0"/>
                                    </a:rPr>
                                    <m:t>∗</m:t>
                                  </m:r>
                                </m:sup>
                              </m:sSubSup>
                            </m:e>
                          </m:d>
                        </m:e>
                        <m:sup>
                          <m:r>
                            <a:rPr lang="en-US" altLang="zh-TW">
                              <a:latin typeface="Cambria Math" panose="02040503050406030204" pitchFamily="18" charset="0"/>
                            </a:rPr>
                            <m:t>2</m:t>
                          </m:r>
                        </m:sup>
                      </m:sSup>
                      <m:r>
                        <a:rPr lang="en-US" altLang="zh-TW">
                          <a:latin typeface="Cambria Math" panose="02040503050406030204" pitchFamily="18" charset="0"/>
                        </a:rPr>
                        <m:t>+</m:t>
                      </m:r>
                      <m:r>
                        <a:rPr lang="en-US" altLang="zh-TW" b="0" i="0" smtClean="0">
                          <a:latin typeface="Cambria Math" panose="02040503050406030204" pitchFamily="18" charset="0"/>
                        </a:rPr>
                        <m:t>0.5∗</m:t>
                      </m:r>
                      <m:r>
                        <a:rPr lang="en-US" altLang="zh-TW">
                          <a:latin typeface="Cambria Math" panose="02040503050406030204" pitchFamily="18" charset="0"/>
                        </a:rPr>
                        <m:t>𝑚𝑒𝑎</m:t>
                      </m:r>
                      <m:sSub>
                        <m:sSubPr>
                          <m:ctrlPr>
                            <a:rPr lang="en-US" altLang="zh-TW">
                              <a:latin typeface="Cambria Math" panose="02040503050406030204" pitchFamily="18" charset="0"/>
                            </a:rPr>
                          </m:ctrlPr>
                        </m:sSubPr>
                        <m:e>
                          <m:r>
                            <a:rPr lang="en-US" altLang="zh-TW">
                              <a:latin typeface="Cambria Math" panose="02040503050406030204" pitchFamily="18" charset="0"/>
                            </a:rPr>
                            <m:t>𝑛</m:t>
                          </m:r>
                        </m:e>
                        <m:sub>
                          <m:r>
                            <a:rPr lang="en-US" altLang="zh-TW">
                              <a:latin typeface="Cambria Math" panose="02040503050406030204" pitchFamily="18" charset="0"/>
                            </a:rPr>
                            <m:t>𝑝</m:t>
                          </m:r>
                          <m:r>
                            <a:rPr lang="en-US" altLang="zh-TW">
                              <a:latin typeface="Cambria Math" panose="02040503050406030204" pitchFamily="18" charset="0"/>
                            </a:rPr>
                            <m:t>∈</m:t>
                          </m:r>
                          <m:sSub>
                            <m:sSubPr>
                              <m:ctrlPr>
                                <a:rPr lang="en-US" altLang="zh-TW">
                                  <a:latin typeface="Cambria Math" panose="02040503050406030204" pitchFamily="18" charset="0"/>
                                </a:rPr>
                              </m:ctrlPr>
                            </m:sSubPr>
                            <m:e>
                              <m:r>
                                <m:rPr>
                                  <m:sty m:val="p"/>
                                </m:rPr>
                                <a:rPr lang="en-US" altLang="zh-TW">
                                  <a:latin typeface="Cambria Math" panose="02040503050406030204" pitchFamily="18" charset="0"/>
                                </a:rPr>
                                <m:t>Ω</m:t>
                              </m:r>
                            </m:e>
                            <m:sub>
                              <m:r>
                                <a:rPr lang="en-US" altLang="zh-TW" i="1">
                                  <a:latin typeface="Cambria Math" panose="02040503050406030204" pitchFamily="18" charset="0"/>
                                </a:rPr>
                                <m:t>𝑂𝑢𝑡</m:t>
                              </m:r>
                            </m:sub>
                          </m:sSub>
                        </m:sub>
                      </m:sSub>
                      <m:sSup>
                        <m:sSupPr>
                          <m:ctrlPr>
                            <a:rPr lang="en-US" altLang="zh-TW" i="1">
                              <a:latin typeface="Cambria Math" panose="02040503050406030204" pitchFamily="18" charset="0"/>
                            </a:rPr>
                          </m:ctrlPr>
                        </m:sSupPr>
                        <m:e>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i="1">
                                      <a:latin typeface="Cambria Math" panose="02040503050406030204" pitchFamily="18" charset="0"/>
                                    </a:rPr>
                                    <m:t>𝑝</m:t>
                                  </m:r>
                                </m:sub>
                              </m:sSub>
                            </m:e>
                          </m:d>
                        </m:e>
                        <m:sup>
                          <m:r>
                            <a:rPr lang="en-US" altLang="zh-TW">
                              <a:latin typeface="Cambria Math" panose="02040503050406030204" pitchFamily="18" charset="0"/>
                            </a:rPr>
                            <m:t>2</m:t>
                          </m:r>
                        </m:sup>
                      </m:sSup>
                    </m:oMath>
                  </m:oMathPara>
                </a14:m>
                <a:endParaRPr lang="en-US" altLang="zh-TW" dirty="0"/>
              </a:p>
              <a:p>
                <a:r>
                  <a:rPr lang="en-US" altLang="zh-TW" dirty="0"/>
                  <a:t>Target image size: </a:t>
                </a:r>
                <a14:m>
                  <m:oMath xmlns:m="http://schemas.openxmlformats.org/officeDocument/2006/math">
                    <m:r>
                      <a:rPr lang="en-US" altLang="zh-TW" b="0" i="1" smtClean="0">
                        <a:latin typeface="Cambria Math" panose="02040503050406030204" pitchFamily="18" charset="0"/>
                      </a:rPr>
                      <m:t>320∗512=163840 </m:t>
                    </m:r>
                    <m:r>
                      <a:rPr lang="en-US" altLang="zh-TW" b="0" i="1" smtClean="0">
                        <a:latin typeface="Cambria Math" panose="02040503050406030204" pitchFamily="18" charset="0"/>
                      </a:rPr>
                      <m:t>𝑝𝑥</m:t>
                    </m:r>
                  </m:oMath>
                </a14:m>
                <a:r>
                  <a:rPr lang="zh-TW" altLang="en-US" dirty="0"/>
                  <a:t> </a:t>
                </a:r>
                <a:r>
                  <a:rPr lang="en-US" altLang="zh-TW" dirty="0"/>
                  <a:t>(only </a:t>
                </a:r>
                <a14:m>
                  <m:oMath xmlns:m="http://schemas.openxmlformats.org/officeDocument/2006/math">
                    <m:r>
                      <a:rPr lang="en-US" altLang="zh-TW" i="1" dirty="0" smtClean="0">
                        <a:latin typeface="Cambria Math" panose="02040503050406030204" pitchFamily="18" charset="0"/>
                      </a:rPr>
                      <m:t>3822</m:t>
                    </m:r>
                    <m:r>
                      <a:rPr lang="en-US" altLang="zh-TW" b="0" i="1" dirty="0" smtClean="0">
                        <a:latin typeface="Cambria Math" panose="02040503050406030204" pitchFamily="18" charset="0"/>
                      </a:rPr>
                      <m:t> </m:t>
                    </m:r>
                    <m:r>
                      <a:rPr lang="en-US" altLang="zh-TW" b="0" i="1" dirty="0" smtClean="0">
                        <a:latin typeface="Cambria Math" panose="02040503050406030204" pitchFamily="18" charset="0"/>
                      </a:rPr>
                      <m:t>𝑝𝑥</m:t>
                    </m:r>
                  </m:oMath>
                </a14:m>
                <a:r>
                  <a:rPr lang="en-US" altLang="zh-TW" dirty="0"/>
                  <a:t> for cured)</a:t>
                </a:r>
              </a:p>
              <a:p>
                <a:r>
                  <a:rPr lang="en-US" altLang="zh-TW" dirty="0"/>
                  <a:t>MPC created additional 1503 false cured </a:t>
                </a:r>
                <a:r>
                  <a:rPr lang="en-US" altLang="zh-TW" dirty="0" err="1"/>
                  <a:t>px</a:t>
                </a:r>
                <a:r>
                  <a:rPr lang="en-US" altLang="zh-TW" dirty="0"/>
                  <a:t>, which only take account for </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1503/160018≈0.94%</m:t>
                    </m:r>
                  </m:oMath>
                </a14:m>
                <a:r>
                  <a:rPr lang="en-US" altLang="zh-TW" dirty="0"/>
                  <a:t>.</a:t>
                </a:r>
              </a:p>
              <a:p>
                <a:r>
                  <a:rPr lang="en-US" altLang="zh-TW" dirty="0"/>
                  <a:t>Strategy</a:t>
                </a:r>
              </a:p>
              <a:p>
                <a:pPr lvl="1"/>
                <a:r>
                  <a:rPr lang="en-US" altLang="zh-TW" dirty="0"/>
                  <a:t>Rather than adjusting weight of outside pixels, we could</a:t>
                </a:r>
                <a:r>
                  <a:rPr lang="zh-TW" altLang="en-US" dirty="0"/>
                  <a:t> </a:t>
                </a:r>
                <a:r>
                  <a:rPr lang="en-US" altLang="zh-TW" dirty="0"/>
                  <a:t>add one more region along the boundary.</a:t>
                </a:r>
              </a:p>
              <a:p>
                <a:pPr lvl="1"/>
                <a:r>
                  <a:rPr lang="en-US" altLang="zh-TW" dirty="0"/>
                  <a:t>We already know that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𝑝</m:t>
                        </m:r>
                      </m:sub>
                    </m:sSub>
                    <m:r>
                      <a:rPr lang="en-US" altLang="zh-TW" b="0" i="1" smtClean="0">
                        <a:latin typeface="Cambria Math" panose="02040503050406030204" pitchFamily="18" charset="0"/>
                      </a:rPr>
                      <m:t>=0</m:t>
                    </m:r>
                  </m:oMath>
                </a14:m>
                <a:r>
                  <a:rPr lang="en-US" altLang="zh-TW" dirty="0"/>
                  <a:t> could give very weak or zero DoC feedback due to trivial gradient.</a:t>
                </a:r>
              </a:p>
              <a:p>
                <a:pPr lvl="1"/>
                <a:r>
                  <a:rPr lang="en-US" altLang="zh-TW" dirty="0"/>
                  <a:t>Coupled with a Oxygen-based loss function into boundary to protect over-curing.</a:t>
                </a:r>
              </a:p>
              <a:p>
                <a:pPr marL="457200" lvl="1" indent="0">
                  <a:buNone/>
                </a:pPr>
                <a14:m>
                  <m:oMathPara xmlns:m="http://schemas.openxmlformats.org/officeDocument/2006/math">
                    <m:o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𝐽</m:t>
                          </m:r>
                        </m:e>
                        <m:sub>
                          <m:r>
                            <a:rPr lang="en-US" altLang="zh-TW" b="0" i="1" smtClean="0">
                              <a:latin typeface="Cambria Math" panose="02040503050406030204" pitchFamily="18" charset="0"/>
                            </a:rPr>
                            <m:t>𝑏𝑜𝑢𝑛𝑑𝑎𝑟𝑦</m:t>
                          </m:r>
                        </m:sub>
                      </m:sSub>
                      <m:r>
                        <a:rPr lang="en-US" altLang="zh-TW" b="0" i="1" smtClean="0">
                          <a:latin typeface="Cambria Math" panose="02040503050406030204" pitchFamily="18" charset="0"/>
                        </a:rPr>
                        <m:t>=</m:t>
                      </m:r>
                      <m:r>
                        <a:rPr lang="en-US" altLang="zh-TW">
                          <a:latin typeface="Cambria Math" panose="02040503050406030204" pitchFamily="18" charset="0"/>
                        </a:rPr>
                        <m:t>𝑚𝑒𝑎</m:t>
                      </m:r>
                      <m:sSub>
                        <m:sSubPr>
                          <m:ctrlPr>
                            <a:rPr lang="en-US" altLang="zh-TW">
                              <a:latin typeface="Cambria Math" panose="02040503050406030204" pitchFamily="18" charset="0"/>
                            </a:rPr>
                          </m:ctrlPr>
                        </m:sSubPr>
                        <m:e>
                          <m:r>
                            <a:rPr lang="en-US" altLang="zh-TW">
                              <a:latin typeface="Cambria Math" panose="02040503050406030204" pitchFamily="18" charset="0"/>
                            </a:rPr>
                            <m:t>𝑛</m:t>
                          </m:r>
                        </m:e>
                        <m:sub>
                          <m:r>
                            <a:rPr lang="en-US" altLang="zh-TW">
                              <a:latin typeface="Cambria Math" panose="02040503050406030204" pitchFamily="18" charset="0"/>
                            </a:rPr>
                            <m:t>𝑝</m:t>
                          </m:r>
                          <m:r>
                            <a:rPr lang="en-US" altLang="zh-TW">
                              <a:latin typeface="Cambria Math" panose="02040503050406030204" pitchFamily="18" charset="0"/>
                            </a:rPr>
                            <m:t>∈</m:t>
                          </m:r>
                          <m:r>
                            <a:rPr lang="en-US" altLang="zh-TW" b="0" i="1" smtClean="0">
                              <a:latin typeface="Cambria Math" panose="02040503050406030204" pitchFamily="18" charset="0"/>
                            </a:rPr>
                            <m:t>𝑏𝑜𝑢𝑛𝑑𝑎𝑟𝑦</m:t>
                          </m:r>
                        </m:sub>
                      </m:sSub>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𝑂</m:t>
                                  </m:r>
                                </m:e>
                                <m:sub>
                                  <m:r>
                                    <a:rPr lang="en-US" altLang="zh-TW" b="0" i="1" smtClean="0">
                                      <a:latin typeface="Cambria Math" panose="02040503050406030204" pitchFamily="18" charset="0"/>
                                    </a:rPr>
                                    <m:t>2,0</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𝑂</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 </m:t>
                              </m:r>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𝑂</m:t>
                                  </m:r>
                                </m:e>
                                <m:sub>
                                  <m:r>
                                    <a:rPr lang="en-US" altLang="zh-TW" i="1">
                                      <a:latin typeface="Cambria Math" panose="02040503050406030204" pitchFamily="18" charset="0"/>
                                    </a:rPr>
                                    <m:t>2,0</m:t>
                                  </m:r>
                                </m:sub>
                              </m:sSub>
                            </m:den>
                          </m:f>
                          <m:r>
                            <a:rPr lang="en-US" altLang="zh-TW" b="0" i="1" smtClean="0">
                              <a:latin typeface="Cambria Math" panose="02040503050406030204" pitchFamily="18" charset="0"/>
                            </a:rPr>
                            <m:t>)</m:t>
                          </m:r>
                        </m:e>
                        <m:sup>
                          <m:r>
                            <a:rPr lang="en-US" altLang="zh-TW" b="0" i="1" smtClean="0">
                              <a:latin typeface="Cambria Math" panose="02040503050406030204" pitchFamily="18" charset="0"/>
                            </a:rPr>
                            <m:t>2</m:t>
                          </m:r>
                        </m:sup>
                      </m:sSup>
                    </m:oMath>
                  </m:oMathPara>
                </a14:m>
                <a:endParaRPr lang="en-US" altLang="zh-TW" dirty="0"/>
              </a:p>
              <a:p>
                <a:pPr lvl="1"/>
                <a14:m>
                  <m:oMath xmlns:m="http://schemas.openxmlformats.org/officeDocument/2006/math">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𝑂</m:t>
                            </m:r>
                          </m:e>
                          <m:sub>
                            <m:r>
                              <a:rPr lang="en-US" altLang="zh-TW" i="1">
                                <a:latin typeface="Cambria Math" panose="02040503050406030204" pitchFamily="18" charset="0"/>
                              </a:rPr>
                              <m:t>2,0</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𝑂</m:t>
                            </m:r>
                          </m:e>
                          <m:sub>
                            <m:r>
                              <a:rPr lang="en-US" altLang="zh-TW" i="1">
                                <a:latin typeface="Cambria Math" panose="02040503050406030204" pitchFamily="18" charset="0"/>
                              </a:rPr>
                              <m:t>2</m:t>
                            </m:r>
                          </m:sub>
                        </m:sSub>
                        <m:r>
                          <a:rPr lang="en-US" altLang="zh-TW" i="1">
                            <a:latin typeface="Cambria Math" panose="02040503050406030204" pitchFamily="18" charset="0"/>
                          </a:rPr>
                          <m:t> </m:t>
                        </m:r>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𝑂</m:t>
                            </m:r>
                          </m:e>
                          <m:sub>
                            <m:r>
                              <a:rPr lang="en-US" altLang="zh-TW" i="1">
                                <a:latin typeface="Cambria Math" panose="02040503050406030204" pitchFamily="18" charset="0"/>
                              </a:rPr>
                              <m:t>2,0</m:t>
                            </m:r>
                          </m:sub>
                        </m:sSub>
                      </m:den>
                    </m:f>
                    <m:r>
                      <a:rPr lang="en-US" altLang="zh-TW" i="1">
                        <a:latin typeface="Cambria Math" panose="02040503050406030204" pitchFamily="18" charset="0"/>
                      </a:rPr>
                      <m:t> </m:t>
                    </m:r>
                  </m:oMath>
                </a14:m>
                <a:r>
                  <a:rPr lang="en-US" altLang="zh-TW" dirty="0"/>
                  <a:t>: f</a:t>
                </a:r>
                <a:r>
                  <a:rPr lang="zh-TW" altLang="zh-TW" dirty="0"/>
                  <a:t>raction of the oxygen inhibition reserve that has been depleted.</a:t>
                </a:r>
                <a:endParaRPr lang="en-US" altLang="zh-TW" dirty="0"/>
              </a:p>
              <a:p>
                <a:pPr lvl="1"/>
                <a:r>
                  <a:rPr lang="en-US" altLang="zh-TW" dirty="0"/>
                  <a:t>The physical meaning of it is to inform MPC that when </a:t>
                </a:r>
                <a:r>
                  <a:rPr lang="zh-TW" altLang="zh-TW" dirty="0"/>
                  <a:t>getting dangerously close to curing resin outside the desired geometry</a:t>
                </a:r>
                <a:r>
                  <a:rPr lang="en-US" altLang="zh-TW" dirty="0"/>
                  <a:t>, r</a:t>
                </a:r>
                <a:r>
                  <a:rPr lang="zh-TW" altLang="zh-TW" dirty="0"/>
                  <a:t>educe exposure now</a:t>
                </a:r>
                <a:r>
                  <a:rPr lang="en-US" altLang="zh-TW" dirty="0"/>
                  <a:t>.</a:t>
                </a:r>
              </a:p>
              <a:p>
                <a:pPr lvl="1"/>
                <a:endParaRPr lang="en-US" altLang="zh-TW" dirty="0"/>
              </a:p>
              <a:p>
                <a:endParaRPr lang="zh-TW" altLang="en-US" dirty="0"/>
              </a:p>
            </p:txBody>
          </p:sp>
        </mc:Choice>
        <mc:Fallback xmlns="">
          <p:sp>
            <p:nvSpPr>
              <p:cNvPr id="3" name="Content Placeholder 2">
                <a:extLst>
                  <a:ext uri="{FF2B5EF4-FFF2-40B4-BE49-F238E27FC236}">
                    <a16:creationId xmlns:a16="http://schemas.microsoft.com/office/drawing/2014/main" id="{E4063B50-6D99-87C2-3DCC-B3A545E84171}"/>
                  </a:ext>
                </a:extLst>
              </p:cNvPr>
              <p:cNvSpPr>
                <a:spLocks noGrp="1" noRot="1" noChangeAspect="1" noMove="1" noResize="1" noEditPoints="1" noAdjustHandles="1" noChangeArrowheads="1" noChangeShapeType="1" noTextEdit="1"/>
              </p:cNvSpPr>
              <p:nvPr>
                <p:ph idx="1"/>
              </p:nvPr>
            </p:nvSpPr>
            <p:spPr>
              <a:xfrm>
                <a:off x="264940" y="825227"/>
                <a:ext cx="11662117" cy="5852330"/>
              </a:xfrm>
              <a:blipFill>
                <a:blip r:embed="rId2"/>
                <a:stretch>
                  <a:fillRect l="-784" t="-2083" r="-1202"/>
                </a:stretch>
              </a:blipFill>
            </p:spPr>
            <p:txBody>
              <a:bodyPr/>
              <a:lstStyle/>
              <a:p>
                <a:r>
                  <a:rPr lang="zh-TW" altLang="en-US">
                    <a:noFill/>
                  </a:rPr>
                  <a:t> </a:t>
                </a:r>
              </a:p>
            </p:txBody>
          </p:sp>
        </mc:Fallback>
      </mc:AlternateContent>
      <p:sp>
        <p:nvSpPr>
          <p:cNvPr id="4" name="Slide Number Placeholder 3">
            <a:extLst>
              <a:ext uri="{FF2B5EF4-FFF2-40B4-BE49-F238E27FC236}">
                <a16:creationId xmlns:a16="http://schemas.microsoft.com/office/drawing/2014/main" id="{E9E75D71-CD50-2578-A90F-4B6C563D1F4B}"/>
              </a:ext>
            </a:extLst>
          </p:cNvPr>
          <p:cNvSpPr>
            <a:spLocks noGrp="1"/>
          </p:cNvSpPr>
          <p:nvPr>
            <p:ph type="sldNum" sz="quarter" idx="12"/>
          </p:nvPr>
        </p:nvSpPr>
        <p:spPr/>
        <p:txBody>
          <a:bodyPr/>
          <a:lstStyle/>
          <a:p>
            <a:fld id="{5A741E56-E3D9-46FF-B47D-3FCBEAE97EB2}" type="slidenum">
              <a:rPr lang="en-US" smtClean="0"/>
              <a:pPr/>
              <a:t>32</a:t>
            </a:fld>
            <a:endParaRPr lang="en-US" dirty="0"/>
          </a:p>
        </p:txBody>
      </p:sp>
      <p:sp>
        <p:nvSpPr>
          <p:cNvPr id="5" name="Footer Placeholder 4">
            <a:extLst>
              <a:ext uri="{FF2B5EF4-FFF2-40B4-BE49-F238E27FC236}">
                <a16:creationId xmlns:a16="http://schemas.microsoft.com/office/drawing/2014/main" id="{E226D640-7AE6-010A-3835-CF1857718981}"/>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CEC0701E-0FE8-E8D5-D282-25F82592149B}"/>
              </a:ext>
            </a:extLst>
          </p:cNvPr>
          <p:cNvSpPr>
            <a:spLocks noGrp="1"/>
          </p:cNvSpPr>
          <p:nvPr>
            <p:ph type="dt" sz="half" idx="10"/>
          </p:nvPr>
        </p:nvSpPr>
        <p:spPr/>
        <p:txBody>
          <a:bodyPr/>
          <a:lstStyle/>
          <a:p>
            <a:fld id="{E4965A3C-7C44-491F-A2CC-585294ABE301}" type="datetime1">
              <a:rPr lang="en-US" smtClean="0"/>
              <a:t>9/24/26</a:t>
            </a:fld>
            <a:endParaRPr lang="en-US" dirty="0"/>
          </a:p>
        </p:txBody>
      </p:sp>
    </p:spTree>
    <p:extLst>
      <p:ext uri="{BB962C8B-B14F-4D97-AF65-F5344CB8AC3E}">
        <p14:creationId xmlns:p14="http://schemas.microsoft.com/office/powerpoint/2010/main" val="25144086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6B078-9F18-6F8C-BF00-33AC662DC37B}"/>
              </a:ext>
            </a:extLst>
          </p:cNvPr>
          <p:cNvSpPr>
            <a:spLocks noGrp="1"/>
          </p:cNvSpPr>
          <p:nvPr>
            <p:ph type="title"/>
          </p:nvPr>
        </p:nvSpPr>
        <p:spPr/>
        <p:txBody>
          <a:bodyPr/>
          <a:lstStyle/>
          <a:p>
            <a:r>
              <a:rPr lang="en-US" altLang="zh-TW" dirty="0"/>
              <a:t>New Loss Function</a:t>
            </a:r>
            <a:endParaRPr lang="zh-TW"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87CDEC-C152-3F1B-57C9-8E977C3346EF}"/>
                  </a:ext>
                </a:extLst>
              </p:cNvPr>
              <p:cNvSpPr>
                <a:spLocks noGrp="1"/>
              </p:cNvSpPr>
              <p:nvPr>
                <p:ph idx="1"/>
              </p:nvPr>
            </p:nvSpPr>
            <p:spPr/>
            <p:txBody>
              <a:bodyPr>
                <a:normAutofit fontScale="77500" lnSpcReduction="20000"/>
              </a:bodyPr>
              <a:lstStyle/>
              <a:p>
                <a:pPr marL="0" indent="0">
                  <a:buNone/>
                </a:pPr>
                <a14:m>
                  <m:oMathPara xmlns:m="http://schemas.openxmlformats.org/officeDocument/2006/math">
                    <m:oMath>
                      <m:r>
                        <a:rPr lang="en-US" altLang="zh-TW" b="0" i="1" smtClean="0">
                          <a:latin typeface="Cambria Math" panose="02040503050406030204" pitchFamily="18" charset="0"/>
                        </a:rPr>
                        <m:t>𝐽</m:t>
                      </m:r>
                      <m:r>
                        <a:rPr lang="en-US" altLang="zh-TW" b="0" i="1" smtClean="0">
                          <a:latin typeface="Cambria Math" panose="02040503050406030204" pitchFamily="18" charset="0"/>
                        </a:rPr>
                        <m:t>=</m:t>
                      </m:r>
                      <m:r>
                        <a:rPr lang="en-US" altLang="zh-TW">
                          <a:latin typeface="Cambria Math" panose="02040503050406030204" pitchFamily="18" charset="0"/>
                        </a:rPr>
                        <m:t>𝑚𝑒𝑎</m:t>
                      </m:r>
                      <m:sSub>
                        <m:sSubPr>
                          <m:ctrlPr>
                            <a:rPr lang="en-US" altLang="zh-TW">
                              <a:latin typeface="Cambria Math" panose="02040503050406030204" pitchFamily="18" charset="0"/>
                            </a:rPr>
                          </m:ctrlPr>
                        </m:sSubPr>
                        <m:e>
                          <m:r>
                            <a:rPr lang="en-US" altLang="zh-TW">
                              <a:latin typeface="Cambria Math" panose="02040503050406030204" pitchFamily="18" charset="0"/>
                            </a:rPr>
                            <m:t>𝑛</m:t>
                          </m:r>
                        </m:e>
                        <m:sub>
                          <m:r>
                            <a:rPr lang="en-US" altLang="zh-TW">
                              <a:latin typeface="Cambria Math" panose="02040503050406030204" pitchFamily="18" charset="0"/>
                            </a:rPr>
                            <m:t>𝑝</m:t>
                          </m:r>
                          <m:r>
                            <a:rPr lang="en-US" altLang="zh-TW">
                              <a:latin typeface="Cambria Math" panose="02040503050406030204" pitchFamily="18" charset="0"/>
                            </a:rPr>
                            <m:t>∈</m:t>
                          </m:r>
                          <m:sSub>
                            <m:sSubPr>
                              <m:ctrlPr>
                                <a:rPr lang="en-US" altLang="zh-TW">
                                  <a:latin typeface="Cambria Math" panose="02040503050406030204" pitchFamily="18" charset="0"/>
                                </a:rPr>
                              </m:ctrlPr>
                            </m:sSubPr>
                            <m:e>
                              <m:r>
                                <m:rPr>
                                  <m:sty m:val="p"/>
                                </m:rPr>
                                <a:rPr lang="en-US" altLang="zh-TW">
                                  <a:latin typeface="Cambria Math" panose="02040503050406030204" pitchFamily="18" charset="0"/>
                                </a:rPr>
                                <m:t>Ω</m:t>
                              </m:r>
                            </m:e>
                            <m:sub>
                              <m:r>
                                <a:rPr lang="en-US" altLang="zh-TW" b="0" i="1" smtClean="0">
                                  <a:latin typeface="Cambria Math" panose="02040503050406030204" pitchFamily="18" charset="0"/>
                                </a:rPr>
                                <m:t>𝑇</m:t>
                              </m:r>
                            </m:sub>
                          </m:sSub>
                        </m:sub>
                      </m:sSub>
                      <m:sSup>
                        <m:sSupPr>
                          <m:ctrlPr>
                            <a:rPr lang="en-US" altLang="zh-TW" i="1">
                              <a:latin typeface="Cambria Math" panose="02040503050406030204" pitchFamily="18" charset="0"/>
                            </a:rPr>
                          </m:ctrlPr>
                        </m:sSupPr>
                        <m:e>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i="1">
                                      <a:latin typeface="Cambria Math" panose="02040503050406030204" pitchFamily="18" charset="0"/>
                                    </a:rPr>
                                    <m:t>𝑝</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𝑒𝑛𝑑</m:t>
                                      </m:r>
                                    </m:sub>
                                  </m:sSub>
                                </m:sub>
                              </m:sSub>
                              <m:r>
                                <a:rPr lang="en-US" altLang="zh-TW" i="1">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𝑅</m:t>
                                  </m:r>
                                </m:e>
                                <m:sub>
                                  <m:r>
                                    <a:rPr lang="en-US" altLang="zh-TW" i="1">
                                      <a:latin typeface="Cambria Math" panose="02040503050406030204" pitchFamily="18" charset="0"/>
                                    </a:rPr>
                                    <m:t>𝑝</m:t>
                                  </m:r>
                                </m:sub>
                                <m:sup>
                                  <m:r>
                                    <a:rPr lang="en-US" altLang="zh-TW" i="1">
                                      <a:latin typeface="Cambria Math" panose="02040503050406030204" pitchFamily="18" charset="0"/>
                                    </a:rPr>
                                    <m:t>∗</m:t>
                                  </m:r>
                                </m:sup>
                              </m:sSubSup>
                            </m:e>
                          </m:d>
                        </m:e>
                        <m:sup>
                          <m:r>
                            <a:rPr lang="en-US" altLang="zh-TW">
                              <a:latin typeface="Cambria Math" panose="02040503050406030204" pitchFamily="18" charset="0"/>
                            </a:rPr>
                            <m:t>2</m:t>
                          </m:r>
                        </m:sup>
                      </m:sSup>
                      <m:r>
                        <a:rPr lang="en-US" altLang="zh-TW">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𝐷𝑜𝐶</m:t>
                              </m:r>
                            </m:sub>
                          </m:sSub>
                        </m:num>
                        <m:den>
                          <m:r>
                            <a:rPr lang="en-US" altLang="zh-TW" i="1">
                              <a:latin typeface="Cambria Math" panose="02040503050406030204" pitchFamily="18" charset="0"/>
                            </a:rPr>
                            <m:t>𝐻</m:t>
                          </m:r>
                        </m:den>
                      </m:f>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𝑡</m:t>
                          </m:r>
                          <m:r>
                            <m:rPr>
                              <m:brk m:alnAt="23"/>
                            </m:rPr>
                            <a:rPr lang="en-US" altLang="zh-TW" b="0" i="1" smtClean="0">
                              <a:latin typeface="Cambria Math" panose="02040503050406030204" pitchFamily="18" charset="0"/>
                            </a:rPr>
                            <m:t>=</m:t>
                          </m:r>
                          <m:r>
                            <m:rPr>
                              <m:brk m:alnAt="23"/>
                            </m:rPr>
                            <a:rPr lang="en-US" altLang="zh-TW" b="0" i="1" smtClean="0">
                              <a:latin typeface="Cambria Math" panose="02040503050406030204" pitchFamily="18" charset="0"/>
                            </a:rPr>
                            <m:t>1</m:t>
                          </m:r>
                        </m:sub>
                        <m:sup>
                          <m:r>
                            <a:rPr lang="en-US" altLang="zh-TW" b="0" i="1" smtClean="0">
                              <a:latin typeface="Cambria Math" panose="02040503050406030204" pitchFamily="18" charset="0"/>
                            </a:rPr>
                            <m:t>𝐻</m:t>
                          </m:r>
                        </m:sup>
                        <m:e>
                          <m:r>
                            <a:rPr lang="en-US" altLang="zh-TW">
                              <a:latin typeface="Cambria Math" panose="02040503050406030204" pitchFamily="18" charset="0"/>
                            </a:rPr>
                            <m:t>𝑚𝑒𝑎</m:t>
                          </m:r>
                          <m:sSub>
                            <m:sSubPr>
                              <m:ctrlPr>
                                <a:rPr lang="en-US" altLang="zh-TW">
                                  <a:latin typeface="Cambria Math" panose="02040503050406030204" pitchFamily="18" charset="0"/>
                                </a:rPr>
                              </m:ctrlPr>
                            </m:sSubPr>
                            <m:e>
                              <m:r>
                                <a:rPr lang="en-US" altLang="zh-TW">
                                  <a:latin typeface="Cambria Math" panose="02040503050406030204" pitchFamily="18" charset="0"/>
                                </a:rPr>
                                <m:t>𝑛</m:t>
                              </m:r>
                            </m:e>
                            <m:sub>
                              <m:sSub>
                                <m:sSubPr>
                                  <m:ctrlPr>
                                    <a:rPr lang="en-US" altLang="zh-TW">
                                      <a:latin typeface="Cambria Math" panose="02040503050406030204" pitchFamily="18" charset="0"/>
                                    </a:rPr>
                                  </m:ctrlPr>
                                </m:sSubPr>
                                <m:e>
                                  <m:r>
                                    <a:rPr lang="en-US" altLang="zh-TW">
                                      <a:latin typeface="Cambria Math" panose="02040503050406030204" pitchFamily="18" charset="0"/>
                                    </a:rPr>
                                    <m:t>𝑝</m:t>
                                  </m:r>
                                  <m:r>
                                    <a:rPr lang="en-US" altLang="zh-TW">
                                      <a:latin typeface="Cambria Math" panose="02040503050406030204" pitchFamily="18" charset="0"/>
                                    </a:rPr>
                                    <m:t>∈</m:t>
                                  </m:r>
                                  <m:r>
                                    <m:rPr>
                                      <m:sty m:val="p"/>
                                    </m:rPr>
                                    <a:rPr lang="en-US" altLang="zh-TW">
                                      <a:latin typeface="Cambria Math" panose="02040503050406030204" pitchFamily="18" charset="0"/>
                                    </a:rPr>
                                    <m:t>Ω</m:t>
                                  </m:r>
                                </m:e>
                                <m:sub>
                                  <m:r>
                                    <a:rPr lang="en-US" altLang="zh-TW" i="1">
                                      <a:latin typeface="Cambria Math" panose="02040503050406030204" pitchFamily="18" charset="0"/>
                                    </a:rPr>
                                    <m:t>𝑜𝑢𝑡</m:t>
                                  </m:r>
                                </m:sub>
                              </m:sSub>
                            </m:sub>
                          </m:sSub>
                          <m:sSup>
                            <m:sSupPr>
                              <m:ctrlPr>
                                <a:rPr lang="en-US" altLang="zh-TW" i="1">
                                  <a:latin typeface="Cambria Math" panose="02040503050406030204" pitchFamily="18" charset="0"/>
                                </a:rPr>
                              </m:ctrlPr>
                            </m:sSupPr>
                            <m:e>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i="1">
                                          <a:latin typeface="Cambria Math" panose="02040503050406030204" pitchFamily="18" charset="0"/>
                                        </a:rPr>
                                        <m:t>𝑝</m:t>
                                      </m:r>
                                      <m:r>
                                        <a:rPr lang="en-US" altLang="zh-TW" i="1">
                                          <a:latin typeface="Cambria Math" panose="02040503050406030204" pitchFamily="18" charset="0"/>
                                        </a:rPr>
                                        <m:t>,</m:t>
                                      </m:r>
                                      <m:r>
                                        <a:rPr lang="en-US" altLang="zh-TW" i="1">
                                          <a:latin typeface="Cambria Math" panose="02040503050406030204" pitchFamily="18" charset="0"/>
                                        </a:rPr>
                                        <m:t>𝑡</m:t>
                                      </m:r>
                                    </m:sub>
                                  </m:sSub>
                                </m:e>
                              </m:d>
                            </m:e>
                            <m:sup>
                              <m:r>
                                <a:rPr lang="en-US" altLang="zh-TW">
                                  <a:latin typeface="Cambria Math" panose="02040503050406030204" pitchFamily="18" charset="0"/>
                                </a:rPr>
                                <m:t>2</m:t>
                              </m:r>
                            </m:sup>
                          </m:sSup>
                        </m:e>
                      </m:nary>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𝜔</m:t>
                              </m:r>
                            </m:e>
                            <m: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𝑂</m:t>
                                  </m:r>
                                </m:e>
                                <m:sub>
                                  <m:r>
                                    <a:rPr lang="en-US" altLang="zh-TW" b="0" i="1" smtClean="0">
                                      <a:latin typeface="Cambria Math" panose="02040503050406030204" pitchFamily="18" charset="0"/>
                                    </a:rPr>
                                    <m:t>2</m:t>
                                  </m:r>
                                </m:sub>
                              </m:sSub>
                            </m:sub>
                          </m:sSub>
                        </m:num>
                        <m:den>
                          <m:r>
                            <a:rPr lang="en-US" altLang="zh-TW" b="0" i="1" smtClean="0">
                              <a:latin typeface="Cambria Math" panose="02040503050406030204" pitchFamily="18" charset="0"/>
                            </a:rPr>
                            <m:t>𝐻</m:t>
                          </m:r>
                        </m:den>
                      </m:f>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𝑡</m:t>
                          </m:r>
                          <m:r>
                            <m:rPr>
                              <m:brk m:alnAt="23"/>
                            </m:rPr>
                            <a:rPr lang="en-US" altLang="zh-TW" b="0" i="1" smtClean="0">
                              <a:latin typeface="Cambria Math" panose="02040503050406030204" pitchFamily="18" charset="0"/>
                            </a:rPr>
                            <m:t>=</m:t>
                          </m:r>
                          <m:r>
                            <m:rPr>
                              <m:brk m:alnAt="23"/>
                            </m:rPr>
                            <a:rPr lang="en-US" altLang="zh-TW" b="0" i="1" smtClean="0">
                              <a:latin typeface="Cambria Math" panose="02040503050406030204" pitchFamily="18" charset="0"/>
                            </a:rPr>
                            <m:t>1</m:t>
                          </m:r>
                        </m:sub>
                        <m:sup>
                          <m:r>
                            <a:rPr lang="en-US" altLang="zh-TW" b="0" i="1" smtClean="0">
                              <a:latin typeface="Cambria Math" panose="02040503050406030204" pitchFamily="18" charset="0"/>
                            </a:rPr>
                            <m:t>𝐻</m:t>
                          </m:r>
                        </m:sup>
                        <m:e>
                          <m:f>
                            <m:fPr>
                              <m:ctrlPr>
                                <a:rPr lang="en-US" altLang="zh-TW" i="1">
                                  <a:latin typeface="Cambria Math" panose="02040503050406030204" pitchFamily="18" charset="0"/>
                                </a:rPr>
                              </m:ctrlPr>
                            </m:fPr>
                            <m:num>
                              <m:nary>
                                <m:naryPr>
                                  <m:chr m:val="∑"/>
                                  <m:limLoc m:val="subSup"/>
                                  <m:supHide m:val="on"/>
                                  <m:ctrlPr>
                                    <a:rPr lang="en-US" altLang="zh-TW" i="1">
                                      <a:latin typeface="Cambria Math" panose="02040503050406030204" pitchFamily="18" charset="0"/>
                                    </a:rPr>
                                  </m:ctrlPr>
                                </m:naryPr>
                                <m:sub>
                                  <m:r>
                                    <m:rPr>
                                      <m:brk m:alnAt="9"/>
                                    </m:rPr>
                                    <a:rPr lang="en-US" altLang="zh-TW" i="1">
                                      <a:latin typeface="Cambria Math" panose="02040503050406030204" pitchFamily="18" charset="0"/>
                                    </a:rPr>
                                    <m:t>𝑝</m:t>
                                  </m:r>
                                  <m:r>
                                    <a:rPr lang="en-US" altLang="zh-TW" i="1">
                                      <a:latin typeface="Cambria Math" panose="02040503050406030204" pitchFamily="18" charset="0"/>
                                    </a:rPr>
                                    <m:t>∈</m:t>
                                  </m:r>
                                  <m:sSub>
                                    <m:sSubPr>
                                      <m:ctrlPr>
                                        <a:rPr lang="en-US" altLang="zh-TW">
                                          <a:latin typeface="Cambria Math" panose="02040503050406030204" pitchFamily="18" charset="0"/>
                                        </a:rPr>
                                      </m:ctrlPr>
                                    </m:sSubPr>
                                    <m:e>
                                      <m:r>
                                        <m:rPr>
                                          <m:sty m:val="p"/>
                                        </m:rPr>
                                        <a:rPr lang="en-US" altLang="zh-TW">
                                          <a:latin typeface="Cambria Math" panose="02040503050406030204" pitchFamily="18" charset="0"/>
                                        </a:rPr>
                                        <m:t>Ω</m:t>
                                      </m:r>
                                    </m:e>
                                    <m:sub>
                                      <m:r>
                                        <a:rPr lang="en-US" altLang="zh-TW" i="1">
                                          <a:latin typeface="Cambria Math" panose="02040503050406030204" pitchFamily="18" charset="0"/>
                                        </a:rPr>
                                        <m:t>𝑜𝑢𝑡</m:t>
                                      </m:r>
                                    </m:sub>
                                  </m:sSub>
                                </m:sub>
                                <m:sup/>
                                <m:e>
                                  <m:sSub>
                                    <m:sSubPr>
                                      <m:ctrlPr>
                                        <a:rPr lang="en-US"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i="1">
                                          <a:latin typeface="Cambria Math" panose="02040503050406030204" pitchFamily="18" charset="0"/>
                                        </a:rPr>
                                        <m:t>𝑝</m:t>
                                      </m:r>
                                    </m:sub>
                                  </m:sSub>
                                </m:e>
                              </m:nary>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𝑞</m:t>
                                  </m:r>
                                </m:e>
                                <m:sub>
                                  <m:r>
                                    <a:rPr lang="en-US" altLang="zh-TW" i="1">
                                      <a:latin typeface="Cambria Math" panose="02040503050406030204" pitchFamily="18" charset="0"/>
                                    </a:rPr>
                                    <m:t>𝑝</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sub>
                                <m:sup>
                                  <m:r>
                                    <a:rPr lang="en-US" altLang="zh-TW" i="1">
                                      <a:latin typeface="Cambria Math" panose="02040503050406030204" pitchFamily="18" charset="0"/>
                                    </a:rPr>
                                    <m:t>2</m:t>
                                  </m:r>
                                </m:sup>
                              </m:sSubSup>
                            </m:num>
                            <m:den>
                              <m:nary>
                                <m:naryPr>
                                  <m:chr m:val="∑"/>
                                  <m:limLoc m:val="subSup"/>
                                  <m:supHide m:val="on"/>
                                  <m:ctrlPr>
                                    <a:rPr lang="en-US" altLang="zh-TW" i="1">
                                      <a:latin typeface="Cambria Math" panose="02040503050406030204" pitchFamily="18" charset="0"/>
                                    </a:rPr>
                                  </m:ctrlPr>
                                </m:naryPr>
                                <m:sub>
                                  <m:r>
                                    <m:rPr>
                                      <m:brk m:alnAt="9"/>
                                    </m:rPr>
                                    <a:rPr lang="en-US" altLang="zh-TW" i="1">
                                      <a:latin typeface="Cambria Math" panose="02040503050406030204" pitchFamily="18" charset="0"/>
                                    </a:rPr>
                                    <m:t>𝑝</m:t>
                                  </m:r>
                                  <m:r>
                                    <a:rPr lang="en-US" altLang="zh-TW" i="1">
                                      <a:latin typeface="Cambria Math" panose="02040503050406030204" pitchFamily="18" charset="0"/>
                                    </a:rPr>
                                    <m:t>∈</m:t>
                                  </m:r>
                                  <m:sSub>
                                    <m:sSubPr>
                                      <m:ctrlPr>
                                        <a:rPr lang="en-US" altLang="zh-TW">
                                          <a:latin typeface="Cambria Math" panose="02040503050406030204" pitchFamily="18" charset="0"/>
                                        </a:rPr>
                                      </m:ctrlPr>
                                    </m:sSubPr>
                                    <m:e>
                                      <m:r>
                                        <m:rPr>
                                          <m:sty m:val="p"/>
                                        </m:rPr>
                                        <a:rPr lang="en-US" altLang="zh-TW">
                                          <a:latin typeface="Cambria Math" panose="02040503050406030204" pitchFamily="18" charset="0"/>
                                        </a:rPr>
                                        <m:t>Ω</m:t>
                                      </m:r>
                                    </m:e>
                                    <m:sub>
                                      <m:r>
                                        <a:rPr lang="en-US" altLang="zh-TW" i="1">
                                          <a:latin typeface="Cambria Math" panose="02040503050406030204" pitchFamily="18" charset="0"/>
                                        </a:rPr>
                                        <m:t>𝑜𝑢𝑡</m:t>
                                      </m:r>
                                    </m:sub>
                                  </m:sSub>
                                </m:sub>
                                <m:sup/>
                                <m:e>
                                  <m:sSub>
                                    <m:sSubPr>
                                      <m:ctrlPr>
                                        <a:rPr lang="en-US"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i="1">
                                          <a:latin typeface="Cambria Math" panose="02040503050406030204" pitchFamily="18" charset="0"/>
                                        </a:rPr>
                                        <m:t>𝑝</m:t>
                                      </m:r>
                                    </m:sub>
                                  </m:sSub>
                                </m:e>
                              </m:nary>
                            </m:den>
                          </m:f>
                        </m:e>
                      </m:nary>
                    </m:oMath>
                  </m:oMathPara>
                </a14:m>
                <a:endParaRPr lang="en-US" altLang="zh-TW" dirty="0"/>
              </a:p>
              <a:p>
                <a:pPr marL="0" indent="0">
                  <a:buNone/>
                </a:pPr>
                <a:r>
                  <a:rPr lang="en-US" altLang="zh-TW" dirty="0"/>
                  <a:t>where</a:t>
                </a:r>
              </a:p>
              <a:p>
                <a:pPr marL="0" indent="0" algn="ctr">
                  <a:buNone/>
                </a:pP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𝑞</m:t>
                        </m:r>
                      </m:e>
                      <m:sub>
                        <m:r>
                          <a:rPr lang="en-US" altLang="zh-TW" i="1">
                            <a:latin typeface="Cambria Math" panose="02040503050406030204" pitchFamily="18" charset="0"/>
                          </a:rPr>
                          <m:t>𝑝</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sub>
                      <m:sup>
                        <m:r>
                          <a:rPr lang="en-US" altLang="zh-TW" i="1">
                            <a:latin typeface="Cambria Math" panose="02040503050406030204" pitchFamily="18" charset="0"/>
                          </a:rPr>
                          <m:t>2</m:t>
                        </m:r>
                      </m:sup>
                    </m:sSub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𝑂</m:t>
                                    </m:r>
                                  </m:e>
                                  <m:sub>
                                    <m:r>
                                      <a:rPr lang="en-US" altLang="zh-TW" b="0" i="1" smtClean="0">
                                        <a:latin typeface="Cambria Math" panose="02040503050406030204" pitchFamily="18" charset="0"/>
                                      </a:rPr>
                                      <m:t>2,</m:t>
                                    </m:r>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𝑡</m:t>
                                </m:r>
                                <m:r>
                                  <a:rPr lang="en-US" altLang="zh-TW" b="0" i="1" smtClean="0">
                                    <a:latin typeface="Cambria Math" panose="02040503050406030204" pitchFamily="18" charset="0"/>
                                  </a:rPr>
                                  <m:t>)</m:t>
                                </m:r>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𝑂</m:t>
                                    </m:r>
                                  </m:e>
                                  <m:sub>
                                    <m:r>
                                      <a:rPr lang="en-US" altLang="zh-TW" i="1">
                                        <a:latin typeface="Cambria Math" panose="02040503050406030204" pitchFamily="18" charset="0"/>
                                      </a:rPr>
                                      <m:t>2,</m:t>
                                    </m:r>
                                    <m:r>
                                      <a:rPr lang="en-US" altLang="zh-TW" i="1">
                                        <a:latin typeface="Cambria Math" panose="02040503050406030204" pitchFamily="18" charset="0"/>
                                      </a:rPr>
                                      <m:t>𝑝</m:t>
                                    </m:r>
                                  </m:sub>
                                </m:sSub>
                                <m:r>
                                  <a:rPr lang="en-US" altLang="zh-TW" i="1">
                                    <a:latin typeface="Cambria Math" panose="02040503050406030204" pitchFamily="18" charset="0"/>
                                  </a:rPr>
                                  <m:t>(</m:t>
                                </m:r>
                                <m:r>
                                  <a:rPr lang="en-US" altLang="zh-TW" b="0" i="1" smtClean="0">
                                    <a:latin typeface="Cambria Math" panose="02040503050406030204" pitchFamily="18" charset="0"/>
                                  </a:rPr>
                                  <m:t>0</m:t>
                                </m:r>
                                <m:r>
                                  <a:rPr lang="en-US" altLang="zh-TW" i="1">
                                    <a:latin typeface="Cambria Math" panose="02040503050406030204" pitchFamily="18" charset="0"/>
                                  </a:rPr>
                                  <m:t>)</m:t>
                                </m:r>
                              </m:den>
                            </m:f>
                          </m:e>
                        </m:d>
                      </m:e>
                      <m:sup>
                        <m:r>
                          <a:rPr lang="en-US" altLang="zh-TW" b="0" i="1" smtClean="0">
                            <a:latin typeface="Cambria Math" panose="02040503050406030204" pitchFamily="18" charset="0"/>
                          </a:rPr>
                          <m:t>2</m:t>
                        </m:r>
                      </m:sup>
                    </m:sSup>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i="1">
                            <a:latin typeface="Cambria Math" panose="02040503050406030204" pitchFamily="18" charset="0"/>
                          </a:rPr>
                          <m:t>𝑝</m:t>
                        </m:r>
                      </m:sub>
                    </m:sSub>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exp</m:t>
                    </m:r>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𝑑</m:t>
                            </m:r>
                          </m:e>
                          <m:sub>
                            <m:r>
                              <a:rPr lang="en-US" altLang="zh-TW" b="0" i="1" smtClean="0">
                                <a:latin typeface="Cambria Math" panose="02040503050406030204" pitchFamily="18" charset="0"/>
                              </a:rPr>
                              <m:t>𝑝</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𝐿</m:t>
                            </m:r>
                          </m:e>
                          <m:sub>
                            <m:r>
                              <a:rPr lang="en-US" altLang="zh-TW" b="0" i="1" smtClean="0">
                                <a:latin typeface="Cambria Math" panose="02040503050406030204" pitchFamily="18" charset="0"/>
                              </a:rPr>
                              <m:t>𝑜𝑝𝑡</m:t>
                            </m:r>
                          </m:sub>
                        </m:sSub>
                      </m:den>
                    </m:f>
                    <m:r>
                      <a:rPr lang="en-US" altLang="zh-TW" b="0" i="1" smtClean="0">
                        <a:latin typeface="Cambria Math" panose="02040503050406030204" pitchFamily="18" charset="0"/>
                      </a:rPr>
                      <m:t>)</m:t>
                    </m:r>
                  </m:oMath>
                </a14:m>
                <a:endParaRPr lang="en-US" altLang="zh-TW" dirty="0"/>
              </a:p>
              <a:p>
                <a:pPr marL="0" indent="0">
                  <a:buNone/>
                </a:pP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𝑑</m:t>
                        </m:r>
                      </m:e>
                      <m:sub>
                        <m:r>
                          <a:rPr lang="en-US" altLang="zh-TW" i="1">
                            <a:latin typeface="Cambria Math" panose="02040503050406030204" pitchFamily="18" charset="0"/>
                          </a:rPr>
                          <m:t>𝑝</m:t>
                        </m:r>
                      </m:sub>
                    </m:sSub>
                  </m:oMath>
                </a14:m>
                <a:r>
                  <a:rPr lang="zh-TW" altLang="en-US" dirty="0"/>
                  <a:t> </a:t>
                </a:r>
                <a:r>
                  <a:rPr lang="en-US" altLang="zh-TW" dirty="0"/>
                  <a:t>is the distance from that outside pixel to the nearest target boundary, i.e., </a:t>
                </a:r>
              </a:p>
              <a:p>
                <a:pPr marL="0" indent="0">
                  <a:buNone/>
                </a:pPr>
                <a14:m>
                  <m:oMathPara xmlns:m="http://schemas.openxmlformats.org/officeDocument/2006/math">
                    <m:oMathParaPr>
                      <m:jc m:val="left"/>
                    </m:oMathParaPr>
                    <m:o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𝑑</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func>
                            <m:funcPr>
                              <m:ctrlPr>
                                <a:rPr lang="en-US" altLang="zh-TW" b="0" i="1" smtClean="0">
                                  <a:latin typeface="Cambria Math" panose="02040503050406030204" pitchFamily="18" charset="0"/>
                                </a:rPr>
                              </m:ctrlPr>
                            </m:funcPr>
                            <m:fName>
                              <m:limLow>
                                <m:limLowPr>
                                  <m:ctrlPr>
                                    <a:rPr lang="en-US" altLang="zh-TW" b="0" i="0" smtClean="0">
                                      <a:latin typeface="Cambria Math" panose="02040503050406030204" pitchFamily="18" charset="0"/>
                                    </a:rPr>
                                  </m:ctrlPr>
                                </m:limLowPr>
                                <m:e>
                                  <m:r>
                                    <m:rPr>
                                      <m:sty m:val="p"/>
                                    </m:rPr>
                                    <a:rPr lang="en-US" altLang="zh-TW" b="0" i="0" smtClean="0">
                                      <a:latin typeface="Cambria Math" panose="02040503050406030204" pitchFamily="18" charset="0"/>
                                    </a:rPr>
                                    <m:t>min</m:t>
                                  </m:r>
                                </m:e>
                                <m:lim>
                                  <m:r>
                                    <a:rPr lang="en-US" altLang="zh-TW" b="0" i="1" smtClean="0">
                                      <a:latin typeface="Cambria Math" panose="02040503050406030204" pitchFamily="18" charset="0"/>
                                    </a:rPr>
                                    <m:t>𝑞</m:t>
                                  </m:r>
                                  <m:r>
                                    <a:rPr lang="en-US" altLang="zh-TW" b="0" i="1" smtClean="0">
                                      <a:latin typeface="Cambria Math" panose="02040503050406030204" pitchFamily="18" charset="0"/>
                                    </a:rPr>
                                    <m:t>∈</m:t>
                                  </m:r>
                                  <m:sSub>
                                    <m:sSubPr>
                                      <m:ctrlPr>
                                        <a:rPr lang="en-US" altLang="zh-TW" b="0" i="0" smtClean="0">
                                          <a:latin typeface="Cambria Math" panose="02040503050406030204" pitchFamily="18" charset="0"/>
                                        </a:rPr>
                                      </m:ctrlPr>
                                    </m:sSubPr>
                                    <m:e>
                                      <m:r>
                                        <m:rPr>
                                          <m:sty m:val="p"/>
                                        </m:rPr>
                                        <a:rPr lang="en-US" altLang="zh-TW" b="0" i="0" smtClean="0">
                                          <a:latin typeface="Cambria Math" panose="02040503050406030204" pitchFamily="18" charset="0"/>
                                        </a:rPr>
                                        <m:t>Ω</m:t>
                                      </m:r>
                                    </m:e>
                                    <m:sub>
                                      <m:r>
                                        <a:rPr lang="en-US" altLang="zh-TW" b="0" i="1" smtClean="0">
                                          <a:latin typeface="Cambria Math" panose="02040503050406030204" pitchFamily="18" charset="0"/>
                                        </a:rPr>
                                        <m:t>𝑖𝑛</m:t>
                                      </m:r>
                                    </m:sub>
                                  </m:sSub>
                                </m:lim>
                              </m:limLow>
                            </m:fName>
                            <m:e>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𝑝</m:t>
                                  </m:r>
                                  <m:r>
                                    <a:rPr lang="en-US" altLang="zh-TW" b="0" i="1" smtClean="0">
                                      <a:latin typeface="Cambria Math" panose="02040503050406030204" pitchFamily="18" charset="0"/>
                                    </a:rPr>
                                    <m:t>−</m:t>
                                  </m:r>
                                  <m:r>
                                    <a:rPr lang="en-US" altLang="zh-TW" b="0" i="1" smtClean="0">
                                      <a:latin typeface="Cambria Math" panose="02040503050406030204" pitchFamily="18" charset="0"/>
                                    </a:rPr>
                                    <m:t>𝑞</m:t>
                                  </m:r>
                                </m:e>
                              </m:d>
                            </m:e>
                          </m:func>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
                        <a:rPr lang="en-US" altLang="zh-TW" i="1">
                          <a:latin typeface="Cambria Math" panose="02040503050406030204" pitchFamily="18" charset="0"/>
                        </a:rPr>
                        <m:t>𝑝</m:t>
                      </m:r>
                      <m:r>
                        <a:rPr lang="en-US" altLang="zh-TW" i="1">
                          <a:latin typeface="Cambria Math" panose="02040503050406030204" pitchFamily="18" charset="0"/>
                        </a:rPr>
                        <m:t>∈</m:t>
                      </m:r>
                      <m:sSub>
                        <m:sSubPr>
                          <m:ctrlPr>
                            <a:rPr lang="en-US" altLang="zh-TW">
                              <a:latin typeface="Cambria Math" panose="02040503050406030204" pitchFamily="18" charset="0"/>
                            </a:rPr>
                          </m:ctrlPr>
                        </m:sSubPr>
                        <m:e>
                          <m:r>
                            <m:rPr>
                              <m:sty m:val="p"/>
                            </m:rPr>
                            <a:rPr lang="en-US" altLang="zh-TW">
                              <a:latin typeface="Cambria Math" panose="02040503050406030204" pitchFamily="18" charset="0"/>
                            </a:rPr>
                            <m:t>Ω</m:t>
                          </m:r>
                        </m:e>
                        <m:sub>
                          <m:r>
                            <a:rPr lang="en-US" altLang="zh-TW" i="1">
                              <a:latin typeface="Cambria Math" panose="02040503050406030204" pitchFamily="18" charset="0"/>
                            </a:rPr>
                            <m:t>𝑂𝑢𝑡</m:t>
                          </m:r>
                        </m:sub>
                      </m:sSub>
                    </m:oMath>
                  </m:oMathPara>
                </a14:m>
                <a:endParaRPr lang="en-US" altLang="zh-TW" dirty="0"/>
              </a:p>
              <a:p>
                <a:pPr marL="0" indent="0">
                  <a:buNone/>
                </a:pP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𝐿</m:t>
                        </m:r>
                      </m:e>
                      <m:sub>
                        <m:r>
                          <a:rPr lang="en-US" altLang="zh-TW" i="1">
                            <a:latin typeface="Cambria Math" panose="02040503050406030204" pitchFamily="18" charset="0"/>
                          </a:rPr>
                          <m:t>𝑜𝑝𝑡</m:t>
                        </m:r>
                      </m:sub>
                    </m:sSub>
                  </m:oMath>
                </a14:m>
                <a:r>
                  <a:rPr lang="en-US" altLang="zh-TW" dirty="0"/>
                  <a:t> is derived from the existing optical scattering length in the forward model. </a:t>
                </a:r>
              </a:p>
              <a:p>
                <a:pPr marL="0" indent="0">
                  <a:buNone/>
                </a:pPr>
                <a14:m>
                  <m:oMath xmlns:m="http://schemas.openxmlformats.org/officeDocument/2006/math">
                    <m:r>
                      <a:rPr lang="en-US" altLang="zh-TW" i="1">
                        <a:latin typeface="Cambria Math" panose="02040503050406030204" pitchFamily="18" charset="0"/>
                      </a:rPr>
                      <m:t>𝐻</m:t>
                    </m:r>
                  </m:oMath>
                </a14:m>
                <a:r>
                  <a:rPr lang="en-US" altLang="zh-TW" dirty="0"/>
                  <a:t> is the prediction horizon.</a:t>
                </a:r>
              </a:p>
              <a:p>
                <a:pPr marL="0" indent="0">
                  <a:buNone/>
                </a:pPr>
                <a:r>
                  <a:rPr lang="en-US" altLang="zh-TW"/>
                  <a:t>We want:</a:t>
                </a:r>
                <a:endParaRPr lang="en-US" altLang="zh-TW" dirty="0"/>
              </a:p>
              <a:p>
                <a:pPr marL="514350" indent="-514350">
                  <a:buFont typeface="+mj-lt"/>
                  <a:buAutoNum type="arabicPeriod"/>
                </a:pPr>
                <a:r>
                  <a:rPr lang="en-US" altLang="zh-TW" dirty="0"/>
                  <a:t>Target area is sensitive to gradients</a:t>
                </a:r>
              </a:p>
              <a:p>
                <a:pPr marL="514350" indent="-514350">
                  <a:buFont typeface="+mj-lt"/>
                  <a:buAutoNum type="arabicPeriod"/>
                </a:pPr>
                <a:r>
                  <a:rPr lang="en-US" altLang="zh-TW" dirty="0"/>
                  <a:t>Outside are is less sensitive to gradients</a:t>
                </a:r>
              </a:p>
              <a:p>
                <a:pPr marL="514350" indent="-514350">
                  <a:buFont typeface="+mj-lt"/>
                  <a:buAutoNum type="arabicPeriod"/>
                </a:pPr>
                <a:r>
                  <a:rPr lang="en-US" altLang="zh-TW" dirty="0"/>
                  <a:t>Outside area is also protected by the weighted mean of oxygen. </a:t>
                </a:r>
              </a:p>
              <a:p>
                <a:pPr marL="0" indent="0">
                  <a:buNone/>
                </a:pPr>
                <a:endParaRPr lang="zh-TW" altLang="en-US" dirty="0"/>
              </a:p>
            </p:txBody>
          </p:sp>
        </mc:Choice>
        <mc:Fallback xmlns="">
          <p:sp>
            <p:nvSpPr>
              <p:cNvPr id="3" name="Content Placeholder 2">
                <a:extLst>
                  <a:ext uri="{FF2B5EF4-FFF2-40B4-BE49-F238E27FC236}">
                    <a16:creationId xmlns:a16="http://schemas.microsoft.com/office/drawing/2014/main" id="{3B87CDEC-C152-3F1B-57C9-8E977C3346EF}"/>
                  </a:ext>
                </a:extLst>
              </p:cNvPr>
              <p:cNvSpPr>
                <a:spLocks noGrp="1" noRot="1" noChangeAspect="1" noMove="1" noResize="1" noEditPoints="1" noAdjustHandles="1" noChangeArrowheads="1" noChangeShapeType="1" noTextEdit="1"/>
              </p:cNvSpPr>
              <p:nvPr>
                <p:ph idx="1"/>
              </p:nvPr>
            </p:nvSpPr>
            <p:spPr>
              <a:blipFill>
                <a:blip r:embed="rId2"/>
                <a:stretch>
                  <a:fillRect l="-732"/>
                </a:stretch>
              </a:blipFill>
            </p:spPr>
            <p:txBody>
              <a:bodyPr/>
              <a:lstStyle/>
              <a:p>
                <a:r>
                  <a:rPr lang="zh-TW" altLang="en-US">
                    <a:noFill/>
                  </a:rPr>
                  <a:t> </a:t>
                </a:r>
              </a:p>
            </p:txBody>
          </p:sp>
        </mc:Fallback>
      </mc:AlternateContent>
      <p:sp>
        <p:nvSpPr>
          <p:cNvPr id="4" name="Slide Number Placeholder 3">
            <a:extLst>
              <a:ext uri="{FF2B5EF4-FFF2-40B4-BE49-F238E27FC236}">
                <a16:creationId xmlns:a16="http://schemas.microsoft.com/office/drawing/2014/main" id="{29CED8BE-6620-680A-6CFC-C63CE75B5D0C}"/>
              </a:ext>
            </a:extLst>
          </p:cNvPr>
          <p:cNvSpPr>
            <a:spLocks noGrp="1"/>
          </p:cNvSpPr>
          <p:nvPr>
            <p:ph type="sldNum" sz="quarter" idx="12"/>
          </p:nvPr>
        </p:nvSpPr>
        <p:spPr/>
        <p:txBody>
          <a:bodyPr/>
          <a:lstStyle/>
          <a:p>
            <a:fld id="{5A741E56-E3D9-46FF-B47D-3FCBEAE97EB2}" type="slidenum">
              <a:rPr lang="en-US" smtClean="0"/>
              <a:pPr/>
              <a:t>33</a:t>
            </a:fld>
            <a:endParaRPr lang="en-US" dirty="0"/>
          </a:p>
        </p:txBody>
      </p:sp>
      <p:sp>
        <p:nvSpPr>
          <p:cNvPr id="5" name="Footer Placeholder 4">
            <a:extLst>
              <a:ext uri="{FF2B5EF4-FFF2-40B4-BE49-F238E27FC236}">
                <a16:creationId xmlns:a16="http://schemas.microsoft.com/office/drawing/2014/main" id="{1D7CFC0C-125E-75CC-10B7-579EA0A97801}"/>
              </a:ext>
            </a:extLst>
          </p:cNvPr>
          <p:cNvSpPr>
            <a:spLocks noGrp="1"/>
          </p:cNvSpPr>
          <p:nvPr>
            <p:ph type="ftr" sz="quarter" idx="11"/>
          </p:nvPr>
        </p:nvSpPr>
        <p:spPr/>
        <p:txBody>
          <a:bodyPr/>
          <a:lstStyle/>
          <a:p>
            <a:r>
              <a:rPr lang="en-US"/>
              <a:t>Nanoscale Design and Manufacturing Laboratory</a:t>
            </a:r>
            <a:endParaRPr lang="en-US" dirty="0"/>
          </a:p>
        </p:txBody>
      </p:sp>
      <p:sp>
        <p:nvSpPr>
          <p:cNvPr id="6" name="Date Placeholder 5">
            <a:extLst>
              <a:ext uri="{FF2B5EF4-FFF2-40B4-BE49-F238E27FC236}">
                <a16:creationId xmlns:a16="http://schemas.microsoft.com/office/drawing/2014/main" id="{9FD20C36-8AEF-EBBE-5A30-4FCD7A936186}"/>
              </a:ext>
            </a:extLst>
          </p:cNvPr>
          <p:cNvSpPr>
            <a:spLocks noGrp="1"/>
          </p:cNvSpPr>
          <p:nvPr>
            <p:ph type="dt" sz="half" idx="10"/>
          </p:nvPr>
        </p:nvSpPr>
        <p:spPr/>
        <p:txBody>
          <a:bodyPr/>
          <a:lstStyle/>
          <a:p>
            <a:fld id="{E4965A3C-7C44-491F-A2CC-585294ABE301}" type="datetime1">
              <a:rPr lang="en-US" smtClean="0"/>
              <a:t>9/24/26</a:t>
            </a:fld>
            <a:endParaRPr lang="en-US" dirty="0"/>
          </a:p>
        </p:txBody>
      </p:sp>
    </p:spTree>
    <p:extLst>
      <p:ext uri="{BB962C8B-B14F-4D97-AF65-F5344CB8AC3E}">
        <p14:creationId xmlns:p14="http://schemas.microsoft.com/office/powerpoint/2010/main" val="2312512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34194"/>
            <a:ext cx="10515600" cy="1640855"/>
          </a:xfrm>
        </p:spPr>
        <p:txBody>
          <a:bodyPr/>
          <a:lstStyle/>
          <a:p>
            <a:r>
              <a:rPr lang="en-US" dirty="0"/>
              <a:t>Thank you!</a:t>
            </a:r>
            <a:br>
              <a:rPr lang="en-US" dirty="0"/>
            </a:br>
            <a:r>
              <a:rPr lang="en-US" dirty="0"/>
              <a:t>Q &amp; A</a:t>
            </a:r>
          </a:p>
        </p:txBody>
      </p:sp>
      <p:sp>
        <p:nvSpPr>
          <p:cNvPr id="3" name="Text Placeholder 2"/>
          <p:cNvSpPr>
            <a:spLocks noGrp="1"/>
          </p:cNvSpPr>
          <p:nvPr>
            <p:ph type="body" idx="1"/>
          </p:nvPr>
        </p:nvSpPr>
        <p:spPr>
          <a:xfrm>
            <a:off x="838200" y="3858322"/>
            <a:ext cx="10515600" cy="652346"/>
          </a:xfrm>
        </p:spPr>
        <p:txBody>
          <a:bodyPr>
            <a:normAutofit lnSpcReduction="10000"/>
          </a:bodyPr>
          <a:lstStyle/>
          <a:p>
            <a:r>
              <a:rPr lang="en-US" dirty="0">
                <a:hlinkClick r:id="rId2"/>
              </a:rPr>
              <a:t>dshui@utexas.edu</a:t>
            </a:r>
            <a:endParaRPr lang="en-US" dirty="0"/>
          </a:p>
        </p:txBody>
      </p:sp>
    </p:spTree>
    <p:extLst>
      <p:ext uri="{BB962C8B-B14F-4D97-AF65-F5344CB8AC3E}">
        <p14:creationId xmlns:p14="http://schemas.microsoft.com/office/powerpoint/2010/main" val="38897538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50984</TotalTime>
  <Words>3134</Words>
  <Application>Microsoft Macintosh PowerPoint</Application>
  <PresentationFormat>Widescreen</PresentationFormat>
  <Paragraphs>561</Paragraphs>
  <Slides>34</Slides>
  <Notes>13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Palatino Linotype</vt:lpstr>
      <vt:lpstr>Calibri Light</vt:lpstr>
      <vt:lpstr>Calibri</vt:lpstr>
      <vt:lpstr>Arial</vt:lpstr>
      <vt:lpstr>Cambria Math</vt:lpstr>
      <vt:lpstr>Office Theme</vt:lpstr>
      <vt:lpstr>PowerPoint Presentation</vt:lpstr>
      <vt:lpstr>DLP Challenge</vt:lpstr>
      <vt:lpstr>Outline</vt:lpstr>
      <vt:lpstr>Offline Optimization Overview</vt:lpstr>
      <vt:lpstr>Inverse Design</vt:lpstr>
      <vt:lpstr>Offline Optimization (Open Loop Control)</vt:lpstr>
      <vt:lpstr>Offline Optimization (Open Loop Control)</vt:lpstr>
      <vt:lpstr>Online Optimization and Control Overview</vt:lpstr>
      <vt:lpstr>Classical Feedback Control for Cured Height Regulation [1]</vt:lpstr>
      <vt:lpstr>Sequential Mask Optimization</vt:lpstr>
      <vt:lpstr>Can Our Cure Model Enable Sequential Optimization?</vt:lpstr>
      <vt:lpstr>Implementation Challenges for Real-Time Control</vt:lpstr>
      <vt:lpstr>08/27/2026</vt:lpstr>
      <vt:lpstr>Nonlinear MPC </vt:lpstr>
      <vt:lpstr>70 mW / 0 mM Tempo for Lines</vt:lpstr>
      <vt:lpstr>70 mW / 0 mM Tempo for Lines</vt:lpstr>
      <vt:lpstr>1. Smaller Control Step</vt:lpstr>
      <vt:lpstr>1. Smaller Control Step</vt:lpstr>
      <vt:lpstr>1. Comparison@ t = 3.5 sec</vt:lpstr>
      <vt:lpstr>1. Comparison@ t = 3.5 sec</vt:lpstr>
      <vt:lpstr>1. Smaller Control Step</vt:lpstr>
      <vt:lpstr>Next Step</vt:lpstr>
      <vt:lpstr>09/10/2026</vt:lpstr>
      <vt:lpstr>MPC Initialization &amp; Convergence Issues</vt:lpstr>
      <vt:lpstr>MPC Iterations Analysis</vt:lpstr>
      <vt:lpstr>MPC Iterations Analysis</vt:lpstr>
      <vt:lpstr>MPC Iterations Analysis</vt:lpstr>
      <vt:lpstr>Longer DoC Target</vt:lpstr>
      <vt:lpstr>Longer DoC Target</vt:lpstr>
      <vt:lpstr>Optimize Reaction Progress instead of DoC</vt:lpstr>
      <vt:lpstr>Snowflake Hollow</vt:lpstr>
      <vt:lpstr>Comments</vt:lpstr>
      <vt:lpstr>New Loss Function</vt:lpstr>
      <vt:lpstr>Thank you! 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Michael Cullinan</dc:creator>
  <cp:lastModifiedBy>Shui, Hsiu-Tsu (David)</cp:lastModifiedBy>
  <cp:revision>269</cp:revision>
  <dcterms:created xsi:type="dcterms:W3CDTF">2015-05-11T16:30:24Z</dcterms:created>
  <dcterms:modified xsi:type="dcterms:W3CDTF">2026-09-24T19:44:39Z</dcterms:modified>
</cp:coreProperties>
</file>