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7"/>
  </p:notesMasterIdLst>
  <p:sldIdLst>
    <p:sldId id="366" r:id="rId2"/>
    <p:sldId id="371" r:id="rId3"/>
    <p:sldId id="367" r:id="rId4"/>
    <p:sldId id="372" r:id="rId5"/>
    <p:sldId id="368" r:id="rId6"/>
    <p:sldId id="373" r:id="rId7"/>
    <p:sldId id="375" r:id="rId8"/>
    <p:sldId id="377" r:id="rId9"/>
    <p:sldId id="379" r:id="rId10"/>
    <p:sldId id="369" r:id="rId11"/>
    <p:sldId id="380" r:id="rId12"/>
    <p:sldId id="381" r:id="rId13"/>
    <p:sldId id="382" r:id="rId14"/>
    <p:sldId id="383" r:id="rId15"/>
    <p:sldId id="378" r:id="rId16"/>
  </p:sldIdLst>
  <p:sldSz cx="12192000" cy="6858000"/>
  <p:notesSz cx="6858000" cy="9144000"/>
  <p:embeddedFontLst>
    <p:embeddedFont>
      <p:font typeface="Cambria Math" panose="02040503050406030204" pitchFamily="18" charset="0"/>
      <p:regular r:id="rId18"/>
    </p:embeddedFont>
    <p:embeddedFont>
      <p:font typeface="Palatino Linotype" panose="02040502050505030304" pitchFamily="18" charset="0"/>
      <p:regular r:id="rId19"/>
      <p:bold r:id="rId20"/>
      <p:italic r:id="rId21"/>
      <p:boldItalic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5700"/>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89E954-A92E-4BA1-A6C8-062787BC955B}" v="853" dt="2026-05-05T23:30:16.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93" autoAdjust="0"/>
    <p:restoredTop sz="96260" autoAdjust="0"/>
  </p:normalViewPr>
  <p:slideViewPr>
    <p:cSldViewPr snapToGrid="0">
      <p:cViewPr varScale="1">
        <p:scale>
          <a:sx n="106" d="100"/>
          <a:sy n="106" d="100"/>
        </p:scale>
        <p:origin x="738" y="12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3" d="100"/>
          <a:sy n="53" d="100"/>
        </p:scale>
        <p:origin x="1796" y="5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d shui" userId="b4cba2b4491b0052" providerId="LiveId" clId="{C905F96E-58DC-4B64-B215-254CA906E9D0}"/>
    <pc:docChg chg="undo custSel addSld delSld modSld sldOrd">
      <pc:chgData name="david shui" userId="b4cba2b4491b0052" providerId="LiveId" clId="{C905F96E-58DC-4B64-B215-254CA906E9D0}" dt="2026-05-05T23:33:44.761" v="2772" actId="20577"/>
      <pc:docMkLst>
        <pc:docMk/>
      </pc:docMkLst>
      <pc:sldChg chg="delSp modSp mod">
        <pc:chgData name="david shui" userId="b4cba2b4491b0052" providerId="LiveId" clId="{C905F96E-58DC-4B64-B215-254CA906E9D0}" dt="2026-04-22T23:52:44.598" v="374" actId="20577"/>
        <pc:sldMkLst>
          <pc:docMk/>
          <pc:sldMk cId="2587768494" sldId="347"/>
        </pc:sldMkLst>
        <pc:spChg chg="mod">
          <ac:chgData name="david shui" userId="b4cba2b4491b0052" providerId="LiveId" clId="{C905F96E-58DC-4B64-B215-254CA906E9D0}" dt="2026-04-22T23:52:44.598" v="374" actId="20577"/>
          <ac:spMkLst>
            <pc:docMk/>
            <pc:sldMk cId="2587768494" sldId="347"/>
            <ac:spMk id="4" creationId="{00000000-0000-0000-0000-000000000000}"/>
          </ac:spMkLst>
        </pc:spChg>
        <pc:spChg chg="mod">
          <ac:chgData name="david shui" userId="b4cba2b4491b0052" providerId="LiveId" clId="{C905F96E-58DC-4B64-B215-254CA906E9D0}" dt="2026-04-22T17:54:03.700" v="21" actId="1076"/>
          <ac:spMkLst>
            <pc:docMk/>
            <pc:sldMk cId="2587768494" sldId="347"/>
            <ac:spMk id="7" creationId="{00000000-0000-0000-0000-000000000000}"/>
          </ac:spMkLst>
        </pc:spChg>
        <pc:picChg chg="mod">
          <ac:chgData name="david shui" userId="b4cba2b4491b0052" providerId="LiveId" clId="{C905F96E-58DC-4B64-B215-254CA906E9D0}" dt="2026-04-22T17:53:57.279" v="20" actId="1076"/>
          <ac:picMkLst>
            <pc:docMk/>
            <pc:sldMk cId="2587768494" sldId="347"/>
            <ac:picMk id="25" creationId="{00000000-0000-0000-0000-000000000000}"/>
          </ac:picMkLst>
        </pc:picChg>
      </pc:sldChg>
      <pc:sldChg chg="addSp delSp modSp mod delAnim">
        <pc:chgData name="david shui" userId="b4cba2b4491b0052" providerId="LiveId" clId="{C905F96E-58DC-4B64-B215-254CA906E9D0}" dt="2026-04-23T01:26:16.401" v="2548" actId="20577"/>
        <pc:sldMkLst>
          <pc:docMk/>
          <pc:sldMk cId="1322538276" sldId="349"/>
        </pc:sldMkLst>
        <pc:spChg chg="mod">
          <ac:chgData name="david shui" userId="b4cba2b4491b0052" providerId="LiveId" clId="{C905F96E-58DC-4B64-B215-254CA906E9D0}" dt="2026-04-22T23:42:24.317" v="126" actId="20577"/>
          <ac:spMkLst>
            <pc:docMk/>
            <pc:sldMk cId="1322538276" sldId="349"/>
            <ac:spMk id="2" creationId="{00000000-0000-0000-0000-000000000000}"/>
          </ac:spMkLst>
        </pc:spChg>
        <pc:spChg chg="add mod">
          <ac:chgData name="david shui" userId="b4cba2b4491b0052" providerId="LiveId" clId="{C905F96E-58DC-4B64-B215-254CA906E9D0}" dt="2026-04-22T23:46:09.107" v="140" actId="1076"/>
          <ac:spMkLst>
            <pc:docMk/>
            <pc:sldMk cId="1322538276" sldId="349"/>
            <ac:spMk id="8" creationId="{AE914058-E2C0-3751-0126-2DC82E88679F}"/>
          </ac:spMkLst>
        </pc:spChg>
        <pc:spChg chg="add mod">
          <ac:chgData name="david shui" userId="b4cba2b4491b0052" providerId="LiveId" clId="{C905F96E-58DC-4B64-B215-254CA906E9D0}" dt="2026-04-23T01:26:16.401" v="2548" actId="20577"/>
          <ac:spMkLst>
            <pc:docMk/>
            <pc:sldMk cId="1322538276" sldId="349"/>
            <ac:spMk id="10" creationId="{E6BB0638-B062-F8F4-6DC1-DD08FBF6EFED}"/>
          </ac:spMkLst>
        </pc:spChg>
        <pc:picChg chg="add mod">
          <ac:chgData name="david shui" userId="b4cba2b4491b0052" providerId="LiveId" clId="{C905F96E-58DC-4B64-B215-254CA906E9D0}" dt="2026-04-23T00:16:51.874" v="1201" actId="1076"/>
          <ac:picMkLst>
            <pc:docMk/>
            <pc:sldMk cId="1322538276" sldId="349"/>
            <ac:picMk id="7" creationId="{65148EF8-CAB8-5AB0-68FB-60329F1C926E}"/>
          </ac:picMkLst>
        </pc:picChg>
      </pc:sldChg>
      <pc:sldChg chg="add ord">
        <pc:chgData name="david shui" userId="b4cba2b4491b0052" providerId="LiveId" clId="{C905F96E-58DC-4B64-B215-254CA906E9D0}" dt="2026-04-22T17:55:13.590" v="102"/>
        <pc:sldMkLst>
          <pc:docMk/>
          <pc:sldMk cId="4232539471" sldId="355"/>
        </pc:sldMkLst>
      </pc:sldChg>
      <pc:sldChg chg="addSp delSp modSp add mod">
        <pc:chgData name="david shui" userId="b4cba2b4491b0052" providerId="LiveId" clId="{C905F96E-58DC-4B64-B215-254CA906E9D0}" dt="2026-04-23T01:18:16.469" v="2487" actId="20577"/>
        <pc:sldMkLst>
          <pc:docMk/>
          <pc:sldMk cId="4078651933" sldId="356"/>
        </pc:sldMkLst>
        <pc:spChg chg="mod">
          <ac:chgData name="david shui" userId="b4cba2b4491b0052" providerId="LiveId" clId="{C905F96E-58DC-4B64-B215-254CA906E9D0}" dt="2026-04-23T01:18:16.469" v="2487" actId="20577"/>
          <ac:spMkLst>
            <pc:docMk/>
            <pc:sldMk cId="4078651933" sldId="356"/>
            <ac:spMk id="2" creationId="{FA985155-4647-77F0-136A-E53F9116090F}"/>
          </ac:spMkLst>
        </pc:spChg>
        <pc:spChg chg="add mod">
          <ac:chgData name="david shui" userId="b4cba2b4491b0052" providerId="LiveId" clId="{C905F96E-58DC-4B64-B215-254CA906E9D0}" dt="2026-04-23T00:48:07.597" v="1796" actId="20577"/>
          <ac:spMkLst>
            <pc:docMk/>
            <pc:sldMk cId="4078651933" sldId="356"/>
            <ac:spMk id="3" creationId="{64CE56C9-4B3C-DA44-CDF4-3AFD5FB99099}"/>
          </ac:spMkLst>
        </pc:spChg>
      </pc:sldChg>
      <pc:sldChg chg="addSp delSp modSp add mod">
        <pc:chgData name="david shui" userId="b4cba2b4491b0052" providerId="LiveId" clId="{C905F96E-58DC-4B64-B215-254CA906E9D0}" dt="2026-04-23T01:25:32.125" v="2545" actId="20577"/>
        <pc:sldMkLst>
          <pc:docMk/>
          <pc:sldMk cId="898193776" sldId="357"/>
        </pc:sldMkLst>
        <pc:spChg chg="mod">
          <ac:chgData name="david shui" userId="b4cba2b4491b0052" providerId="LiveId" clId="{C905F96E-58DC-4B64-B215-254CA906E9D0}" dt="2026-04-23T01:16:11.633" v="2332" actId="20577"/>
          <ac:spMkLst>
            <pc:docMk/>
            <pc:sldMk cId="898193776" sldId="357"/>
            <ac:spMk id="2" creationId="{1843D742-A829-283A-F2A7-3CD7D37088B7}"/>
          </ac:spMkLst>
        </pc:spChg>
        <pc:spChg chg="add mod">
          <ac:chgData name="david shui" userId="b4cba2b4491b0052" providerId="LiveId" clId="{C905F96E-58DC-4B64-B215-254CA906E9D0}" dt="2026-04-23T01:25:32.125" v="2545" actId="20577"/>
          <ac:spMkLst>
            <pc:docMk/>
            <pc:sldMk cId="898193776" sldId="357"/>
            <ac:spMk id="7" creationId="{0FE510E8-E8F3-FDCC-9FE7-6C0339ED6C67}"/>
          </ac:spMkLst>
        </pc:spChg>
        <pc:picChg chg="add mod">
          <ac:chgData name="david shui" userId="b4cba2b4491b0052" providerId="LiveId" clId="{C905F96E-58DC-4B64-B215-254CA906E9D0}" dt="2026-04-23T01:23:02.998" v="2490" actId="1076"/>
          <ac:picMkLst>
            <pc:docMk/>
            <pc:sldMk cId="898193776" sldId="357"/>
            <ac:picMk id="9" creationId="{29D95A12-F571-1D83-5ACA-74E88005001A}"/>
          </ac:picMkLst>
        </pc:picChg>
      </pc:sldChg>
      <pc:sldChg chg="delSp modSp add mod">
        <pc:chgData name="david shui" userId="b4cba2b4491b0052" providerId="LiveId" clId="{C905F96E-58DC-4B64-B215-254CA906E9D0}" dt="2026-05-05T23:33:44.761" v="2772" actId="20577"/>
        <pc:sldMkLst>
          <pc:docMk/>
          <pc:sldMk cId="3571259808" sldId="358"/>
        </pc:sldMkLst>
        <pc:spChg chg="mod">
          <ac:chgData name="david shui" userId="b4cba2b4491b0052" providerId="LiveId" clId="{C905F96E-58DC-4B64-B215-254CA906E9D0}" dt="2026-05-05T23:33:44.761" v="2772" actId="20577"/>
          <ac:spMkLst>
            <pc:docMk/>
            <pc:sldMk cId="3571259808" sldId="358"/>
            <ac:spMk id="7" creationId="{85B9E28E-1E82-C3A4-4886-709D8F5B2DA8}"/>
          </ac:spMkLst>
        </pc:spChg>
        <pc:picChg chg="del">
          <ac:chgData name="david shui" userId="b4cba2b4491b0052" providerId="LiveId" clId="{C905F96E-58DC-4B64-B215-254CA906E9D0}" dt="2026-05-05T23:30:25.447" v="2553" actId="478"/>
          <ac:picMkLst>
            <pc:docMk/>
            <pc:sldMk cId="3571259808" sldId="358"/>
            <ac:picMk id="9" creationId="{2CAAB725-D91D-FD99-E91D-CCA39AF0FE5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AC76E-B216-45D9-830A-45C6A49284F5}"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258DBC-29A9-4753-9711-72D79C6B4AD9}" type="slidenum">
              <a:rPr lang="en-US" smtClean="0"/>
              <a:t>‹#›</a:t>
            </a:fld>
            <a:endParaRPr lang="en-US"/>
          </a:p>
        </p:txBody>
      </p:sp>
    </p:spTree>
    <p:extLst>
      <p:ext uri="{BB962C8B-B14F-4D97-AF65-F5344CB8AC3E}">
        <p14:creationId xmlns:p14="http://schemas.microsoft.com/office/powerpoint/2010/main" val="10360041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258DBC-29A9-4753-9711-72D79C6B4AD9}" type="slidenum">
              <a:rPr lang="en-US" smtClean="0"/>
              <a:t>1</a:t>
            </a:fld>
            <a:endParaRPr lang="en-US"/>
          </a:p>
        </p:txBody>
      </p:sp>
    </p:spTree>
    <p:extLst>
      <p:ext uri="{BB962C8B-B14F-4D97-AF65-F5344CB8AC3E}">
        <p14:creationId xmlns:p14="http://schemas.microsoft.com/office/powerpoint/2010/main" val="18913616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1B9DC-CCBB-48DA-601E-B418CF3C2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F4AFB1-579D-F0EB-0ECD-974D7370D7EB}"/>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5040DD6-2AEC-0F47-68DB-9D79849F52EA}"/>
              </a:ext>
            </a:extLst>
          </p:cNvPr>
          <p:cNvSpPr>
            <a:spLocks noGrp="1"/>
          </p:cNvSpPr>
          <p:nvPr>
            <p:ph type="body" idx="1"/>
          </p:nvPr>
        </p:nvSpPr>
        <p:spPr/>
        <p:txBody>
          <a:bodyPr/>
          <a:lstStyle/>
          <a:p>
            <a:r>
              <a:rPr lang="en-US" dirty="0"/>
              <a:t>because light intended for a specific location often scatters or diffracts into surrounding locations, creating a halo of unwanted polymerization and enlarges features</a:t>
            </a:r>
          </a:p>
          <a:p>
            <a:endParaRPr lang="en-US" dirty="0"/>
          </a:p>
          <a:p>
            <a:endParaRPr lang="en-US" dirty="0"/>
          </a:p>
          <a:p>
            <a:r>
              <a:rPr lang="en-US" dirty="0"/>
              <a:t>Associated with the resin curing process is the material volume shrinkage, which is due to the shortening of intermolecular distances of their molecules and depends on the degree of cure (DoC) of the resin. </a:t>
            </a:r>
          </a:p>
          <a:p>
            <a:endParaRPr lang="en-US" dirty="0"/>
          </a:p>
        </p:txBody>
      </p:sp>
      <p:sp>
        <p:nvSpPr>
          <p:cNvPr id="4" name="Slide Number Placeholder 3">
            <a:extLst>
              <a:ext uri="{FF2B5EF4-FFF2-40B4-BE49-F238E27FC236}">
                <a16:creationId xmlns:a16="http://schemas.microsoft.com/office/drawing/2014/main" id="{FDC5C324-7FD0-F5DC-80CE-2DBC2E0B9619}"/>
              </a:ext>
            </a:extLst>
          </p:cNvPr>
          <p:cNvSpPr>
            <a:spLocks noGrp="1"/>
          </p:cNvSpPr>
          <p:nvPr>
            <p:ph type="sldNum" sz="quarter" idx="10"/>
          </p:nvPr>
        </p:nvSpPr>
        <p:spPr/>
        <p:txBody>
          <a:bodyPr/>
          <a:lstStyle/>
          <a:p>
            <a:fld id="{D2258DBC-29A9-4753-9711-72D79C6B4AD9}" type="slidenum">
              <a:rPr lang="en-US" smtClean="0"/>
              <a:t>2</a:t>
            </a:fld>
            <a:endParaRPr lang="en-US"/>
          </a:p>
        </p:txBody>
      </p:sp>
    </p:spTree>
    <p:extLst>
      <p:ext uri="{BB962C8B-B14F-4D97-AF65-F5344CB8AC3E}">
        <p14:creationId xmlns:p14="http://schemas.microsoft.com/office/powerpoint/2010/main" val="2470996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258DBC-29A9-4753-9711-72D79C6B4AD9}" type="slidenum">
              <a:rPr lang="en-US" smtClean="0"/>
              <a:t>3</a:t>
            </a:fld>
            <a:endParaRPr lang="en-US"/>
          </a:p>
        </p:txBody>
      </p:sp>
    </p:spTree>
    <p:extLst>
      <p:ext uri="{BB962C8B-B14F-4D97-AF65-F5344CB8AC3E}">
        <p14:creationId xmlns:p14="http://schemas.microsoft.com/office/powerpoint/2010/main" val="2865357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6923C-902E-F9E1-BD47-7262FE78C4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548E10-955A-9E9B-8160-F72382B2852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56F5453-FD9E-DC93-07BA-8F1ED730C9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0BA1E4-69B3-D50A-E460-B59423542E48}"/>
              </a:ext>
            </a:extLst>
          </p:cNvPr>
          <p:cNvSpPr>
            <a:spLocks noGrp="1"/>
          </p:cNvSpPr>
          <p:nvPr>
            <p:ph type="sldNum" sz="quarter" idx="10"/>
          </p:nvPr>
        </p:nvSpPr>
        <p:spPr/>
        <p:txBody>
          <a:bodyPr/>
          <a:lstStyle/>
          <a:p>
            <a:fld id="{D2258DBC-29A9-4753-9711-72D79C6B4AD9}" type="slidenum">
              <a:rPr lang="en-US" smtClean="0"/>
              <a:t>4</a:t>
            </a:fld>
            <a:endParaRPr lang="en-US"/>
          </a:p>
        </p:txBody>
      </p:sp>
    </p:spTree>
    <p:extLst>
      <p:ext uri="{BB962C8B-B14F-4D97-AF65-F5344CB8AC3E}">
        <p14:creationId xmlns:p14="http://schemas.microsoft.com/office/powerpoint/2010/main" val="41838716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10DE9-2459-B9C6-8964-13D56AACCF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A13B3-E328-D005-CC0E-83230CBF9AF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79194E19-7FE0-1239-1C9B-F816420C970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7216FBA-0364-148A-1E25-F98B074BBC06}"/>
              </a:ext>
            </a:extLst>
          </p:cNvPr>
          <p:cNvSpPr>
            <a:spLocks noGrp="1"/>
          </p:cNvSpPr>
          <p:nvPr>
            <p:ph type="sldNum" sz="quarter" idx="10"/>
          </p:nvPr>
        </p:nvSpPr>
        <p:spPr/>
        <p:txBody>
          <a:bodyPr/>
          <a:lstStyle/>
          <a:p>
            <a:fld id="{D2258DBC-29A9-4753-9711-72D79C6B4AD9}" type="slidenum">
              <a:rPr lang="en-US" smtClean="0"/>
              <a:t>5</a:t>
            </a:fld>
            <a:endParaRPr lang="en-US"/>
          </a:p>
        </p:txBody>
      </p:sp>
    </p:spTree>
    <p:extLst>
      <p:ext uri="{BB962C8B-B14F-4D97-AF65-F5344CB8AC3E}">
        <p14:creationId xmlns:p14="http://schemas.microsoft.com/office/powerpoint/2010/main" val="11458455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49B4B-6C1E-D4DD-7F08-50BE39A20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CCAE6-B6C4-AAEC-1E52-3FB961B0AF39}"/>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40002C6-0209-0A9F-0288-D1BE5EB4D37F}"/>
              </a:ext>
            </a:extLst>
          </p:cNvPr>
          <p:cNvSpPr>
            <a:spLocks noGrp="1"/>
          </p:cNvSpPr>
          <p:nvPr>
            <p:ph type="body" idx="1"/>
          </p:nvPr>
        </p:nvSpPr>
        <p:spPr/>
        <p:txBody>
          <a:bodyPr/>
          <a:lstStyle/>
          <a:p>
            <a:r>
              <a:rPr lang="en-US" dirty="0"/>
              <a:t>Ignore in-depth curing effect</a:t>
            </a:r>
          </a:p>
        </p:txBody>
      </p:sp>
      <p:sp>
        <p:nvSpPr>
          <p:cNvPr id="4" name="Slide Number Placeholder 3">
            <a:extLst>
              <a:ext uri="{FF2B5EF4-FFF2-40B4-BE49-F238E27FC236}">
                <a16:creationId xmlns:a16="http://schemas.microsoft.com/office/drawing/2014/main" id="{0C9509B8-3852-01E8-7E46-80D9479AB06C}"/>
              </a:ext>
            </a:extLst>
          </p:cNvPr>
          <p:cNvSpPr>
            <a:spLocks noGrp="1"/>
          </p:cNvSpPr>
          <p:nvPr>
            <p:ph type="sldNum" sz="quarter" idx="10"/>
          </p:nvPr>
        </p:nvSpPr>
        <p:spPr/>
        <p:txBody>
          <a:bodyPr/>
          <a:lstStyle/>
          <a:p>
            <a:fld id="{D2258DBC-29A9-4753-9711-72D79C6B4AD9}" type="slidenum">
              <a:rPr lang="en-US" smtClean="0"/>
              <a:t>6</a:t>
            </a:fld>
            <a:endParaRPr lang="en-US"/>
          </a:p>
        </p:txBody>
      </p:sp>
    </p:spTree>
    <p:extLst>
      <p:ext uri="{BB962C8B-B14F-4D97-AF65-F5344CB8AC3E}">
        <p14:creationId xmlns:p14="http://schemas.microsoft.com/office/powerpoint/2010/main" val="712397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44BC-AD69-9ADD-171A-360459CFFA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4AFBF-58E6-A5AF-E2B8-529C50630E2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3ED4AF6-74E7-1FDD-4C8A-6E6508ABCB8E}"/>
              </a:ext>
            </a:extLst>
          </p:cNvPr>
          <p:cNvSpPr>
            <a:spLocks noGrp="1"/>
          </p:cNvSpPr>
          <p:nvPr>
            <p:ph type="body" idx="1"/>
          </p:nvPr>
        </p:nvSpPr>
        <p:spPr/>
        <p:txBody>
          <a:bodyPr/>
          <a:lstStyle/>
          <a:p>
            <a:r>
              <a:rPr lang="en-US" dirty="0"/>
              <a:t>Each </a:t>
            </a:r>
            <a:r>
              <a:rPr lang="en-US" dirty="0" err="1"/>
              <a:t>rasin</a:t>
            </a:r>
            <a:r>
              <a:rPr lang="en-US" dirty="0"/>
              <a:t> has own curve</a:t>
            </a:r>
          </a:p>
          <a:p>
            <a:r>
              <a:rPr lang="en-US" dirty="0"/>
              <a:t>Overview slides</a:t>
            </a:r>
          </a:p>
        </p:txBody>
      </p:sp>
      <p:sp>
        <p:nvSpPr>
          <p:cNvPr id="4" name="Slide Number Placeholder 3">
            <a:extLst>
              <a:ext uri="{FF2B5EF4-FFF2-40B4-BE49-F238E27FC236}">
                <a16:creationId xmlns:a16="http://schemas.microsoft.com/office/drawing/2014/main" id="{D8181CE3-F7F7-77EF-9B20-DF897AA2E0E5}"/>
              </a:ext>
            </a:extLst>
          </p:cNvPr>
          <p:cNvSpPr>
            <a:spLocks noGrp="1"/>
          </p:cNvSpPr>
          <p:nvPr>
            <p:ph type="sldNum" sz="quarter" idx="10"/>
          </p:nvPr>
        </p:nvSpPr>
        <p:spPr/>
        <p:txBody>
          <a:bodyPr/>
          <a:lstStyle/>
          <a:p>
            <a:fld id="{D2258DBC-29A9-4753-9711-72D79C6B4AD9}" type="slidenum">
              <a:rPr lang="en-US" smtClean="0"/>
              <a:t>7</a:t>
            </a:fld>
            <a:endParaRPr lang="en-US"/>
          </a:p>
        </p:txBody>
      </p:sp>
    </p:spTree>
    <p:extLst>
      <p:ext uri="{BB962C8B-B14F-4D97-AF65-F5344CB8AC3E}">
        <p14:creationId xmlns:p14="http://schemas.microsoft.com/office/powerpoint/2010/main" val="506799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C3BF8-ED93-4C56-4440-ECCF48A370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0A4148-5A4A-E4A7-397A-15D45DED261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EE605CA7-2E9F-AB88-B79B-27C2F58309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F48A7C-B2DB-B177-1ED4-DA7D66B60D6F}"/>
              </a:ext>
            </a:extLst>
          </p:cNvPr>
          <p:cNvSpPr>
            <a:spLocks noGrp="1"/>
          </p:cNvSpPr>
          <p:nvPr>
            <p:ph type="sldNum" sz="quarter" idx="10"/>
          </p:nvPr>
        </p:nvSpPr>
        <p:spPr/>
        <p:txBody>
          <a:bodyPr/>
          <a:lstStyle/>
          <a:p>
            <a:fld id="{D2258DBC-29A9-4753-9711-72D79C6B4AD9}" type="slidenum">
              <a:rPr lang="en-US" smtClean="0"/>
              <a:t>8</a:t>
            </a:fld>
            <a:endParaRPr lang="en-US"/>
          </a:p>
        </p:txBody>
      </p:sp>
    </p:spTree>
    <p:extLst>
      <p:ext uri="{BB962C8B-B14F-4D97-AF65-F5344CB8AC3E}">
        <p14:creationId xmlns:p14="http://schemas.microsoft.com/office/powerpoint/2010/main" val="2822235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A248-D7E7-3471-DCBB-8F07B9B400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41221F-89F7-929A-7071-13E42952C4B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A73C4FD-18AB-E69F-3C52-886DEF0240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6EC9AA-2D30-44EB-CE12-7AACA7CAFD90}"/>
              </a:ext>
            </a:extLst>
          </p:cNvPr>
          <p:cNvSpPr>
            <a:spLocks noGrp="1"/>
          </p:cNvSpPr>
          <p:nvPr>
            <p:ph type="sldNum" sz="quarter" idx="10"/>
          </p:nvPr>
        </p:nvSpPr>
        <p:spPr/>
        <p:txBody>
          <a:bodyPr/>
          <a:lstStyle/>
          <a:p>
            <a:fld id="{D2258DBC-29A9-4753-9711-72D79C6B4AD9}" type="slidenum">
              <a:rPr lang="en-US" smtClean="0"/>
              <a:t>9</a:t>
            </a:fld>
            <a:endParaRPr lang="en-US"/>
          </a:p>
        </p:txBody>
      </p:sp>
    </p:spTree>
    <p:extLst>
      <p:ext uri="{BB962C8B-B14F-4D97-AF65-F5344CB8AC3E}">
        <p14:creationId xmlns:p14="http://schemas.microsoft.com/office/powerpoint/2010/main" val="2408588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B535A-B526-2D5A-512C-DDCE7AC72E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3C6754-7B65-ABDF-8E2E-0A2E5B949CD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97F60369-2685-B446-CA81-F1AA58E1041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4DD199-B268-1A14-64AC-EA1BE5832D64}"/>
              </a:ext>
            </a:extLst>
          </p:cNvPr>
          <p:cNvSpPr>
            <a:spLocks noGrp="1"/>
          </p:cNvSpPr>
          <p:nvPr>
            <p:ph type="sldNum" sz="quarter" idx="10"/>
          </p:nvPr>
        </p:nvSpPr>
        <p:spPr/>
        <p:txBody>
          <a:bodyPr/>
          <a:lstStyle/>
          <a:p>
            <a:fld id="{D2258DBC-29A9-4753-9711-72D79C6B4AD9}" type="slidenum">
              <a:rPr lang="en-US" smtClean="0"/>
              <a:t>10</a:t>
            </a:fld>
            <a:endParaRPr lang="en-US"/>
          </a:p>
        </p:txBody>
      </p:sp>
    </p:spTree>
    <p:extLst>
      <p:ext uri="{BB962C8B-B14F-4D97-AF65-F5344CB8AC3E}">
        <p14:creationId xmlns:p14="http://schemas.microsoft.com/office/powerpoint/2010/main" val="1508104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0A4-36EB-352A-7636-9EE2737999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46645D-1599-C334-A122-7966BD54EA40}"/>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BF812D4F-248C-A4C4-4819-EFB41F0C80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DFCC82-AA6E-C2A8-7487-993AB54E1AF5}"/>
              </a:ext>
            </a:extLst>
          </p:cNvPr>
          <p:cNvSpPr>
            <a:spLocks noGrp="1"/>
          </p:cNvSpPr>
          <p:nvPr>
            <p:ph type="sldNum" sz="quarter" idx="10"/>
          </p:nvPr>
        </p:nvSpPr>
        <p:spPr/>
        <p:txBody>
          <a:bodyPr/>
          <a:lstStyle/>
          <a:p>
            <a:fld id="{D2258DBC-29A9-4753-9711-72D79C6B4AD9}" type="slidenum">
              <a:rPr lang="en-US" smtClean="0"/>
              <a:t>11</a:t>
            </a:fld>
            <a:endParaRPr lang="en-US"/>
          </a:p>
        </p:txBody>
      </p:sp>
    </p:spTree>
    <p:extLst>
      <p:ext uri="{BB962C8B-B14F-4D97-AF65-F5344CB8AC3E}">
        <p14:creationId xmlns:p14="http://schemas.microsoft.com/office/powerpoint/2010/main" val="3148335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5C644-4E9D-1CC5-C76A-C0B0E5A200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145D3-C52D-5CA2-D848-DBD4B39DA464}"/>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DDFACADD-FCC1-EBDA-5E78-633B01694E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F38597-44C4-30E7-F133-A5F29C540A15}"/>
              </a:ext>
            </a:extLst>
          </p:cNvPr>
          <p:cNvSpPr>
            <a:spLocks noGrp="1"/>
          </p:cNvSpPr>
          <p:nvPr>
            <p:ph type="sldNum" sz="quarter" idx="10"/>
          </p:nvPr>
        </p:nvSpPr>
        <p:spPr/>
        <p:txBody>
          <a:bodyPr/>
          <a:lstStyle/>
          <a:p>
            <a:fld id="{D2258DBC-29A9-4753-9711-72D79C6B4AD9}" type="slidenum">
              <a:rPr lang="en-US" smtClean="0"/>
              <a:t>12</a:t>
            </a:fld>
            <a:endParaRPr lang="en-US"/>
          </a:p>
        </p:txBody>
      </p:sp>
    </p:spTree>
    <p:extLst>
      <p:ext uri="{BB962C8B-B14F-4D97-AF65-F5344CB8AC3E}">
        <p14:creationId xmlns:p14="http://schemas.microsoft.com/office/powerpoint/2010/main" val="18383366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p:nvPr userDrawn="1"/>
        </p:nvSpPr>
        <p:spPr>
          <a:xfrm>
            <a:off x="0" y="6485206"/>
            <a:ext cx="12192000" cy="372794"/>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4069"/>
            <a:ext cx="12191999" cy="984738"/>
          </a:xfrm>
          <a:solidFill>
            <a:schemeClr val="bg1"/>
          </a:solidFill>
        </p:spPr>
        <p:txBody>
          <a:bodyPr/>
          <a:lstStyle>
            <a:lvl1pPr algn="ctr">
              <a:defRPr/>
            </a:lvl1pPr>
          </a:lstStyle>
          <a:p>
            <a:r>
              <a:rPr lang="en-US" dirty="0"/>
              <a:t>Click to edit Master title style</a:t>
            </a:r>
          </a:p>
        </p:txBody>
      </p:sp>
      <p:sp>
        <p:nvSpPr>
          <p:cNvPr id="3" name="Content Placeholder 2"/>
          <p:cNvSpPr>
            <a:spLocks noGrp="1"/>
          </p:cNvSpPr>
          <p:nvPr>
            <p:ph idx="1"/>
          </p:nvPr>
        </p:nvSpPr>
        <p:spPr>
          <a:xfrm>
            <a:off x="253217" y="991601"/>
            <a:ext cx="11662117" cy="518536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12"/>
          </p:nvPr>
        </p:nvSpPr>
        <p:spPr>
          <a:xfrm>
            <a:off x="9448800" y="6482300"/>
            <a:ext cx="2743200" cy="365125"/>
          </a:xfrm>
        </p:spPr>
        <p:txBody>
          <a:bodyPr/>
          <a:lstStyle>
            <a:lvl1pPr>
              <a:defRPr sz="1600">
                <a:solidFill>
                  <a:schemeClr val="bg1"/>
                </a:solidFill>
              </a:defRPr>
            </a:lvl1pPr>
          </a:lstStyle>
          <a:p>
            <a:fld id="{5A741E56-E3D9-46FF-B47D-3FCBEAE97EB2}" type="slidenum">
              <a:rPr lang="en-US" smtClean="0"/>
              <a:pPr/>
              <a:t>‹#›</a:t>
            </a:fld>
            <a:endParaRPr lang="en-US" dirty="0"/>
          </a:p>
        </p:txBody>
      </p:sp>
      <p:pic>
        <p:nvPicPr>
          <p:cNvPr id="1026" name="Picture 2" descr="One color Pantone 159"/>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l="50263" b="13646"/>
          <a:stretch/>
        </p:blipFill>
        <p:spPr bwMode="auto">
          <a:xfrm>
            <a:off x="1950903" y="6511176"/>
            <a:ext cx="1050131" cy="3265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rotWithShape="1">
          <a:blip r:embed="rId3"/>
          <a:srcRect l="34255" t="27164" r="25818" b="66159"/>
          <a:stretch/>
        </p:blipFill>
        <p:spPr>
          <a:xfrm>
            <a:off x="8778240" y="6565300"/>
            <a:ext cx="2560320" cy="240741"/>
          </a:xfrm>
          <a:prstGeom prst="rect">
            <a:avLst/>
          </a:prstGeom>
        </p:spPr>
      </p:pic>
      <p:sp>
        <p:nvSpPr>
          <p:cNvPr id="10" name="Rectangle 9"/>
          <p:cNvSpPr/>
          <p:nvPr userDrawn="1"/>
        </p:nvSpPr>
        <p:spPr>
          <a:xfrm>
            <a:off x="1919947" y="6491262"/>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userDrawn="1"/>
        </p:nvSpPr>
        <p:spPr>
          <a:xfrm>
            <a:off x="2955315" y="6488234"/>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userDrawn="1"/>
        </p:nvSpPr>
        <p:spPr>
          <a:xfrm>
            <a:off x="1911410" y="6806041"/>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1911410" y="6486757"/>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p:cNvSpPr>
            <a:spLocks noGrp="1"/>
          </p:cNvSpPr>
          <p:nvPr>
            <p:ph type="ftr" sz="quarter" idx="11"/>
          </p:nvPr>
        </p:nvSpPr>
        <p:spPr>
          <a:xfrm>
            <a:off x="2743200" y="6482715"/>
            <a:ext cx="6705600" cy="365125"/>
          </a:xfrm>
        </p:spPr>
        <p:txBody>
          <a:bodyPr/>
          <a:lstStyle>
            <a:lvl1pPr>
              <a:defRPr sz="1800">
                <a:solidFill>
                  <a:schemeClr val="bg1"/>
                </a:solidFill>
              </a:defRPr>
            </a:lvl1pPr>
          </a:lstStyle>
          <a:p>
            <a:r>
              <a:rPr lang="en-US" dirty="0"/>
              <a:t>Nanoscale Design and Manufacturing Laboratory</a:t>
            </a:r>
          </a:p>
        </p:txBody>
      </p:sp>
      <p:sp>
        <p:nvSpPr>
          <p:cNvPr id="4" name="Date Placeholder 3"/>
          <p:cNvSpPr>
            <a:spLocks noGrp="1"/>
          </p:cNvSpPr>
          <p:nvPr>
            <p:ph type="dt" sz="half" idx="10"/>
          </p:nvPr>
        </p:nvSpPr>
        <p:spPr>
          <a:xfrm>
            <a:off x="0" y="6492069"/>
            <a:ext cx="2743200" cy="365125"/>
          </a:xfrm>
        </p:spPr>
        <p:txBody>
          <a:bodyPr/>
          <a:lstStyle>
            <a:lvl1pPr>
              <a:defRPr sz="1600">
                <a:solidFill>
                  <a:schemeClr val="bg1"/>
                </a:solidFill>
              </a:defRPr>
            </a:lvl1pPr>
          </a:lstStyle>
          <a:p>
            <a:fld id="{E4965A3C-7C44-491F-A2CC-585294ABE301}" type="datetime1">
              <a:rPr lang="en-US" smtClean="0"/>
              <a:t>8/17/2026</a:t>
            </a:fld>
            <a:endParaRPr lang="en-US" dirty="0"/>
          </a:p>
        </p:txBody>
      </p:sp>
      <p:cxnSp>
        <p:nvCxnSpPr>
          <p:cNvPr id="11" name="Straight Connector 10"/>
          <p:cNvCxnSpPr/>
          <p:nvPr userDrawn="1"/>
        </p:nvCxnSpPr>
        <p:spPr>
          <a:xfrm>
            <a:off x="1" y="6480379"/>
            <a:ext cx="12191999"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690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BF570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1850" y="1709738"/>
            <a:ext cx="10515600" cy="2852737"/>
          </a:xfrm>
        </p:spPr>
        <p:txBody>
          <a:bodyPr anchor="b">
            <a:normAutofit/>
          </a:bodyPr>
          <a:lstStyle>
            <a:lvl1pPr>
              <a:defRPr sz="5400">
                <a:solidFill>
                  <a:schemeClr val="bg1"/>
                </a:solidFill>
              </a:defRPr>
            </a:lvl1pPr>
          </a:lstStyle>
          <a:p>
            <a:r>
              <a:rPr lang="en-US" dirty="0"/>
              <a:t>Click to edit Master title style</a:t>
            </a:r>
            <a:br>
              <a:rPr lang="en-US" dirty="0"/>
            </a:br>
            <a:endParaRPr lang="en-US" dirty="0"/>
          </a:p>
        </p:txBody>
      </p:sp>
      <p:sp>
        <p:nvSpPr>
          <p:cNvPr id="3" name="Text Placeholder 2"/>
          <p:cNvSpPr>
            <a:spLocks noGrp="1"/>
          </p:cNvSpPr>
          <p:nvPr>
            <p:ph type="body" idx="1"/>
          </p:nvPr>
        </p:nvSpPr>
        <p:spPr>
          <a:xfrm>
            <a:off x="831850" y="4589463"/>
            <a:ext cx="10515600" cy="1500187"/>
          </a:xfrm>
        </p:spPr>
        <p:txBody>
          <a:bodyPr>
            <a:normAutofit/>
          </a:bodyPr>
          <a:lstStyle>
            <a:lvl1pPr marL="0" indent="0" algn="ctr">
              <a:buNone/>
              <a:defRPr sz="4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3567789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Title">
    <p:bg>
      <p:bgPr>
        <a:solidFill>
          <a:srgbClr val="BF57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525048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13433"/>
            <a:ext cx="12192000" cy="1325563"/>
          </a:xfrm>
          <a:prstGeom prst="rect">
            <a:avLst/>
          </a:prstGeom>
          <a:noFill/>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338996"/>
            <a:ext cx="10515600" cy="483796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ln>
                  <a:noFill/>
                </a:ln>
                <a:solidFill>
                  <a:schemeClr val="tx1"/>
                </a:solidFill>
              </a:defRPr>
            </a:lvl1pPr>
          </a:lstStyle>
          <a:p>
            <a:fld id="{10997B7A-D382-4443-928D-FDE6F7D17BB4}" type="datetime1">
              <a:rPr lang="en-US" smtClean="0"/>
              <a:t>8/17/2026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Nanoscale Design and Manufacturing Laboratory</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defRPr>
            </a:lvl1pPr>
          </a:lstStyle>
          <a:p>
            <a:fld id="{5A741E56-E3D9-46FF-B47D-3FCBEAE97EB2}" type="slidenum">
              <a:rPr lang="en-US" smtClean="0"/>
              <a:pPr/>
              <a:t>‹#›</a:t>
            </a:fld>
            <a:endParaRPr lang="en-US" dirty="0"/>
          </a:p>
        </p:txBody>
      </p:sp>
    </p:spTree>
    <p:extLst>
      <p:ext uri="{BB962C8B-B14F-4D97-AF65-F5344CB8AC3E}">
        <p14:creationId xmlns:p14="http://schemas.microsoft.com/office/powerpoint/2010/main" val="2376699588"/>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5" r:id="rId3"/>
  </p:sldLayoutIdLst>
  <p:hf hdr="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3.png"/><Relationship Id="rId4" Type="http://schemas.openxmlformats.org/officeDocument/2006/relationships/image" Target="../media/image220.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hyperlink" Target="mailto:dshui@utexas.edu"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5"/>
          <p:cNvSpPr txBox="1">
            <a:spLocks/>
          </p:cNvSpPr>
          <p:nvPr/>
        </p:nvSpPr>
        <p:spPr>
          <a:xfrm>
            <a:off x="155624" y="5504780"/>
            <a:ext cx="12192000" cy="1447196"/>
          </a:xfrm>
          <a:prstGeom prst="rect">
            <a:avLst/>
          </a:prstGeom>
          <a:solidFill>
            <a:srgbClr val="000066">
              <a:alpha val="0"/>
            </a:srgbClr>
          </a:solidFill>
          <a:ln>
            <a:noFill/>
          </a:ln>
          <a:extLst>
            <a:ext uri="{91240B29-F687-4F45-9708-019B960494DF}">
              <a14:hiddenLine xmlns:a14="http://schemas.microsoft.com/office/drawing/2010/main" w="25400">
                <a:solidFill>
                  <a:schemeClr val="tx1"/>
                </a:solidFill>
                <a:miter lim="800000"/>
                <a:headEnd/>
                <a:tailEnd/>
              </a14:hiddenLine>
            </a:ext>
          </a:extLst>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altLang="en-US" i="1" dirty="0">
                <a:solidFill>
                  <a:schemeClr val="bg1"/>
                </a:solidFill>
              </a:rPr>
              <a:t>Aggregate-Induced Emission </a:t>
            </a:r>
            <a:r>
              <a:rPr lang="en-US" altLang="zh-TW" i="1" dirty="0">
                <a:solidFill>
                  <a:schemeClr val="bg1"/>
                </a:solidFill>
              </a:rPr>
              <a:t>Monitoring for </a:t>
            </a:r>
            <a:r>
              <a:rPr lang="en-US" altLang="en-US" i="1" dirty="0">
                <a:solidFill>
                  <a:schemeClr val="bg1"/>
                </a:solidFill>
              </a:rPr>
              <a:t>Control in Vat Polymerization</a:t>
            </a:r>
          </a:p>
        </p:txBody>
      </p:sp>
      <p:sp>
        <p:nvSpPr>
          <p:cNvPr id="7" name="Text Box 18"/>
          <p:cNvSpPr txBox="1">
            <a:spLocks noChangeArrowheads="1"/>
          </p:cNvSpPr>
          <p:nvPr/>
        </p:nvSpPr>
        <p:spPr bwMode="auto">
          <a:xfrm>
            <a:off x="-1" y="3920662"/>
            <a:ext cx="12192000"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sz="2400">
                <a:solidFill>
                  <a:schemeClr val="tx1"/>
                </a:solidFill>
                <a:latin typeface="Arial" panose="020B0604020202020204" pitchFamily="34" charset="0"/>
                <a:cs typeface="Arial" panose="020B0604020202020204" pitchFamily="34" charset="0"/>
              </a:defRPr>
            </a:lvl1pPr>
            <a:lvl2pPr marL="742950" indent="-285750" eaLnBrk="0" hangingPunct="0">
              <a:defRPr sz="2400">
                <a:solidFill>
                  <a:schemeClr val="tx1"/>
                </a:solidFill>
                <a:latin typeface="Arial" panose="020B0604020202020204" pitchFamily="34" charset="0"/>
                <a:cs typeface="Arial" panose="020B0604020202020204" pitchFamily="34" charset="0"/>
              </a:defRPr>
            </a:lvl2pPr>
            <a:lvl3pPr marL="1143000" indent="-228600" eaLnBrk="0" hangingPunct="0">
              <a:defRPr sz="2400">
                <a:solidFill>
                  <a:schemeClr val="tx1"/>
                </a:solidFill>
                <a:latin typeface="Arial" panose="020B0604020202020204" pitchFamily="34" charset="0"/>
                <a:cs typeface="Arial" panose="020B0604020202020204" pitchFamily="34" charset="0"/>
              </a:defRPr>
            </a:lvl3pPr>
            <a:lvl4pPr marL="1600200" indent="-228600" eaLnBrk="0" hangingPunct="0">
              <a:defRPr sz="2400">
                <a:solidFill>
                  <a:schemeClr val="tx1"/>
                </a:solidFill>
                <a:latin typeface="Arial" panose="020B0604020202020204" pitchFamily="34" charset="0"/>
                <a:cs typeface="Arial" panose="020B0604020202020204" pitchFamily="34" charset="0"/>
              </a:defRPr>
            </a:lvl4pPr>
            <a:lvl5pPr marL="2057400" indent="-228600" eaLnBrk="0" hangingPunct="0">
              <a:defRPr sz="2400">
                <a:solidFill>
                  <a:schemeClr val="tx1"/>
                </a:solidFill>
                <a:latin typeface="Arial" panose="020B0604020202020204" pitchFamily="34" charset="0"/>
                <a:cs typeface="Arial" panose="020B0604020202020204" pitchFamily="34" charset="0"/>
              </a:defRPr>
            </a:lvl5pPr>
            <a:lvl6pPr marL="25146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6pPr>
            <a:lvl7pPr marL="29718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7pPr>
            <a:lvl8pPr marL="34290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8pPr>
            <a:lvl9pPr marL="38862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9pPr>
          </a:lstStyle>
          <a:p>
            <a:pPr algn="ctr" eaLnBrk="1" hangingPunct="1"/>
            <a:r>
              <a:rPr lang="en-US" altLang="en-US" sz="3600" i="1" dirty="0">
                <a:solidFill>
                  <a:schemeClr val="bg1"/>
                </a:solidFill>
                <a:latin typeface="Palatino Linotype" panose="02040502050505030304" pitchFamily="18" charset="0"/>
              </a:rPr>
              <a:t>David Shui</a:t>
            </a:r>
          </a:p>
          <a:p>
            <a:pPr algn="ctr" eaLnBrk="1" hangingPunct="1"/>
            <a:r>
              <a:rPr lang="en-US" altLang="en-US" sz="1800" i="1" dirty="0">
                <a:solidFill>
                  <a:schemeClr val="bg1"/>
                </a:solidFill>
                <a:latin typeface="Palatino Linotype" panose="02040502050505030304" pitchFamily="18" charset="0"/>
              </a:rPr>
              <a:t>Department of Mechanical Engineering</a:t>
            </a:r>
          </a:p>
          <a:p>
            <a:pPr algn="ctr" eaLnBrk="1" hangingPunct="1"/>
            <a:r>
              <a:rPr lang="en-US" altLang="en-US" sz="1800" i="1" dirty="0">
                <a:solidFill>
                  <a:schemeClr val="bg1"/>
                </a:solidFill>
                <a:latin typeface="Palatino Linotype" panose="02040502050505030304" pitchFamily="18" charset="0"/>
              </a:rPr>
              <a:t>University of Texas at Austin</a:t>
            </a:r>
          </a:p>
        </p:txBody>
      </p:sp>
      <p:sp>
        <p:nvSpPr>
          <p:cNvPr id="8" name="Line 15"/>
          <p:cNvSpPr>
            <a:spLocks noChangeShapeType="1"/>
          </p:cNvSpPr>
          <p:nvPr/>
        </p:nvSpPr>
        <p:spPr bwMode="auto">
          <a:xfrm flipV="1">
            <a:off x="10834" y="5184825"/>
            <a:ext cx="12192000" cy="76200"/>
          </a:xfrm>
          <a:prstGeom prst="line">
            <a:avLst/>
          </a:prstGeom>
          <a:noFill/>
          <a:ln w="63500">
            <a:solidFill>
              <a:schemeClr val="bg1"/>
            </a:solidFill>
            <a:miter lim="800000"/>
            <a:headEnd/>
            <a:tailEnd/>
          </a:ln>
          <a:extLst>
            <a:ext uri="{909E8E84-426E-40DD-AFC4-6F175D3DCCD1}">
              <a14:hiddenFill xmlns:a14="http://schemas.microsoft.com/office/drawing/2010/main">
                <a:noFill/>
              </a14:hiddenFill>
            </a:ext>
          </a:extLst>
        </p:spPr>
        <p:txBody>
          <a:bodyPr wrap="none"/>
          <a:lstStyle/>
          <a:p>
            <a:endParaRPr lang="en-US" dirty="0"/>
          </a:p>
        </p:txBody>
      </p:sp>
      <p:pic>
        <p:nvPicPr>
          <p:cNvPr id="25" name="Picture 24"/>
          <p:cNvPicPr>
            <a:picLocks noChangeAspect="1"/>
          </p:cNvPicPr>
          <p:nvPr/>
        </p:nvPicPr>
        <p:blipFill rotWithShape="1">
          <a:blip r:embed="rId3" cstate="print">
            <a:extLst>
              <a:ext uri="{28A0092B-C50C-407E-A947-70E740481C1C}">
                <a14:useLocalDpi xmlns:a14="http://schemas.microsoft.com/office/drawing/2010/main" val="0"/>
              </a:ext>
            </a:extLst>
          </a:blip>
          <a:srcRect l="8802" t="8120" r="9295" b="9183"/>
          <a:stretch/>
        </p:blipFill>
        <p:spPr>
          <a:xfrm>
            <a:off x="4324736" y="25323"/>
            <a:ext cx="3542527" cy="3576923"/>
          </a:xfrm>
          <a:prstGeom prst="rect">
            <a:avLst/>
          </a:prstGeom>
        </p:spPr>
      </p:pic>
    </p:spTree>
    <p:extLst>
      <p:ext uri="{BB962C8B-B14F-4D97-AF65-F5344CB8AC3E}">
        <p14:creationId xmlns:p14="http://schemas.microsoft.com/office/powerpoint/2010/main" val="2241052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42E299D-775C-2271-08F7-5F552300C5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2A0EE9-9156-DC58-DA55-6848123FDE77}"/>
              </a:ext>
            </a:extLst>
          </p:cNvPr>
          <p:cNvSpPr>
            <a:spLocks noGrp="1"/>
          </p:cNvSpPr>
          <p:nvPr>
            <p:ph type="title"/>
          </p:nvPr>
        </p:nvSpPr>
        <p:spPr/>
        <p:txBody>
          <a:bodyPr/>
          <a:lstStyle/>
          <a:p>
            <a:r>
              <a:rPr lang="en-US" altLang="zh-TW" dirty="0"/>
              <a:t>DLP Challenge</a:t>
            </a:r>
            <a:endParaRPr lang="en-US" dirty="0"/>
          </a:p>
        </p:txBody>
      </p:sp>
      <p:sp>
        <p:nvSpPr>
          <p:cNvPr id="4" name="Date Placeholder 3">
            <a:extLst>
              <a:ext uri="{FF2B5EF4-FFF2-40B4-BE49-F238E27FC236}">
                <a16:creationId xmlns:a16="http://schemas.microsoft.com/office/drawing/2014/main" id="{4DEAABB2-6C3E-83C3-8D54-3F2AA158778B}"/>
              </a:ext>
            </a:extLst>
          </p:cNvPr>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a:extLst>
              <a:ext uri="{FF2B5EF4-FFF2-40B4-BE49-F238E27FC236}">
                <a16:creationId xmlns:a16="http://schemas.microsoft.com/office/drawing/2014/main" id="{6177C4EF-BF51-45DB-9E9D-D76F0AC4226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939A7BAA-0130-05D7-5FED-D49BAA103F96}"/>
              </a:ext>
            </a:extLst>
          </p:cNvPr>
          <p:cNvSpPr>
            <a:spLocks noGrp="1"/>
          </p:cNvSpPr>
          <p:nvPr>
            <p:ph type="sldNum" sz="quarter" idx="12"/>
          </p:nvPr>
        </p:nvSpPr>
        <p:spPr/>
        <p:txBody>
          <a:bodyPr/>
          <a:lstStyle/>
          <a:p>
            <a:fld id="{5A741E56-E3D9-46FF-B47D-3FCBEAE97EB2}" type="slidenum">
              <a:rPr lang="en-US" smtClean="0"/>
              <a:pPr/>
              <a:t>2</a:t>
            </a:fld>
            <a:endParaRPr lang="en-US" dirty="0"/>
          </a:p>
        </p:txBody>
      </p:sp>
      <p:grpSp>
        <p:nvGrpSpPr>
          <p:cNvPr id="22" name="Group 21">
            <a:extLst>
              <a:ext uri="{FF2B5EF4-FFF2-40B4-BE49-F238E27FC236}">
                <a16:creationId xmlns:a16="http://schemas.microsoft.com/office/drawing/2014/main" id="{09B79E76-C4C1-1D26-1525-0F821531A503}"/>
              </a:ext>
            </a:extLst>
          </p:cNvPr>
          <p:cNvGrpSpPr/>
          <p:nvPr/>
        </p:nvGrpSpPr>
        <p:grpSpPr>
          <a:xfrm>
            <a:off x="318707" y="1484598"/>
            <a:ext cx="5464255" cy="2933757"/>
            <a:chOff x="405204" y="892885"/>
            <a:chExt cx="5464255" cy="2933757"/>
          </a:xfrm>
        </p:grpSpPr>
        <p:sp>
          <p:nvSpPr>
            <p:cNvPr id="7" name="TextBox 6">
              <a:extLst>
                <a:ext uri="{FF2B5EF4-FFF2-40B4-BE49-F238E27FC236}">
                  <a16:creationId xmlns:a16="http://schemas.microsoft.com/office/drawing/2014/main" id="{BE481744-6420-C4BA-0993-086582BD914C}"/>
                </a:ext>
              </a:extLst>
            </p:cNvPr>
            <p:cNvSpPr txBox="1"/>
            <p:nvPr/>
          </p:nvSpPr>
          <p:spPr>
            <a:xfrm>
              <a:off x="405204" y="892885"/>
              <a:ext cx="5464255"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Grayscale Mismatch &amp; Resolution Limitation [1] </a:t>
              </a:r>
            </a:p>
          </p:txBody>
        </p:sp>
        <p:pic>
          <p:nvPicPr>
            <p:cNvPr id="8" name="Picture 7">
              <a:extLst>
                <a:ext uri="{FF2B5EF4-FFF2-40B4-BE49-F238E27FC236}">
                  <a16:creationId xmlns:a16="http://schemas.microsoft.com/office/drawing/2014/main" id="{E0B8F02B-C421-699C-DFDF-AB37F857B95C}"/>
                </a:ext>
              </a:extLst>
            </p:cNvPr>
            <p:cNvPicPr>
              <a:picLocks noChangeAspect="1"/>
            </p:cNvPicPr>
            <p:nvPr/>
          </p:nvPicPr>
          <p:blipFill>
            <a:blip r:embed="rId3">
              <a:extLst>
                <a:ext uri="{28A0092B-C50C-407E-A947-70E740481C1C}">
                  <a14:useLocalDpi xmlns:a14="http://schemas.microsoft.com/office/drawing/2010/main" val="0"/>
                </a:ext>
              </a:extLst>
            </a:blip>
            <a:srcRect t="6866" b="4222"/>
            <a:stretch>
              <a:fillRect/>
            </a:stretch>
          </p:blipFill>
          <p:spPr>
            <a:xfrm>
              <a:off x="405204" y="1315035"/>
              <a:ext cx="4051517" cy="2511607"/>
            </a:xfrm>
            <a:prstGeom prst="rect">
              <a:avLst/>
            </a:prstGeom>
          </p:spPr>
        </p:pic>
      </p:grpSp>
      <p:grpSp>
        <p:nvGrpSpPr>
          <p:cNvPr id="23" name="Group 22">
            <a:extLst>
              <a:ext uri="{FF2B5EF4-FFF2-40B4-BE49-F238E27FC236}">
                <a16:creationId xmlns:a16="http://schemas.microsoft.com/office/drawing/2014/main" id="{D0BEA3DB-DD8F-DBE3-5FE6-344B9D724918}"/>
              </a:ext>
            </a:extLst>
          </p:cNvPr>
          <p:cNvGrpSpPr/>
          <p:nvPr/>
        </p:nvGrpSpPr>
        <p:grpSpPr>
          <a:xfrm>
            <a:off x="5193825" y="1484598"/>
            <a:ext cx="3553972" cy="3052629"/>
            <a:chOff x="5811663" y="914925"/>
            <a:chExt cx="3553972" cy="3052629"/>
          </a:xfrm>
        </p:grpSpPr>
        <p:sp>
          <p:nvSpPr>
            <p:cNvPr id="9" name="TextBox 8">
              <a:extLst>
                <a:ext uri="{FF2B5EF4-FFF2-40B4-BE49-F238E27FC236}">
                  <a16:creationId xmlns:a16="http://schemas.microsoft.com/office/drawing/2014/main" id="{C6BFA396-D129-F3D0-F4B7-46BB9ECE3BC7}"/>
                </a:ext>
              </a:extLst>
            </p:cNvPr>
            <p:cNvSpPr txBox="1"/>
            <p:nvPr/>
          </p:nvSpPr>
          <p:spPr>
            <a:xfrm>
              <a:off x="5811663" y="914925"/>
              <a:ext cx="3553972"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Surface Roughness [2]</a:t>
              </a:r>
            </a:p>
          </p:txBody>
        </p:sp>
        <p:pic>
          <p:nvPicPr>
            <p:cNvPr id="13" name="Picture 12">
              <a:extLst>
                <a:ext uri="{FF2B5EF4-FFF2-40B4-BE49-F238E27FC236}">
                  <a16:creationId xmlns:a16="http://schemas.microsoft.com/office/drawing/2014/main" id="{FDAAA17D-01AB-5184-EBC3-EA37101CFE8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66790" y="1336708"/>
              <a:ext cx="2985301" cy="2630846"/>
            </a:xfrm>
            <a:prstGeom prst="rect">
              <a:avLst/>
            </a:prstGeom>
          </p:spPr>
        </p:pic>
      </p:grpSp>
      <p:grpSp>
        <p:nvGrpSpPr>
          <p:cNvPr id="3" name="Group 2">
            <a:extLst>
              <a:ext uri="{FF2B5EF4-FFF2-40B4-BE49-F238E27FC236}">
                <a16:creationId xmlns:a16="http://schemas.microsoft.com/office/drawing/2014/main" id="{F102BBA0-0B07-3206-8D8F-E4D3506EF38C}"/>
              </a:ext>
            </a:extLst>
          </p:cNvPr>
          <p:cNvGrpSpPr/>
          <p:nvPr/>
        </p:nvGrpSpPr>
        <p:grpSpPr>
          <a:xfrm>
            <a:off x="111212" y="5739600"/>
            <a:ext cx="11964150" cy="820054"/>
            <a:chOff x="111212" y="5739600"/>
            <a:chExt cx="11964150" cy="820054"/>
          </a:xfrm>
        </p:grpSpPr>
        <p:sp>
          <p:nvSpPr>
            <p:cNvPr id="15" name="TextBox 14">
              <a:extLst>
                <a:ext uri="{FF2B5EF4-FFF2-40B4-BE49-F238E27FC236}">
                  <a16:creationId xmlns:a16="http://schemas.microsoft.com/office/drawing/2014/main" id="{047BAC2D-D22B-1DDC-9775-729A323E0309}"/>
                </a:ext>
              </a:extLst>
            </p:cNvPr>
            <p:cNvSpPr txBox="1"/>
            <p:nvPr/>
          </p:nvSpPr>
          <p:spPr>
            <a:xfrm>
              <a:off x="111212" y="5964961"/>
              <a:ext cx="11240531"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[2] Xu, Y., Huang, P., To, S., Zhu, L. M., &amp; Zhu, Z. (2022). Low‐cost volumetric 3D printing of high‐precision miniature lenses in seconds. </a:t>
              </a:r>
              <a:r>
                <a:rPr lang="en-US" sz="900" b="0" i="1" dirty="0">
                  <a:solidFill>
                    <a:srgbClr val="222222"/>
                  </a:solidFill>
                  <a:effectLst/>
                  <a:latin typeface="Arial" panose="020B0604020202020204" pitchFamily="34" charset="0"/>
                </a:rPr>
                <a:t>Advanced Optical Materials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10</a:t>
              </a:r>
              <a:r>
                <a:rPr lang="en-US" sz="900" b="0" i="0" dirty="0">
                  <a:solidFill>
                    <a:srgbClr val="222222"/>
                  </a:solidFill>
                  <a:effectLst/>
                  <a:latin typeface="Arial" panose="020B0604020202020204" pitchFamily="34" charset="0"/>
                </a:rPr>
                <a:t>(17), 2200488.</a:t>
              </a:r>
              <a:endParaRPr lang="en-US" sz="900" dirty="0"/>
            </a:p>
          </p:txBody>
        </p:sp>
        <p:sp>
          <p:nvSpPr>
            <p:cNvPr id="17" name="TextBox 16">
              <a:extLst>
                <a:ext uri="{FF2B5EF4-FFF2-40B4-BE49-F238E27FC236}">
                  <a16:creationId xmlns:a16="http://schemas.microsoft.com/office/drawing/2014/main" id="{7AC1DE64-BBDD-28B8-FE91-00369340E53A}"/>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[1] Ma, Y., Tian, Z., Wang, B., Zhao, Y., Nie, Y., Wildman, R. D., ... &amp; He, Y. (2024). Enhancing the 3D printing fidelity of vat photopolymerization with machine learning-driven boundary prediction. </a:t>
              </a:r>
              <a:r>
                <a:rPr lang="en-US" sz="900" b="0" i="1" dirty="0">
                  <a:solidFill>
                    <a:srgbClr val="222222"/>
                  </a:solidFill>
                  <a:effectLst/>
                  <a:latin typeface="Arial" panose="020B0604020202020204" pitchFamily="34" charset="0"/>
                </a:rPr>
                <a:t>Materials &amp; Design</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241</a:t>
              </a:r>
              <a:r>
                <a:rPr lang="en-US" sz="900" b="0" i="0" dirty="0">
                  <a:solidFill>
                    <a:srgbClr val="222222"/>
                  </a:solidFill>
                  <a:effectLst/>
                  <a:latin typeface="Arial" panose="020B0604020202020204" pitchFamily="34" charset="0"/>
                </a:rPr>
                <a:t>, 112978.</a:t>
              </a:r>
              <a:endParaRPr lang="en-US" sz="900" dirty="0"/>
            </a:p>
          </p:txBody>
        </p:sp>
        <p:sp>
          <p:nvSpPr>
            <p:cNvPr id="19" name="TextBox 18">
              <a:extLst>
                <a:ext uri="{FF2B5EF4-FFF2-40B4-BE49-F238E27FC236}">
                  <a16:creationId xmlns:a16="http://schemas.microsoft.com/office/drawing/2014/main" id="{542C34B1-4772-4E82-0A47-CB82A6F02E6F}"/>
                </a:ext>
              </a:extLst>
            </p:cNvPr>
            <p:cNvSpPr txBox="1"/>
            <p:nvPr/>
          </p:nvSpPr>
          <p:spPr>
            <a:xfrm>
              <a:off x="111212" y="6190322"/>
              <a:ext cx="11964150" cy="3693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[3] Zhang, Q., Weng, S., Hamel, C. M., Montgomery, S. M., Wu, J., Kuang, X., ... &amp; Qi, H. J. (2021). Design for the reduction of volume shrinkage-induced distortion in digital light processing 3D printing. </a:t>
              </a:r>
              <a:r>
                <a:rPr lang="en-US" sz="900" b="0" i="1" dirty="0">
                  <a:solidFill>
                    <a:srgbClr val="222222"/>
                  </a:solidFill>
                  <a:effectLst/>
                  <a:latin typeface="Arial" panose="020B0604020202020204" pitchFamily="34" charset="0"/>
                </a:rPr>
                <a:t>Extreme Mechanics Letters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48</a:t>
              </a:r>
              <a:r>
                <a:rPr lang="en-US" sz="900" b="0" i="0" dirty="0">
                  <a:solidFill>
                    <a:srgbClr val="222222"/>
                  </a:solidFill>
                  <a:effectLst/>
                  <a:latin typeface="Arial" panose="020B0604020202020204" pitchFamily="34" charset="0"/>
                </a:rPr>
                <a:t>, 101403.</a:t>
              </a:r>
              <a:endParaRPr lang="en-US" sz="900" dirty="0"/>
            </a:p>
          </p:txBody>
        </p:sp>
      </p:grpSp>
      <p:grpSp>
        <p:nvGrpSpPr>
          <p:cNvPr id="24" name="Group 23">
            <a:extLst>
              <a:ext uri="{FF2B5EF4-FFF2-40B4-BE49-F238E27FC236}">
                <a16:creationId xmlns:a16="http://schemas.microsoft.com/office/drawing/2014/main" id="{361CEE1C-D1A1-FE9F-1047-1BE6C9105408}"/>
              </a:ext>
            </a:extLst>
          </p:cNvPr>
          <p:cNvGrpSpPr/>
          <p:nvPr/>
        </p:nvGrpSpPr>
        <p:grpSpPr>
          <a:xfrm>
            <a:off x="8552030" y="1510675"/>
            <a:ext cx="3321263" cy="2926589"/>
            <a:chOff x="8465533" y="900053"/>
            <a:chExt cx="3321263" cy="2926589"/>
          </a:xfrm>
        </p:grpSpPr>
        <p:pic>
          <p:nvPicPr>
            <p:cNvPr id="20" name="Picture 19">
              <a:extLst>
                <a:ext uri="{FF2B5EF4-FFF2-40B4-BE49-F238E27FC236}">
                  <a16:creationId xmlns:a16="http://schemas.microsoft.com/office/drawing/2014/main" id="{EFB10B1D-044A-B612-BDF7-48572CBF4C6C}"/>
                </a:ext>
              </a:extLst>
            </p:cNvPr>
            <p:cNvPicPr>
              <a:picLocks noChangeAspect="1"/>
            </p:cNvPicPr>
            <p:nvPr/>
          </p:nvPicPr>
          <p:blipFill>
            <a:blip r:embed="rId5">
              <a:extLst>
                <a:ext uri="{28A0092B-C50C-407E-A947-70E740481C1C}">
                  <a14:useLocalDpi xmlns:a14="http://schemas.microsoft.com/office/drawing/2010/main" val="0"/>
                </a:ext>
              </a:extLst>
            </a:blip>
            <a:srcRect l="50403" t="11602" b="5728"/>
            <a:stretch>
              <a:fillRect/>
            </a:stretch>
          </p:blipFill>
          <p:spPr>
            <a:xfrm>
              <a:off x="8465533" y="1415014"/>
              <a:ext cx="3321263" cy="2411628"/>
            </a:xfrm>
            <a:prstGeom prst="rect">
              <a:avLst/>
            </a:prstGeom>
          </p:spPr>
        </p:pic>
        <p:sp>
          <p:nvSpPr>
            <p:cNvPr id="21" name="TextBox 20">
              <a:extLst>
                <a:ext uri="{FF2B5EF4-FFF2-40B4-BE49-F238E27FC236}">
                  <a16:creationId xmlns:a16="http://schemas.microsoft.com/office/drawing/2014/main" id="{B042A93A-1D26-E21F-0EA5-E41116661D2B}"/>
                </a:ext>
              </a:extLst>
            </p:cNvPr>
            <p:cNvSpPr txBox="1"/>
            <p:nvPr/>
          </p:nvSpPr>
          <p:spPr>
            <a:xfrm>
              <a:off x="8465533" y="900053"/>
              <a:ext cx="2886210"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Volume Shrinkage [3]</a:t>
              </a:r>
            </a:p>
          </p:txBody>
        </p:sp>
      </p:grpSp>
      <p:sp>
        <p:nvSpPr>
          <p:cNvPr id="28" name="TextBox 27">
            <a:extLst>
              <a:ext uri="{FF2B5EF4-FFF2-40B4-BE49-F238E27FC236}">
                <a16:creationId xmlns:a16="http://schemas.microsoft.com/office/drawing/2014/main" id="{BA8A7110-3B61-C5BE-F532-6439F4A2C2F1}"/>
              </a:ext>
            </a:extLst>
          </p:cNvPr>
          <p:cNvSpPr txBox="1"/>
          <p:nvPr/>
        </p:nvSpPr>
        <p:spPr>
          <a:xfrm>
            <a:off x="318707" y="4516963"/>
            <a:ext cx="4051517" cy="954107"/>
          </a:xfrm>
          <a:prstGeom prst="rect">
            <a:avLst/>
          </a:prstGeom>
          <a:noFill/>
        </p:spPr>
        <p:txBody>
          <a:bodyPr wrap="square">
            <a:spAutoFit/>
          </a:bodyPr>
          <a:lstStyle/>
          <a:p>
            <a:r>
              <a:rPr lang="en-US" sz="1400" dirty="0"/>
              <a:t>Pixel-level grayscale control can improve boundary smoothness, but limited projector resolution and light scattering can still cause shape mismatch and overcuring.</a:t>
            </a:r>
          </a:p>
        </p:txBody>
      </p:sp>
      <p:sp>
        <p:nvSpPr>
          <p:cNvPr id="30" name="TextBox 29">
            <a:extLst>
              <a:ext uri="{FF2B5EF4-FFF2-40B4-BE49-F238E27FC236}">
                <a16:creationId xmlns:a16="http://schemas.microsoft.com/office/drawing/2014/main" id="{08683FCF-85BC-224A-DABA-0B166068AD2D}"/>
              </a:ext>
            </a:extLst>
          </p:cNvPr>
          <p:cNvSpPr txBox="1"/>
          <p:nvPr/>
        </p:nvSpPr>
        <p:spPr>
          <a:xfrm>
            <a:off x="5039296" y="4565603"/>
            <a:ext cx="3194957" cy="954107"/>
          </a:xfrm>
          <a:prstGeom prst="rect">
            <a:avLst/>
          </a:prstGeom>
          <a:noFill/>
        </p:spPr>
        <p:txBody>
          <a:bodyPr wrap="square">
            <a:spAutoFit/>
          </a:bodyPr>
          <a:lstStyle/>
          <a:p>
            <a:r>
              <a:rPr lang="en-US" sz="1400" dirty="0"/>
              <a:t>Layer-wise curing and pixelated light projection can create rough or stair-stepped surfaces, especially near curved boundaries.</a:t>
            </a:r>
          </a:p>
        </p:txBody>
      </p:sp>
      <p:sp>
        <p:nvSpPr>
          <p:cNvPr id="32" name="TextBox 31">
            <a:extLst>
              <a:ext uri="{FF2B5EF4-FFF2-40B4-BE49-F238E27FC236}">
                <a16:creationId xmlns:a16="http://schemas.microsoft.com/office/drawing/2014/main" id="{1EB04682-E7F5-76E2-5045-EC16CB9B5D9C}"/>
              </a:ext>
            </a:extLst>
          </p:cNvPr>
          <p:cNvSpPr txBox="1"/>
          <p:nvPr/>
        </p:nvSpPr>
        <p:spPr>
          <a:xfrm>
            <a:off x="8552030" y="4582893"/>
            <a:ext cx="2751290" cy="954107"/>
          </a:xfrm>
          <a:prstGeom prst="rect">
            <a:avLst/>
          </a:prstGeom>
          <a:noFill/>
        </p:spPr>
        <p:txBody>
          <a:bodyPr wrap="square">
            <a:spAutoFit/>
          </a:bodyPr>
          <a:lstStyle/>
          <a:p>
            <a:r>
              <a:rPr lang="en-US" sz="1400" dirty="0"/>
              <a:t>Photopolymerization-induced shrinkage can distort printed geometries and cause deviation from the CAD model.</a:t>
            </a:r>
          </a:p>
        </p:txBody>
      </p:sp>
    </p:spTree>
    <p:extLst>
      <p:ext uri="{BB962C8B-B14F-4D97-AF65-F5344CB8AC3E}">
        <p14:creationId xmlns:p14="http://schemas.microsoft.com/office/powerpoint/2010/main" val="4173202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4" name="Date Placeholder 3"/>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p:cNvSpPr>
            <a:spLocks noGrp="1"/>
          </p:cNvSpPr>
          <p:nvPr>
            <p:ph type="sldNum" sz="quarter" idx="12"/>
          </p:nvPr>
        </p:nvSpPr>
        <p:spPr/>
        <p:txBody>
          <a:bodyPr/>
          <a:lstStyle/>
          <a:p>
            <a:fld id="{5A741E56-E3D9-46FF-B47D-3FCBEAE97EB2}" type="slidenum">
              <a:rPr lang="en-US" smtClean="0"/>
              <a:pPr/>
              <a:t>3</a:t>
            </a:fld>
            <a:endParaRPr lang="en-US" dirty="0"/>
          </a:p>
        </p:txBody>
      </p:sp>
      <p:pic>
        <p:nvPicPr>
          <p:cNvPr id="7" name="Picture 6">
            <a:extLst>
              <a:ext uri="{FF2B5EF4-FFF2-40B4-BE49-F238E27FC236}">
                <a16:creationId xmlns:a16="http://schemas.microsoft.com/office/drawing/2014/main" id="{65148EF8-CAB8-5AB0-68FB-60329F1C926E}"/>
              </a:ext>
            </a:extLst>
          </p:cNvPr>
          <p:cNvPicPr>
            <a:picLocks noChangeAspect="1"/>
          </p:cNvPicPr>
          <p:nvPr/>
        </p:nvPicPr>
        <p:blipFill>
          <a:blip r:embed="rId3"/>
          <a:stretch>
            <a:fillRect/>
          </a:stretch>
        </p:blipFill>
        <p:spPr>
          <a:xfrm>
            <a:off x="5689090" y="1398603"/>
            <a:ext cx="6502909" cy="4052186"/>
          </a:xfrm>
          <a:prstGeom prst="rect">
            <a:avLst/>
          </a:prstGeom>
        </p:spPr>
      </p:pic>
      <p:sp>
        <p:nvSpPr>
          <p:cNvPr id="8" name="TextBox 7">
            <a:extLst>
              <a:ext uri="{FF2B5EF4-FFF2-40B4-BE49-F238E27FC236}">
                <a16:creationId xmlns:a16="http://schemas.microsoft.com/office/drawing/2014/main" id="{AE914058-E2C0-3751-0126-2DC82E88679F}"/>
              </a:ext>
            </a:extLst>
          </p:cNvPr>
          <p:cNvSpPr txBox="1"/>
          <p:nvPr/>
        </p:nvSpPr>
        <p:spPr>
          <a:xfrm>
            <a:off x="594360" y="5979568"/>
            <a:ext cx="11647170" cy="461665"/>
          </a:xfrm>
          <a:prstGeom prst="rect">
            <a:avLst/>
          </a:prstGeom>
          <a:noFill/>
        </p:spPr>
        <p:txBody>
          <a:bodyPr wrap="square" rtlCol="0">
            <a:spAutoFit/>
          </a:bodyPr>
          <a:lstStyle/>
          <a:p>
            <a:r>
              <a:rPr lang="en-US" altLang="zh-TW" sz="1200" dirty="0"/>
              <a:t>Ref. Yap, T., Singh, K., Chen, X., O’Dea, C., Crawford, N. K., Bae, K., Page, Z. A., &amp; Cullinan, M. (2026, June 14–18). </a:t>
            </a:r>
            <a:r>
              <a:rPr lang="en-US" altLang="zh-TW" sz="1200" i="1" dirty="0"/>
              <a:t>Inversely designed projection image generation for vat photopolymerization in a machine learning framework</a:t>
            </a:r>
            <a:r>
              <a:rPr lang="en-US" altLang="zh-TW" sz="1200" dirty="0"/>
              <a:t>. In </a:t>
            </a:r>
            <a:r>
              <a:rPr lang="en-US" altLang="zh-TW" sz="1200" i="1" dirty="0"/>
              <a:t>Proceedings of the ASME 2026 21st International Manufacturing Science and Engineering Conference (MSEC2026)</a:t>
            </a:r>
            <a:r>
              <a:rPr lang="en-US" altLang="zh-TW" sz="1200" dirty="0"/>
              <a:t>, </a:t>
            </a:r>
            <a:endParaRPr lang="zh-TW" altLang="en-US" sz="12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6BB0638-B062-F8F4-6DC1-DD08FBF6EFED}"/>
                  </a:ext>
                </a:extLst>
              </p:cNvPr>
              <p:cNvSpPr txBox="1"/>
              <p:nvPr/>
            </p:nvSpPr>
            <p:spPr>
              <a:xfrm>
                <a:off x="190251" y="1162538"/>
                <a:ext cx="5498839" cy="4524315"/>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Part 1: Optimize a single DMD mask through </a:t>
                </a:r>
                <a:r>
                  <a:rPr lang="en-US" altLang="zh-TW" b="1" dirty="0"/>
                  <a:t>offline open-loop inverse design</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Part 2: Optimize a sequence of DMD masks using </a:t>
                </a:r>
                <a:r>
                  <a:rPr lang="en-US" altLang="zh-TW" b="1" dirty="0"/>
                  <a:t>offline nominal open-loop optimization</a:t>
                </a:r>
                <a:r>
                  <a:rPr lang="en-US" altLang="zh-TW" dirty="0"/>
                  <a:t> and </a:t>
                </a:r>
                <a:r>
                  <a:rPr lang="en-US" altLang="zh-TW" b="1" dirty="0"/>
                  <a:t>online blurring feedback correction in a closed-loop framework</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Objective: Mitigate blurring effects to enable </a:t>
                </a:r>
                <a:r>
                  <a:rPr lang="en-US" altLang="zh-TW" b="1" dirty="0"/>
                  <a:t>accurate and high-speed vat photopolymerization (VPP)</a:t>
                </a:r>
              </a:p>
              <a:p>
                <a:pPr marL="285750" indent="-285750">
                  <a:buFont typeface="Arial" panose="020B0604020202020204" pitchFamily="34" charset="0"/>
                  <a:buChar char="•"/>
                </a:pPr>
                <a:endParaRPr lang="en-US" altLang="zh-TW" b="1" dirty="0"/>
              </a:p>
              <a:p>
                <a:pPr marL="285750" indent="-285750">
                  <a:buFont typeface="Arial" panose="020B0604020202020204" pitchFamily="34" charset="0"/>
                  <a:buChar char="•"/>
                </a:pPr>
                <a:r>
                  <a:rPr lang="en-US" altLang="zh-TW" dirty="0"/>
                  <a:t>State Space Model</a:t>
                </a:r>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altLang="zh-TW" dirty="0"/>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𝑦</m:t>
                          </m:r>
                        </m:e>
                        <m:sub>
                          <m:r>
                            <a:rPr lang="en-US" altLang="zh-TW" i="1">
                              <a:latin typeface="Cambria Math" panose="02040503050406030204" pitchFamily="18" charset="0"/>
                            </a:rPr>
                            <m:t>𝑘</m:t>
                          </m:r>
                        </m:sub>
                      </m:sSub>
                      <m:r>
                        <a:rPr lang="en-US" altLang="zh-TW" i="1">
                          <a:latin typeface="Cambria Math" panose="02040503050406030204" pitchFamily="18" charset="0"/>
                        </a:rPr>
                        <m:t>=</m:t>
                      </m:r>
                      <m:r>
                        <a:rPr lang="en-US" altLang="zh-TW" i="1">
                          <a:latin typeface="Cambria Math" panose="02040503050406030204" pitchFamily="18" charset="0"/>
                        </a:rPr>
                        <m:t>ℎ</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e>
                      </m:d>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m:oMathPara>
                </a14:m>
                <a:endParaRPr lang="en-US" altLang="zh-TW" dirty="0"/>
              </a:p>
              <a:p>
                <a:r>
                  <a:rPr lang="en-US" altLang="zh-TW" dirty="0"/>
                  <a:t>where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r>
                  <a:rPr lang="zh-TW" altLang="en-US" dirty="0"/>
                  <a:t> </a:t>
                </a:r>
                <a:r>
                  <a:rPr lang="en-US" altLang="zh-TW" dirty="0"/>
                  <a:t>is the state of each pixel (e.g., DoC, oxygen), </a:t>
                </a:r>
                <a14:m>
                  <m:oMath xmlns:m="http://schemas.openxmlformats.org/officeDocument/2006/math">
                    <m:r>
                      <a:rPr lang="en-US" altLang="zh-TW" i="1">
                        <a:latin typeface="Cambria Math" panose="02040503050406030204" pitchFamily="18" charset="0"/>
                      </a:rPr>
                      <m:t>𝜃</m:t>
                    </m:r>
                  </m:oMath>
                </a14:m>
                <a:r>
                  <a:rPr lang="en-US" altLang="zh-TW" dirty="0"/>
                  <a:t> and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a14:m>
                <a:r>
                  <a:rPr lang="en-US" altLang="zh-TW" dirty="0"/>
                  <a:t>are process and sensor uncertainty.</a:t>
                </a:r>
                <a:r>
                  <a:rPr lang="zh-TW" altLang="en-US" dirty="0"/>
                  <a:t> </a:t>
                </a:r>
              </a:p>
            </p:txBody>
          </p:sp>
        </mc:Choice>
        <mc:Fallback xmlns="">
          <p:sp>
            <p:nvSpPr>
              <p:cNvPr id="10" name="TextBox 9">
                <a:extLst>
                  <a:ext uri="{FF2B5EF4-FFF2-40B4-BE49-F238E27FC236}">
                    <a16:creationId xmlns:a16="http://schemas.microsoft.com/office/drawing/2014/main" id="{E6BB0638-B062-F8F4-6DC1-DD08FBF6EFED}"/>
                  </a:ext>
                </a:extLst>
              </p:cNvPr>
              <p:cNvSpPr txBox="1">
                <a:spLocks noRot="1" noChangeAspect="1" noMove="1" noResize="1" noEditPoints="1" noAdjustHandles="1" noChangeArrowheads="1" noChangeShapeType="1" noTextEdit="1"/>
              </p:cNvSpPr>
              <p:nvPr/>
            </p:nvSpPr>
            <p:spPr>
              <a:xfrm>
                <a:off x="190251" y="1162538"/>
                <a:ext cx="5498839" cy="4524315"/>
              </a:xfrm>
              <a:prstGeom prst="rect">
                <a:avLst/>
              </a:prstGeom>
              <a:blipFill>
                <a:blip r:embed="rId4"/>
                <a:stretch>
                  <a:fillRect l="-887" t="-809" r="-1552" b="-121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611459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89249-3A10-30F9-C18C-A5E8DFDEDC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047DC5-CD96-945C-4BBE-77CAB677EE03}"/>
              </a:ext>
            </a:extLst>
          </p:cNvPr>
          <p:cNvSpPr>
            <a:spLocks noGrp="1"/>
          </p:cNvSpPr>
          <p:nvPr>
            <p:ph type="title"/>
          </p:nvPr>
        </p:nvSpPr>
        <p:spPr/>
        <p:txBody>
          <a:bodyPr/>
          <a:lstStyle/>
          <a:p>
            <a:r>
              <a:rPr lang="en-US" altLang="zh-TW" dirty="0"/>
              <a:t>Offline Optimization Overview</a:t>
            </a:r>
            <a:endParaRPr lang="en-US" dirty="0"/>
          </a:p>
        </p:txBody>
      </p:sp>
      <p:sp>
        <p:nvSpPr>
          <p:cNvPr id="4" name="Date Placeholder 3">
            <a:extLst>
              <a:ext uri="{FF2B5EF4-FFF2-40B4-BE49-F238E27FC236}">
                <a16:creationId xmlns:a16="http://schemas.microsoft.com/office/drawing/2014/main" id="{68D544F8-16A9-D9EC-967B-DF1E229D7F46}"/>
              </a:ext>
            </a:extLst>
          </p:cNvPr>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a:extLst>
              <a:ext uri="{FF2B5EF4-FFF2-40B4-BE49-F238E27FC236}">
                <a16:creationId xmlns:a16="http://schemas.microsoft.com/office/drawing/2014/main" id="{CBFC0610-4789-3162-7132-A4D1F9D185F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FE5B5A22-87F6-E679-78AD-975006C4BBC8}"/>
              </a:ext>
            </a:extLst>
          </p:cNvPr>
          <p:cNvSpPr>
            <a:spLocks noGrp="1"/>
          </p:cNvSpPr>
          <p:nvPr>
            <p:ph type="sldNum" sz="quarter" idx="12"/>
          </p:nvPr>
        </p:nvSpPr>
        <p:spPr/>
        <p:txBody>
          <a:bodyPr/>
          <a:lstStyle/>
          <a:p>
            <a:fld id="{5A741E56-E3D9-46FF-B47D-3FCBEAE97EB2}" type="slidenum">
              <a:rPr lang="en-US" smtClean="0"/>
              <a:pPr/>
              <a:t>4</a:t>
            </a:fld>
            <a:endParaRPr lang="en-US" dirty="0"/>
          </a:p>
        </p:txBody>
      </p:sp>
      <p:grpSp>
        <p:nvGrpSpPr>
          <p:cNvPr id="45" name="Group 44">
            <a:extLst>
              <a:ext uri="{FF2B5EF4-FFF2-40B4-BE49-F238E27FC236}">
                <a16:creationId xmlns:a16="http://schemas.microsoft.com/office/drawing/2014/main" id="{D0EC46CF-2BAC-BB1F-87F9-A527534683C0}"/>
              </a:ext>
            </a:extLst>
          </p:cNvPr>
          <p:cNvGrpSpPr/>
          <p:nvPr/>
        </p:nvGrpSpPr>
        <p:grpSpPr>
          <a:xfrm>
            <a:off x="338671" y="2929189"/>
            <a:ext cx="11665069" cy="2551522"/>
            <a:chOff x="405202" y="892885"/>
            <a:chExt cx="11665069" cy="2551522"/>
          </a:xfrm>
        </p:grpSpPr>
        <p:sp>
          <p:nvSpPr>
            <p:cNvPr id="3" name="TextBox 2">
              <a:extLst>
                <a:ext uri="{FF2B5EF4-FFF2-40B4-BE49-F238E27FC236}">
                  <a16:creationId xmlns:a16="http://schemas.microsoft.com/office/drawing/2014/main" id="{C8F9BDE6-E299-6D0B-9C40-8E02CB94E10F}"/>
                </a:ext>
              </a:extLst>
            </p:cNvPr>
            <p:cNvSpPr txBox="1"/>
            <p:nvPr/>
          </p:nvSpPr>
          <p:spPr>
            <a:xfrm>
              <a:off x="405204" y="892885"/>
              <a:ext cx="11381590" cy="400110"/>
            </a:xfrm>
            <a:prstGeom prst="rect">
              <a:avLst/>
            </a:prstGeom>
            <a:noFill/>
          </p:spPr>
          <p:txBody>
            <a:bodyPr wrap="square" rtlCol="0">
              <a:spAutoFit/>
            </a:bodyPr>
            <a:lstStyle/>
            <a:p>
              <a:r>
                <a:rPr lang="en-US" altLang="zh-TW" sz="2000" b="1" dirty="0"/>
                <a:t>Optimization-Based Approaches </a:t>
              </a:r>
            </a:p>
          </p:txBody>
        </p:sp>
        <p:sp>
          <p:nvSpPr>
            <p:cNvPr id="10" name="TextBox 9">
              <a:extLst>
                <a:ext uri="{FF2B5EF4-FFF2-40B4-BE49-F238E27FC236}">
                  <a16:creationId xmlns:a16="http://schemas.microsoft.com/office/drawing/2014/main" id="{7B18AB82-B476-EE04-7871-2CE9E5DFEE07}"/>
                </a:ext>
              </a:extLst>
            </p:cNvPr>
            <p:cNvSpPr txBox="1"/>
            <p:nvPr/>
          </p:nvSpPr>
          <p:spPr>
            <a:xfrm>
              <a:off x="405202" y="2120968"/>
              <a:ext cx="11665069" cy="1323439"/>
            </a:xfrm>
            <a:prstGeom prst="rect">
              <a:avLst/>
            </a:prstGeom>
            <a:noFill/>
          </p:spPr>
          <p:txBody>
            <a:bodyPr wrap="square" rtlCol="0">
              <a:spAutoFit/>
            </a:bodyPr>
            <a:lstStyle/>
            <a:p>
              <a:r>
                <a:rPr lang="en-US" altLang="zh-TW" sz="2000" dirty="0"/>
                <a:t>2. Model-based [2] [3] [4]</a:t>
              </a:r>
            </a:p>
            <a:p>
              <a:r>
                <a:rPr lang="en-US" sz="2000" dirty="0"/>
                <a:t>Uses either more detailed physical models to improve prediction fidelity or r</a:t>
              </a:r>
              <a:r>
                <a:rPr lang="en-US" altLang="zh-TW" sz="2000" dirty="0"/>
                <a:t>educed-order model </a:t>
              </a:r>
              <a:r>
                <a:rPr lang="en-US" sz="2000" dirty="0"/>
                <a:t>by simplifying curing models to reduce computational cost while preserving key process trends. </a:t>
              </a:r>
            </a:p>
            <a:p>
              <a:endParaRPr lang="en-US" altLang="zh-TW" sz="2000" dirty="0"/>
            </a:p>
          </p:txBody>
        </p:sp>
        <p:sp>
          <p:nvSpPr>
            <p:cNvPr id="44" name="TextBox 43">
              <a:extLst>
                <a:ext uri="{FF2B5EF4-FFF2-40B4-BE49-F238E27FC236}">
                  <a16:creationId xmlns:a16="http://schemas.microsoft.com/office/drawing/2014/main" id="{10B1A203-34F5-6A50-4857-3939EED35543}"/>
                </a:ext>
              </a:extLst>
            </p:cNvPr>
            <p:cNvSpPr txBox="1"/>
            <p:nvPr/>
          </p:nvSpPr>
          <p:spPr>
            <a:xfrm>
              <a:off x="405203" y="1205944"/>
              <a:ext cx="8717026" cy="707886"/>
            </a:xfrm>
            <a:prstGeom prst="rect">
              <a:avLst/>
            </a:prstGeom>
            <a:noFill/>
          </p:spPr>
          <p:txBody>
            <a:bodyPr wrap="square" rtlCol="0">
              <a:spAutoFit/>
            </a:bodyPr>
            <a:lstStyle/>
            <a:p>
              <a:pPr marL="457200" indent="-457200">
                <a:buAutoNum type="arabicPeriod"/>
              </a:pPr>
              <a:r>
                <a:rPr lang="en-US" altLang="zh-TW" sz="2000" dirty="0"/>
                <a:t>Data-driven [1]</a:t>
              </a:r>
            </a:p>
            <a:p>
              <a:r>
                <a:rPr lang="en-US" sz="2000" dirty="0"/>
                <a:t>Learns boundary correction directly from printed experimental data.</a:t>
              </a:r>
              <a:endParaRPr lang="en-US" altLang="zh-TW" sz="2000" dirty="0"/>
            </a:p>
          </p:txBody>
        </p:sp>
      </p:gr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E5CF6D2-DA7F-94D2-BC1C-BAE9AE518AAE}"/>
                  </a:ext>
                </a:extLst>
              </p:cNvPr>
              <p:cNvSpPr txBox="1"/>
              <p:nvPr/>
            </p:nvSpPr>
            <p:spPr>
              <a:xfrm>
                <a:off x="338672" y="872463"/>
                <a:ext cx="11514654" cy="1785104"/>
              </a:xfrm>
              <a:prstGeom prst="rect">
                <a:avLst/>
              </a:prstGeom>
              <a:noFill/>
            </p:spPr>
            <p:txBody>
              <a:bodyPr wrap="square">
                <a:spAutoFit/>
              </a:bodyPr>
              <a:lstStyle/>
              <a:p>
                <a:pPr>
                  <a:buNone/>
                </a:pPr>
                <a:r>
                  <a:rPr lang="en-US" sz="2000" b="1" dirty="0"/>
                  <a:t>Why Optimization-Based Approaches?</a:t>
                </a:r>
              </a:p>
              <a:p>
                <a:pPr>
                  <a:buNone/>
                </a:pPr>
                <a:r>
                  <a:rPr lang="en-US" dirty="0"/>
                  <a:t>Vat photopolymerization is governed by highly nonlinear and spatially coupled phenomena, the process is difficult to describe accurately using a simple linear state-space model:</a:t>
                </a:r>
              </a:p>
              <a:p>
                <a:pPr>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r>
                            <a:rPr lang="en-US" i="0">
                              <a:latin typeface="Cambria Math" panose="02040503050406030204" pitchFamily="18" charset="0"/>
                            </a:rPr>
                            <m:t>+1</m:t>
                          </m:r>
                        </m:sub>
                      </m:sSub>
                      <m:r>
                        <a:rPr lang="en-US" i="0">
                          <a:latin typeface="Cambria Math" panose="02040503050406030204" pitchFamily="18" charset="0"/>
                        </a:rPr>
                        <m:t>=</m:t>
                      </m:r>
                      <m:r>
                        <a:rPr lang="en-US" i="1">
                          <a:latin typeface="Cambria Math" panose="02040503050406030204" pitchFamily="18" charset="0"/>
                        </a:rPr>
                        <m:t>𝐴</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r>
                        <a:rPr lang="en-US" i="0">
                          <a:latin typeface="Cambria Math" panose="02040503050406030204" pitchFamily="18" charset="0"/>
                        </a:rPr>
                        <m:t>+</m:t>
                      </m:r>
                      <m:r>
                        <a:rPr lang="en-US" i="1">
                          <a:latin typeface="Cambria Math" panose="02040503050406030204" pitchFamily="18" charset="0"/>
                        </a:rPr>
                        <m:t>𝐵</m:t>
                      </m:r>
                      <m:sSub>
                        <m:sSubPr>
                          <m:ctrlPr>
                            <a:rPr lang="en-US" i="1">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𝑘</m:t>
                          </m:r>
                        </m:sub>
                      </m:sSub>
                    </m:oMath>
                  </m:oMathPara>
                </a14:m>
                <a:endParaRPr lang="en-US" dirty="0"/>
              </a:p>
              <a:p>
                <a:pPr>
                  <a:buNone/>
                </a:pPr>
                <a:endParaRPr lang="en-US" altLang="zh-TW" i="1" dirty="0">
                  <a:latin typeface="Cambria Math" panose="02040503050406030204" pitchFamily="18" charset="0"/>
                </a:endParaRPr>
              </a:p>
              <a:p>
                <a:pPr>
                  <a:buNone/>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dirty="0"/>
              </a:p>
            </p:txBody>
          </p:sp>
        </mc:Choice>
        <mc:Fallback xmlns="">
          <p:sp>
            <p:nvSpPr>
              <p:cNvPr id="47" name="TextBox 46">
                <a:extLst>
                  <a:ext uri="{FF2B5EF4-FFF2-40B4-BE49-F238E27FC236}">
                    <a16:creationId xmlns:a16="http://schemas.microsoft.com/office/drawing/2014/main" id="{BE5CF6D2-DA7F-94D2-BC1C-BAE9AE518AAE}"/>
                  </a:ext>
                </a:extLst>
              </p:cNvPr>
              <p:cNvSpPr txBox="1">
                <a:spLocks noRot="1" noChangeAspect="1" noMove="1" noResize="1" noEditPoints="1" noAdjustHandles="1" noChangeArrowheads="1" noChangeShapeType="1" noTextEdit="1"/>
              </p:cNvSpPr>
              <p:nvPr/>
            </p:nvSpPr>
            <p:spPr>
              <a:xfrm>
                <a:off x="338672" y="872463"/>
                <a:ext cx="11514654" cy="1785104"/>
              </a:xfrm>
              <a:prstGeom prst="rect">
                <a:avLst/>
              </a:prstGeom>
              <a:blipFill>
                <a:blip r:embed="rId3"/>
                <a:stretch>
                  <a:fillRect l="-583" t="-1706" b="-2048"/>
                </a:stretch>
              </a:blipFill>
            </p:spPr>
            <p:txBody>
              <a:bodyPr/>
              <a:lstStyle/>
              <a:p>
                <a:r>
                  <a:rPr lang="en-US">
                    <a:noFill/>
                  </a:rPr>
                  <a:t> </a:t>
                </a:r>
              </a:p>
            </p:txBody>
          </p:sp>
        </mc:Fallback>
      </mc:AlternateContent>
      <p:sp>
        <p:nvSpPr>
          <p:cNvPr id="49" name="TextBox 48">
            <a:extLst>
              <a:ext uri="{FF2B5EF4-FFF2-40B4-BE49-F238E27FC236}">
                <a16:creationId xmlns:a16="http://schemas.microsoft.com/office/drawing/2014/main" id="{7A1E63BC-5EDF-4B54-B0B9-1AAD9BAFE40E}"/>
              </a:ext>
            </a:extLst>
          </p:cNvPr>
          <p:cNvSpPr txBox="1"/>
          <p:nvPr/>
        </p:nvSpPr>
        <p:spPr>
          <a:xfrm>
            <a:off x="338672" y="2663909"/>
            <a:ext cx="8821656" cy="369332"/>
          </a:xfrm>
          <a:prstGeom prst="rect">
            <a:avLst/>
          </a:prstGeom>
          <a:noFill/>
        </p:spPr>
        <p:txBody>
          <a:bodyPr wrap="square">
            <a:spAutoFit/>
          </a:bodyPr>
          <a:lstStyle/>
          <a:p>
            <a:pPr>
              <a:buNone/>
            </a:pPr>
            <a:r>
              <a:rPr lang="en-US" dirty="0"/>
              <a:t>ML-based methods can effectively learn the nonlinear relationship.</a:t>
            </a:r>
          </a:p>
        </p:txBody>
      </p:sp>
      <p:grpSp>
        <p:nvGrpSpPr>
          <p:cNvPr id="60" name="Group 59">
            <a:extLst>
              <a:ext uri="{FF2B5EF4-FFF2-40B4-BE49-F238E27FC236}">
                <a16:creationId xmlns:a16="http://schemas.microsoft.com/office/drawing/2014/main" id="{082D907C-CFFB-8CD5-B06B-D0981D55340C}"/>
              </a:ext>
            </a:extLst>
          </p:cNvPr>
          <p:cNvGrpSpPr/>
          <p:nvPr/>
        </p:nvGrpSpPr>
        <p:grpSpPr>
          <a:xfrm>
            <a:off x="7206344" y="1761909"/>
            <a:ext cx="283028" cy="307053"/>
            <a:chOff x="7249886" y="1723770"/>
            <a:chExt cx="365279" cy="407472"/>
          </a:xfrm>
        </p:grpSpPr>
        <p:cxnSp>
          <p:nvCxnSpPr>
            <p:cNvPr id="51" name="Straight Connector 50">
              <a:extLst>
                <a:ext uri="{FF2B5EF4-FFF2-40B4-BE49-F238E27FC236}">
                  <a16:creationId xmlns:a16="http://schemas.microsoft.com/office/drawing/2014/main" id="{E7192207-0B74-4BC1-C60A-AFB50A1EB2E1}"/>
                </a:ext>
              </a:extLst>
            </p:cNvPr>
            <p:cNvCxnSpPr>
              <a:cxnSpLocks/>
            </p:cNvCxnSpPr>
            <p:nvPr/>
          </p:nvCxnSpPr>
          <p:spPr>
            <a:xfrm>
              <a:off x="7249886" y="1723770"/>
              <a:ext cx="365279" cy="40747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E6F71FF-0BC4-30FF-2C96-C10413132B09}"/>
                </a:ext>
              </a:extLst>
            </p:cNvPr>
            <p:cNvCxnSpPr>
              <a:cxnSpLocks/>
            </p:cNvCxnSpPr>
            <p:nvPr/>
          </p:nvCxnSpPr>
          <p:spPr>
            <a:xfrm flipV="1">
              <a:off x="7249886" y="1723770"/>
              <a:ext cx="365279" cy="38653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847231D2-7059-2005-2B7A-B4AC796940C8}"/>
              </a:ext>
            </a:extLst>
          </p:cNvPr>
          <p:cNvGrpSpPr/>
          <p:nvPr/>
        </p:nvGrpSpPr>
        <p:grpSpPr>
          <a:xfrm>
            <a:off x="7206341" y="2283476"/>
            <a:ext cx="283029" cy="286514"/>
            <a:chOff x="7432535" y="1634430"/>
            <a:chExt cx="365281" cy="380215"/>
          </a:xfrm>
        </p:grpSpPr>
        <p:cxnSp>
          <p:nvCxnSpPr>
            <p:cNvPr id="62" name="Straight Connector 61">
              <a:extLst>
                <a:ext uri="{FF2B5EF4-FFF2-40B4-BE49-F238E27FC236}">
                  <a16:creationId xmlns:a16="http://schemas.microsoft.com/office/drawing/2014/main" id="{F2B2C79F-8740-18EF-432B-A13ABBE86255}"/>
                </a:ext>
              </a:extLst>
            </p:cNvPr>
            <p:cNvCxnSpPr>
              <a:cxnSpLocks/>
            </p:cNvCxnSpPr>
            <p:nvPr/>
          </p:nvCxnSpPr>
          <p:spPr>
            <a:xfrm>
              <a:off x="7432535" y="1864399"/>
              <a:ext cx="182629" cy="15024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DF1620E-FD25-E48D-8275-1CEF48402C4D}"/>
                </a:ext>
              </a:extLst>
            </p:cNvPr>
            <p:cNvCxnSpPr>
              <a:cxnSpLocks/>
            </p:cNvCxnSpPr>
            <p:nvPr/>
          </p:nvCxnSpPr>
          <p:spPr>
            <a:xfrm flipV="1">
              <a:off x="7615163" y="1634430"/>
              <a:ext cx="182653" cy="37674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8CE86093-D77A-BC00-C06E-FA0631EAED23}"/>
              </a:ext>
            </a:extLst>
          </p:cNvPr>
          <p:cNvGrpSpPr/>
          <p:nvPr/>
        </p:nvGrpSpPr>
        <p:grpSpPr>
          <a:xfrm>
            <a:off x="113924" y="5527790"/>
            <a:ext cx="11964150" cy="733192"/>
            <a:chOff x="111212" y="5739600"/>
            <a:chExt cx="11964150" cy="733192"/>
          </a:xfrm>
        </p:grpSpPr>
        <p:sp>
          <p:nvSpPr>
            <p:cNvPr id="8" name="TextBox 7">
              <a:extLst>
                <a:ext uri="{FF2B5EF4-FFF2-40B4-BE49-F238E27FC236}">
                  <a16:creationId xmlns:a16="http://schemas.microsoft.com/office/drawing/2014/main" id="{4EE9488F-318D-1950-4A78-E2C3AF5E1280}"/>
                </a:ext>
              </a:extLst>
            </p:cNvPr>
            <p:cNvSpPr txBox="1"/>
            <p:nvPr/>
          </p:nvSpPr>
          <p:spPr>
            <a:xfrm>
              <a:off x="111212" y="5964961"/>
              <a:ext cx="11964150" cy="507831"/>
            </a:xfrm>
            <a:prstGeom prst="rect">
              <a:avLst/>
            </a:prstGeom>
            <a:noFill/>
          </p:spPr>
          <p:txBody>
            <a:bodyPr wrap="square">
              <a:spAutoFit/>
            </a:bodyPr>
            <a:lstStyle/>
            <a:p>
              <a:r>
                <a:rPr lang="en-US" sz="900" b="0" i="0" dirty="0">
                  <a:solidFill>
                    <a:srgbClr val="222222"/>
                  </a:solidFill>
                  <a:effectLst/>
                </a:rPr>
                <a:t>[2] Xu, Y., Huang, P., To, S., Zhu, L. M., &amp; Zhu, Z. (2022). Low‐cost volumetric 3D printing of high‐precision miniature lenses in seconds. </a:t>
              </a:r>
              <a:r>
                <a:rPr lang="en-US" sz="900" b="0" i="1" dirty="0">
                  <a:solidFill>
                    <a:srgbClr val="222222"/>
                  </a:solidFill>
                  <a:effectLst/>
                </a:rPr>
                <a:t>Advanced Optical Materials</a:t>
              </a:r>
              <a:r>
                <a:rPr lang="en-US" sz="900" b="0" i="0" dirty="0">
                  <a:solidFill>
                    <a:srgbClr val="222222"/>
                  </a:solidFill>
                  <a:effectLst/>
                </a:rPr>
                <a:t>, </a:t>
              </a:r>
              <a:r>
                <a:rPr lang="en-US" sz="900" b="0" i="1" dirty="0">
                  <a:solidFill>
                    <a:srgbClr val="222222"/>
                  </a:solidFill>
                  <a:effectLst/>
                </a:rPr>
                <a:t>10</a:t>
              </a:r>
              <a:r>
                <a:rPr lang="en-US" sz="900" b="0" i="0" dirty="0">
                  <a:solidFill>
                    <a:srgbClr val="222222"/>
                  </a:solidFill>
                  <a:effectLst/>
                </a:rPr>
                <a:t>(17), 2200488.</a:t>
              </a:r>
            </a:p>
            <a:p>
              <a:r>
                <a:rPr lang="en-US" sz="900" dirty="0"/>
                <a:t>[3]Kumar, H., Ambhorkar, P., Foulds, I., Golovin, K., &amp; Kim, K. (2022). A kinetic model for predicting imperfections in bioink photopolymerization during visible-light stereolithography printing. </a:t>
              </a:r>
              <a:r>
                <a:rPr lang="en-US" sz="900" i="1" dirty="0"/>
                <a:t>Additive Manufacturing</a:t>
              </a:r>
              <a:r>
                <a:rPr lang="en-US" sz="900" dirty="0"/>
                <a:t>, </a:t>
              </a:r>
              <a:r>
                <a:rPr lang="en-US" sz="900" i="1" dirty="0"/>
                <a:t>55</a:t>
              </a:r>
              <a:r>
                <a:rPr lang="en-US" sz="900" dirty="0"/>
                <a:t>, 102808.</a:t>
              </a:r>
            </a:p>
            <a:p>
              <a:r>
                <a:rPr lang="en-US" sz="900" dirty="0">
                  <a:solidFill>
                    <a:srgbClr val="222222"/>
                  </a:solidFill>
                </a:rPr>
                <a:t>[4] Zhang, Q., Weng, S., Hamel, C. M., Montgomery, S. M., Wu, J., Kuang, X., ... &amp; Qi, H. J. (2021). Design for the reduction of volume shrinkage-induced distortion in digital light processing 3D printing. </a:t>
              </a:r>
              <a:r>
                <a:rPr lang="en-US" sz="900" i="1" dirty="0">
                  <a:solidFill>
                    <a:srgbClr val="222222"/>
                  </a:solidFill>
                </a:rPr>
                <a:t>Extreme Mechanics Letters</a:t>
              </a:r>
              <a:r>
                <a:rPr lang="en-US" sz="900" dirty="0">
                  <a:solidFill>
                    <a:srgbClr val="222222"/>
                  </a:solidFill>
                </a:rPr>
                <a:t>, </a:t>
              </a:r>
              <a:r>
                <a:rPr lang="en-US" sz="900" i="1" dirty="0">
                  <a:solidFill>
                    <a:srgbClr val="222222"/>
                  </a:solidFill>
                </a:rPr>
                <a:t>48</a:t>
              </a:r>
              <a:r>
                <a:rPr lang="en-US" sz="900" dirty="0">
                  <a:solidFill>
                    <a:srgbClr val="222222"/>
                  </a:solidFill>
                </a:rPr>
                <a:t>, 101403.</a:t>
              </a:r>
              <a:endParaRPr lang="en-US" sz="900" dirty="0"/>
            </a:p>
          </p:txBody>
        </p:sp>
        <p:sp>
          <p:nvSpPr>
            <p:cNvPr id="9" name="TextBox 8">
              <a:extLst>
                <a:ext uri="{FF2B5EF4-FFF2-40B4-BE49-F238E27FC236}">
                  <a16:creationId xmlns:a16="http://schemas.microsoft.com/office/drawing/2014/main" id="{57B125A0-3988-8D78-4099-13AD3D2F9E4E}"/>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rPr>
                <a:t>[1] Ma, Y., Tian, Z., Wang, B., Zhao, Y., Nie, Y., Wildman, R. D., ... &amp; He, Y. (2024). Enhancing the 3D printing fidelity of vat photopolymerization with machine learning-driven boundary prediction. </a:t>
              </a:r>
              <a:r>
                <a:rPr lang="en-US" sz="900" b="0" i="1" dirty="0">
                  <a:solidFill>
                    <a:srgbClr val="222222"/>
                  </a:solidFill>
                  <a:effectLst/>
                </a:rPr>
                <a:t>Materials &amp; Design</a:t>
              </a:r>
              <a:r>
                <a:rPr lang="en-US" sz="900" b="0" i="0" dirty="0">
                  <a:solidFill>
                    <a:srgbClr val="222222"/>
                  </a:solidFill>
                  <a:effectLst/>
                </a:rPr>
                <a:t>, </a:t>
              </a:r>
              <a:r>
                <a:rPr lang="en-US" sz="900" b="0" i="1" dirty="0">
                  <a:solidFill>
                    <a:srgbClr val="222222"/>
                  </a:solidFill>
                  <a:effectLst/>
                </a:rPr>
                <a:t>241</a:t>
              </a:r>
              <a:r>
                <a:rPr lang="en-US" sz="900" b="0" i="0" dirty="0">
                  <a:solidFill>
                    <a:srgbClr val="222222"/>
                  </a:solidFill>
                  <a:effectLst/>
                </a:rPr>
                <a:t>, 112978.</a:t>
              </a:r>
              <a:endParaRPr lang="en-US" sz="900" dirty="0"/>
            </a:p>
          </p:txBody>
        </p:sp>
      </p:grpSp>
    </p:spTree>
    <p:extLst>
      <p:ext uri="{BB962C8B-B14F-4D97-AF65-F5344CB8AC3E}">
        <p14:creationId xmlns:p14="http://schemas.microsoft.com/office/powerpoint/2010/main" val="38875483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AB5C9-939B-DEA9-1E9C-FB762955AF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85155-4647-77F0-136A-E53F9116090F}"/>
              </a:ext>
            </a:extLst>
          </p:cNvPr>
          <p:cNvSpPr>
            <a:spLocks noGrp="1"/>
          </p:cNvSpPr>
          <p:nvPr>
            <p:ph type="title"/>
          </p:nvPr>
        </p:nvSpPr>
        <p:spPr/>
        <p:txBody>
          <a:bodyPr/>
          <a:lstStyle/>
          <a:p>
            <a:r>
              <a:rPr lang="en-US" dirty="0"/>
              <a:t>Inverse Design</a:t>
            </a:r>
          </a:p>
        </p:txBody>
      </p:sp>
      <p:sp>
        <p:nvSpPr>
          <p:cNvPr id="4" name="Date Placeholder 3">
            <a:extLst>
              <a:ext uri="{FF2B5EF4-FFF2-40B4-BE49-F238E27FC236}">
                <a16:creationId xmlns:a16="http://schemas.microsoft.com/office/drawing/2014/main" id="{8ECB2104-BCB2-D62D-3B36-5F8C6E432B05}"/>
              </a:ext>
            </a:extLst>
          </p:cNvPr>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a:extLst>
              <a:ext uri="{FF2B5EF4-FFF2-40B4-BE49-F238E27FC236}">
                <a16:creationId xmlns:a16="http://schemas.microsoft.com/office/drawing/2014/main" id="{52989F4E-D860-B580-07F5-01217AB0A76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EBF526FB-121D-FF88-7FBB-65F4AD4950E6}"/>
              </a:ext>
            </a:extLst>
          </p:cNvPr>
          <p:cNvSpPr>
            <a:spLocks noGrp="1"/>
          </p:cNvSpPr>
          <p:nvPr>
            <p:ph type="sldNum" sz="quarter" idx="12"/>
          </p:nvPr>
        </p:nvSpPr>
        <p:spPr/>
        <p:txBody>
          <a:bodyPr/>
          <a:lstStyle/>
          <a:p>
            <a:fld id="{5A741E56-E3D9-46FF-B47D-3FCBEAE97EB2}" type="slidenum">
              <a:rPr lang="en-US" smtClean="0"/>
              <a:pPr/>
              <a:t>5</a:t>
            </a:fld>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4CE56C9-4B3C-DA44-CDF4-3AFD5FB99099}"/>
                  </a:ext>
                </a:extLst>
              </p:cNvPr>
              <p:cNvSpPr txBox="1"/>
              <p:nvPr/>
            </p:nvSpPr>
            <p:spPr>
              <a:xfrm>
                <a:off x="462579" y="1183341"/>
                <a:ext cx="11381590" cy="3896836"/>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Constant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𝑢</m:t>
                      </m:r>
                      <m:r>
                        <a:rPr lang="en-US" altLang="zh-TW" sz="2000" b="0" i="1" smtClean="0">
                          <a:latin typeface="Cambria Math" panose="02040503050406030204" pitchFamily="18" charset="0"/>
                        </a:rPr>
                        <m:t>, ∀ </m:t>
                      </m:r>
                      <m:r>
                        <a:rPr lang="en-US" altLang="zh-TW" sz="2000" b="0" i="1" smtClean="0">
                          <a:latin typeface="Cambria Math" panose="02040503050406030204" pitchFamily="18" charset="0"/>
                        </a:rPr>
                        <m:t>𝑘</m:t>
                      </m:r>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Optimization formulation (similar to the loss function in PyTorch)</a:t>
                </a: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r>
                                <a:rPr lang="en-US" altLang="zh-TW" sz="2000" b="0" i="1" smtClean="0">
                                  <a:latin typeface="Cambria Math" panose="02040503050406030204" pitchFamily="18" charset="0"/>
                                </a:rPr>
                                <m:t>𝑢</m:t>
                              </m:r>
                            </m:lim>
                          </m:limLow>
                        </m:fName>
                        <m:e>
                          <m:r>
                            <a:rPr lang="en-US" altLang="zh-TW" sz="2000" b="0" i="1" smtClean="0">
                              <a:latin typeface="Cambria Math" panose="02040503050406030204" pitchFamily="18" charset="0"/>
                            </a:rPr>
                            <m:t>𝐽</m:t>
                          </m:r>
                          <m:d>
                            <m:dPr>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𝑢</m:t>
                              </m:r>
                            </m:e>
                          </m:d>
                        </m:e>
                      </m:func>
                    </m:oMath>
                  </m:oMathPara>
                </a14:m>
                <a:endParaRPr lang="en-US" altLang="zh-TW" sz="2000" dirty="0"/>
              </a:p>
              <a:p>
                <a:pPr/>
                <a14:m>
                  <m:oMathPara xmlns:m="http://schemas.openxmlformats.org/officeDocument/2006/math">
                    <m:oMath>
                      <m:r>
                        <a:rPr lang="en-US" altLang="zh-TW" sz="2000" i="1">
                          <a:latin typeface="Cambria Math" panose="02040503050406030204" pitchFamily="18" charset="0"/>
                        </a:rPr>
                        <m:t>𝐽</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𝑢</m:t>
                          </m:r>
                        </m:e>
                      </m:d>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𝜆</m:t>
                          </m:r>
                        </m:e>
                        <m:sub>
                          <m:r>
                            <a:rPr lang="en-US" altLang="zh-TW" sz="2000" b="0" i="1" smtClean="0">
                              <a:latin typeface="Cambria Math" panose="02040503050406030204" pitchFamily="18" charset="0"/>
                            </a:rPr>
                            <m:t>0</m:t>
                          </m:r>
                        </m:sub>
                      </m:sSub>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𝑋</m:t>
                              </m:r>
                              <m:d>
                                <m:dPr>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𝑡</m:t>
                                      </m:r>
                                    </m:e>
                                    <m:sub>
                                      <m:r>
                                        <a:rPr lang="en-US" altLang="zh-TW" sz="2000" b="0" i="1" smtClean="0">
                                          <a:latin typeface="Cambria Math" panose="02040503050406030204" pitchFamily="18" charset="0"/>
                                        </a:rPr>
                                        <m:t>0</m:t>
                                      </m:r>
                                    </m:sub>
                                  </m:sSub>
                                </m:e>
                              </m:d>
                            </m:e>
                          </m:d>
                        </m:e>
                        <m:sub>
                          <m:r>
                            <a:rPr lang="en-US" altLang="zh-TW" sz="2000" b="0" i="1" smtClean="0">
                              <a:latin typeface="Cambria Math" panose="02040503050406030204" pitchFamily="18" charset="0"/>
                            </a:rPr>
                            <m:t>𝐹</m:t>
                          </m:r>
                        </m:sub>
                        <m:sup>
                          <m:r>
                            <a:rPr lang="en-US" altLang="zh-TW" sz="2000" b="0" i="1" smtClean="0">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1</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1</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2</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2</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b="1" i="1" smtClean="0">
                              <a:latin typeface="Cambria Math" panose="02040503050406030204" pitchFamily="18" charset="0"/>
                            </a:rPr>
                          </m:ctrlPr>
                        </m:sSubPr>
                        <m:e>
                          <m:r>
                            <a:rPr lang="en-US" altLang="zh-TW" sz="2000" b="1" i="1" smtClean="0">
                              <a:latin typeface="Cambria Math" panose="02040503050406030204" pitchFamily="18" charset="0"/>
                            </a:rPr>
                            <m:t>𝝀</m:t>
                          </m:r>
                        </m:e>
                        <m:sub>
                          <m:r>
                            <a:rPr lang="en-US" altLang="zh-TW" sz="2000" b="1" i="1" smtClean="0">
                              <a:latin typeface="Cambria Math" panose="02040503050406030204" pitchFamily="18" charset="0"/>
                            </a:rPr>
                            <m:t>𝟑</m:t>
                          </m:r>
                        </m:sub>
                      </m:sSub>
                      <m:sSubSup>
                        <m:sSubSupPr>
                          <m:ctrlPr>
                            <a:rPr lang="en-US" altLang="zh-TW" sz="2000" b="1" i="1">
                              <a:latin typeface="Cambria Math" panose="02040503050406030204" pitchFamily="18" charset="0"/>
                            </a:rPr>
                          </m:ctrlPr>
                        </m:sSubSupPr>
                        <m:e>
                          <m:d>
                            <m:dPr>
                              <m:begChr m:val="‖"/>
                              <m:endChr m:val="‖"/>
                              <m:ctrlPr>
                                <a:rPr lang="en-US" altLang="zh-TW" sz="2000" b="1" i="1" smtClean="0">
                                  <a:latin typeface="Cambria Math" panose="02040503050406030204" pitchFamily="18" charset="0"/>
                                </a:rPr>
                              </m:ctrlPr>
                            </m:dPr>
                            <m:e>
                              <m:r>
                                <a:rPr lang="en-US" altLang="zh-TW" sz="2000" b="1" i="1" smtClean="0">
                                  <a:latin typeface="Cambria Math" panose="02040503050406030204" pitchFamily="18" charset="0"/>
                                </a:rPr>
                                <m:t>𝒖</m:t>
                              </m:r>
                            </m:e>
                          </m:d>
                        </m:e>
                        <m:sub>
                          <m:r>
                            <a:rPr lang="en-US" altLang="zh-TW" sz="2000" b="1" i="1">
                              <a:latin typeface="Cambria Math" panose="02040503050406030204" pitchFamily="18" charset="0"/>
                            </a:rPr>
                            <m:t>𝑭</m:t>
                          </m:r>
                        </m:sub>
                        <m:sup>
                          <m:r>
                            <a:rPr lang="en-US" altLang="zh-TW" sz="2000" b="1" i="1">
                              <a:latin typeface="Cambria Math" panose="02040503050406030204" pitchFamily="18" charset="0"/>
                            </a:rPr>
                            <m:t>𝟐</m:t>
                          </m:r>
                        </m:sup>
                      </m:sSubSup>
                    </m:oMath>
                  </m:oMathPara>
                </a14:m>
                <a:endParaRPr lang="en-US" altLang="zh-TW" sz="2000" b="1" dirty="0"/>
              </a:p>
              <a:p>
                <a:endParaRPr lang="en-US" altLang="zh-TW" sz="2000" dirty="0"/>
              </a:p>
              <a:p>
                <a:r>
                  <a:rPr lang="en-US" altLang="zh-TW" sz="2000" dirty="0"/>
                  <a:t>where </a:t>
                </a:r>
                <a14:m>
                  <m:oMath xmlns:m="http://schemas.openxmlformats.org/officeDocument/2006/math">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𝑡</m:t>
                        </m:r>
                      </m:e>
                    </m:d>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a:t>
                </a:r>
                <a:r>
                  <a:rPr lang="zh-TW" altLang="en-US" sz="2000" dirty="0"/>
                  <a:t> </a:t>
                </a:r>
                <a:r>
                  <a:rPr lang="en-US" altLang="zh-TW" sz="2000" dirty="0"/>
                  <a:t>predicted state at time </a:t>
                </a:r>
                <a:r>
                  <a:rPr lang="en-US" altLang="zh-TW" sz="2000" i="1" dirty="0"/>
                  <a:t>t</a:t>
                </a:r>
                <a:r>
                  <a:rPr lang="en-US" altLang="zh-TW" sz="2000" dirty="0"/>
                  <a:t>, and </a:t>
                </a:r>
                <a14:m>
                  <m:oMath xmlns:m="http://schemas.openxmlformats.org/officeDocument/2006/math">
                    <m:r>
                      <a:rPr lang="en-US" altLang="zh-TW" sz="2000" b="0" i="1" smtClean="0">
                        <a:latin typeface="Cambria Math" panose="02040503050406030204" pitchFamily="18" charset="0"/>
                      </a:rPr>
                      <m:t>𝑆</m:t>
                    </m:r>
                    <m:r>
                      <a:rPr lang="en-US" altLang="zh-TW" sz="2000" b="0" i="1" smtClean="0">
                        <a:latin typeface="Cambria Math" panose="02040503050406030204" pitchFamily="18" charset="0"/>
                      </a:rPr>
                      <m:t>∈</m:t>
                    </m:r>
                    <m:sSup>
                      <m:sSupPr>
                        <m:ctrlPr>
                          <a:rPr lang="en-US" altLang="zh-TW" sz="2000" b="0" i="1" smtClean="0">
                            <a:latin typeface="Cambria Math" panose="02040503050406030204" pitchFamily="18" charset="0"/>
                            <a:ea typeface="Cambria Math" panose="02040503050406030204" pitchFamily="18" charset="0"/>
                          </a:rPr>
                        </m:ctrlPr>
                      </m:sSupPr>
                      <m:e>
                        <m:r>
                          <a:rPr lang="en-US" altLang="zh-TW" sz="2000" b="0" i="1" smtClean="0">
                            <a:latin typeface="Cambria Math" panose="02040503050406030204" pitchFamily="18" charset="0"/>
                            <a:ea typeface="Cambria Math" panose="02040503050406030204" pitchFamily="18" charset="0"/>
                          </a:rPr>
                          <m:t>ℝ</m:t>
                        </m:r>
                      </m:e>
                      <m:sup>
                        <m:r>
                          <a:rPr lang="en-US" altLang="zh-TW" sz="2000" b="0" i="1" smtClean="0">
                            <a:latin typeface="Cambria Math" panose="02040503050406030204" pitchFamily="18" charset="0"/>
                            <a:ea typeface="Cambria Math" panose="02040503050406030204" pitchFamily="18" charset="0"/>
                          </a:rPr>
                          <m:t>𝐻</m:t>
                        </m:r>
                        <m:r>
                          <a:rPr lang="en-US" altLang="zh-TW" sz="2000" b="0" i="1" smtClean="0">
                            <a:latin typeface="Cambria Math" panose="02040503050406030204" pitchFamily="18" charset="0"/>
                            <a:ea typeface="Cambria Math" panose="02040503050406030204" pitchFamily="18" charset="0"/>
                          </a:rPr>
                          <m:t>×</m:t>
                        </m:r>
                        <m:r>
                          <a:rPr lang="en-US" altLang="zh-TW" sz="2000" b="0" i="1" smtClean="0">
                            <a:latin typeface="Cambria Math" panose="02040503050406030204" pitchFamily="18" charset="0"/>
                            <a:ea typeface="Cambria Math" panose="02040503050406030204" pitchFamily="18" charset="0"/>
                          </a:rPr>
                          <m:t>𝑊</m:t>
                        </m:r>
                      </m:sup>
                    </m:sSup>
                  </m:oMath>
                </a14:m>
                <a:r>
                  <a:rPr lang="en-US" altLang="zh-TW" sz="2000" dirty="0"/>
                  <a:t> is the target mask.</a:t>
                </a:r>
              </a:p>
              <a:p>
                <a:endParaRPr lang="en-US" altLang="zh-TW" sz="2000" dirty="0"/>
              </a:p>
              <a:p>
                <a:pPr marL="342900" indent="-342900">
                  <a:buFont typeface="Arial" panose="020B0604020202020204" pitchFamily="34" charset="0"/>
                  <a:buChar char="•"/>
                </a:pPr>
                <a:r>
                  <a:rPr lang="en-US" altLang="zh-TW" sz="2000" dirty="0"/>
                  <a:t>Optimization approach</a:t>
                </a:r>
              </a:p>
              <a:p>
                <a:pPr marL="800100" lvl="1" indent="-342900">
                  <a:buFont typeface="Arial" panose="020B0604020202020204" pitchFamily="34" charset="0"/>
                  <a:buChar char="•"/>
                </a:pPr>
                <a:r>
                  <a:rPr lang="en-US" altLang="zh-TW" sz="2000" dirty="0"/>
                  <a:t>Gradient-decent optimization (Adam, PyTorch)</a:t>
                </a:r>
              </a:p>
              <a:p>
                <a:pPr marL="800100" lvl="1" indent="-342900">
                  <a:buFont typeface="Arial" panose="020B0604020202020204" pitchFamily="34" charset="0"/>
                  <a:buChar char="•"/>
                </a:pPr>
                <a:r>
                  <a:rPr lang="en-US" altLang="zh-TW" sz="2000" dirty="0"/>
                  <a:t>Nonlinear</a:t>
                </a:r>
                <a:r>
                  <a:rPr lang="zh-TW" altLang="en-US" sz="2000" dirty="0"/>
                  <a:t> </a:t>
                </a:r>
                <a:r>
                  <a:rPr lang="en-US" altLang="zh-TW" sz="2000" dirty="0"/>
                  <a:t>constrained programming, etc.</a:t>
                </a:r>
              </a:p>
            </p:txBody>
          </p:sp>
        </mc:Choice>
        <mc:Fallback xmlns="">
          <p:sp>
            <p:nvSpPr>
              <p:cNvPr id="3" name="TextBox 2">
                <a:extLst>
                  <a:ext uri="{FF2B5EF4-FFF2-40B4-BE49-F238E27FC236}">
                    <a16:creationId xmlns:a16="http://schemas.microsoft.com/office/drawing/2014/main" id="{64CE56C9-4B3C-DA44-CDF4-3AFD5FB99099}"/>
                  </a:ext>
                </a:extLst>
              </p:cNvPr>
              <p:cNvSpPr txBox="1">
                <a:spLocks noRot="1" noChangeAspect="1" noMove="1" noResize="1" noEditPoints="1" noAdjustHandles="1" noChangeArrowheads="1" noChangeShapeType="1" noTextEdit="1"/>
              </p:cNvSpPr>
              <p:nvPr/>
            </p:nvSpPr>
            <p:spPr>
              <a:xfrm>
                <a:off x="462579" y="1183341"/>
                <a:ext cx="11381590" cy="3896836"/>
              </a:xfrm>
              <a:prstGeom prst="rect">
                <a:avLst/>
              </a:prstGeom>
              <a:blipFill>
                <a:blip r:embed="rId3"/>
                <a:stretch>
                  <a:fillRect l="-589" t="-782" b="-1878"/>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1539500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E9732-0A82-35C1-FBEA-1BCA916777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EBCE85-38D0-7D71-CA81-A635DB3E00A0}"/>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819E6F4B-A421-0CCB-1EEB-2FEF4148A4A9}"/>
              </a:ext>
            </a:extLst>
          </p:cNvPr>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a:extLst>
              <a:ext uri="{FF2B5EF4-FFF2-40B4-BE49-F238E27FC236}">
                <a16:creationId xmlns:a16="http://schemas.microsoft.com/office/drawing/2014/main" id="{C95C5E7F-4A3A-AACB-ADE9-E091029FCF25}"/>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B2A5715-09DD-F539-E997-3475D198F33F}"/>
              </a:ext>
            </a:extLst>
          </p:cNvPr>
          <p:cNvSpPr>
            <a:spLocks noGrp="1"/>
          </p:cNvSpPr>
          <p:nvPr>
            <p:ph type="sldNum" sz="quarter" idx="12"/>
          </p:nvPr>
        </p:nvSpPr>
        <p:spPr/>
        <p:txBody>
          <a:bodyPr/>
          <a:lstStyle/>
          <a:p>
            <a:fld id="{5A741E56-E3D9-46FF-B47D-3FCBEAE97EB2}" type="slidenum">
              <a:rPr lang="en-US" smtClean="0"/>
              <a:pPr/>
              <a:t>6</a:t>
            </a:fld>
            <a:endParaRPr lang="en-US" dirty="0"/>
          </a:p>
        </p:txBody>
      </p:sp>
      <p:sp>
        <p:nvSpPr>
          <p:cNvPr id="11" name="TextBox 10">
            <a:extLst>
              <a:ext uri="{FF2B5EF4-FFF2-40B4-BE49-F238E27FC236}">
                <a16:creationId xmlns:a16="http://schemas.microsoft.com/office/drawing/2014/main" id="{29A4881F-4C58-E88C-04EB-00E6C08FD97C}"/>
              </a:ext>
            </a:extLst>
          </p:cNvPr>
          <p:cNvSpPr txBox="1"/>
          <p:nvPr/>
        </p:nvSpPr>
        <p:spPr>
          <a:xfrm>
            <a:off x="405204" y="998807"/>
            <a:ext cx="11381590" cy="400110"/>
          </a:xfrm>
          <a:prstGeom prst="rect">
            <a:avLst/>
          </a:prstGeom>
          <a:noFill/>
        </p:spPr>
        <p:txBody>
          <a:bodyPr wrap="square" rtlCol="0">
            <a:spAutoFit/>
          </a:bodyPr>
          <a:lstStyle/>
          <a:p>
            <a:r>
              <a:rPr lang="en-US" altLang="zh-TW" sz="2000" dirty="0"/>
              <a:t>1. Data-driven [1]</a:t>
            </a:r>
          </a:p>
        </p:txBody>
      </p:sp>
      <p:sp>
        <p:nvSpPr>
          <p:cNvPr id="7" name="TextBox 6">
            <a:extLst>
              <a:ext uri="{FF2B5EF4-FFF2-40B4-BE49-F238E27FC236}">
                <a16:creationId xmlns:a16="http://schemas.microsoft.com/office/drawing/2014/main" id="{D5E09C5D-EDC5-844A-0040-269E79864622}"/>
              </a:ext>
            </a:extLst>
          </p:cNvPr>
          <p:cNvSpPr txBox="1"/>
          <p:nvPr/>
        </p:nvSpPr>
        <p:spPr>
          <a:xfrm>
            <a:off x="405204" y="1407550"/>
            <a:ext cx="11381590" cy="707886"/>
          </a:xfrm>
          <a:prstGeom prst="rect">
            <a:avLst/>
          </a:prstGeom>
          <a:noFill/>
        </p:spPr>
        <p:txBody>
          <a:bodyPr wrap="square" rtlCol="0">
            <a:spAutoFit/>
          </a:bodyPr>
          <a:lstStyle/>
          <a:p>
            <a:r>
              <a:rPr lang="en-US" altLang="zh-TW" sz="2000" dirty="0"/>
              <a:t>Motivation: </a:t>
            </a:r>
            <a:r>
              <a:rPr lang="en-US" sz="2000" dirty="0"/>
              <a:t>This method uses machine learning to predict optimized grayscale boundary pixels without relying on full physics-based simulation. </a:t>
            </a:r>
            <a:endParaRPr lang="en-US" altLang="zh-TW" sz="20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EA55574-0C93-F2A2-DD35-3C1FDE2563C0}"/>
                  </a:ext>
                </a:extLst>
              </p:cNvPr>
              <p:cNvSpPr txBox="1"/>
              <p:nvPr/>
            </p:nvSpPr>
            <p:spPr>
              <a:xfrm>
                <a:off x="405204" y="2113584"/>
                <a:ext cx="11019152" cy="1200329"/>
              </a:xfrm>
              <a:prstGeom prst="rect">
                <a:avLst/>
              </a:prstGeom>
              <a:noFill/>
            </p:spPr>
            <p:txBody>
              <a:bodyPr wrap="square">
                <a:spAutoFit/>
              </a:bodyPr>
              <a:lstStyle/>
              <a:p>
                <a:pPr marL="285750" indent="-285750">
                  <a:buFont typeface="Arial" panose="020B0604020202020204" pitchFamily="34" charset="0"/>
                  <a:buChar char="•"/>
                </a:pPr>
                <a:r>
                  <a:rPr lang="en-US" dirty="0"/>
                  <a:t>Method</a:t>
                </a:r>
              </a:p>
              <a:p>
                <a:pPr>
                  <a:buNone/>
                </a:pPr>
                <a:r>
                  <a:rPr lang="en-US" dirty="0"/>
                  <a:t>A data-driven model is trained using printed chessboard patterns to learn the relationship between:</a:t>
                </a:r>
              </a:p>
              <a:p>
                <a:pPr>
                  <a:buNone/>
                </a:pPr>
                <a14:m>
                  <m:oMathPara xmlns:m="http://schemas.openxmlformats.org/officeDocument/2006/math">
                    <m:oMath>
                      <m:r>
                        <m:rPr>
                          <m:nor/>
                        </m:rPr>
                        <a:rPr lang="en-US" b="0" i="1"/>
                        <m:t>Projected grayscale pattern</m:t>
                      </m:r>
                      <m:r>
                        <a:rPr lang="en-US" b="0" i="1">
                          <a:latin typeface="Cambria Math" panose="02040503050406030204" pitchFamily="18" charset="0"/>
                        </a:rPr>
                        <m:t>→</m:t>
                      </m:r>
                      <m:r>
                        <m:rPr>
                          <m:nor/>
                        </m:rPr>
                        <a:rPr lang="en-US" b="0" i="1"/>
                        <m:t>Printed boundary profile</m:t>
                      </m:r>
                    </m:oMath>
                  </m:oMathPara>
                </a14:m>
                <a:endParaRPr lang="en-US" b="0" i="1" dirty="0"/>
              </a:p>
              <a:p>
                <a:pPr>
                  <a:buNone/>
                </a:pPr>
                <a:r>
                  <a:rPr lang="en-US" dirty="0"/>
                  <a:t>Then, the trained model predicts grayscale boundary corrections for target geometries.</a:t>
                </a:r>
              </a:p>
            </p:txBody>
          </p:sp>
        </mc:Choice>
        <mc:Fallback xmlns="">
          <p:sp>
            <p:nvSpPr>
              <p:cNvPr id="10" name="TextBox 9">
                <a:extLst>
                  <a:ext uri="{FF2B5EF4-FFF2-40B4-BE49-F238E27FC236}">
                    <a16:creationId xmlns:a16="http://schemas.microsoft.com/office/drawing/2014/main" id="{DEA55574-0C93-F2A2-DD35-3C1FDE2563C0}"/>
                  </a:ext>
                </a:extLst>
              </p:cNvPr>
              <p:cNvSpPr txBox="1">
                <a:spLocks noRot="1" noChangeAspect="1" noMove="1" noResize="1" noEditPoints="1" noAdjustHandles="1" noChangeArrowheads="1" noChangeShapeType="1" noTextEdit="1"/>
              </p:cNvSpPr>
              <p:nvPr/>
            </p:nvSpPr>
            <p:spPr>
              <a:xfrm>
                <a:off x="405204" y="2113584"/>
                <a:ext cx="11019152" cy="1200329"/>
              </a:xfrm>
              <a:prstGeom prst="rect">
                <a:avLst/>
              </a:prstGeom>
              <a:blipFill>
                <a:blip r:embed="rId3"/>
                <a:stretch>
                  <a:fillRect l="-460" t="-2083" b="-7292"/>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99EDE652-6E72-A672-4EB8-5BBF5017E8D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5204" y="3381390"/>
            <a:ext cx="4430280" cy="2477803"/>
          </a:xfrm>
          <a:prstGeom prst="rect">
            <a:avLst/>
          </a:prstGeom>
        </p:spPr>
      </p:pic>
      <p:sp>
        <p:nvSpPr>
          <p:cNvPr id="15" name="TextBox 14">
            <a:extLst>
              <a:ext uri="{FF2B5EF4-FFF2-40B4-BE49-F238E27FC236}">
                <a16:creationId xmlns:a16="http://schemas.microsoft.com/office/drawing/2014/main" id="{50D1C1B7-13A0-E444-80F1-F1946050E035}"/>
              </a:ext>
            </a:extLst>
          </p:cNvPr>
          <p:cNvSpPr txBox="1"/>
          <p:nvPr/>
        </p:nvSpPr>
        <p:spPr>
          <a:xfrm>
            <a:off x="405204" y="5971704"/>
            <a:ext cx="11381590" cy="415498"/>
          </a:xfrm>
          <a:prstGeom prst="rect">
            <a:avLst/>
          </a:prstGeom>
          <a:noFill/>
        </p:spPr>
        <p:txBody>
          <a:bodyPr wrap="square">
            <a:spAutoFit/>
          </a:bodyPr>
          <a:lstStyle/>
          <a:p>
            <a:r>
              <a:rPr lang="en-US" sz="1050" dirty="0">
                <a:solidFill>
                  <a:srgbClr val="222222"/>
                </a:solidFill>
                <a:latin typeface="Arial" panose="020B0604020202020204" pitchFamily="34" charset="0"/>
              </a:rPr>
              <a:t>[1] </a:t>
            </a:r>
            <a:r>
              <a:rPr lang="en-US" sz="1050" b="0" i="0" dirty="0">
                <a:solidFill>
                  <a:srgbClr val="222222"/>
                </a:solidFill>
                <a:effectLst/>
                <a:latin typeface="Arial" panose="020B0604020202020204" pitchFamily="34" charset="0"/>
              </a:rPr>
              <a:t>Ma, Y., Tian, Z., Wang, B., Zhao, Y., Nie, Y., Wildman, R. D., ... &amp; He, Y. (2024). Enhancing the 3D printing fidelity of vat photopolymerization with machine learning-driven boundary prediction. </a:t>
            </a:r>
            <a:r>
              <a:rPr lang="en-US" sz="1050" b="0" i="1" dirty="0">
                <a:solidFill>
                  <a:srgbClr val="222222"/>
                </a:solidFill>
                <a:effectLst/>
                <a:latin typeface="Arial" panose="020B0604020202020204" pitchFamily="34" charset="0"/>
              </a:rPr>
              <a:t>Materials &amp; Design</a:t>
            </a:r>
            <a:r>
              <a:rPr lang="en-US" sz="1050" b="0" i="0" dirty="0">
                <a:solidFill>
                  <a:srgbClr val="222222"/>
                </a:solidFill>
                <a:effectLst/>
                <a:latin typeface="Arial" panose="020B0604020202020204" pitchFamily="34" charset="0"/>
              </a:rPr>
              <a:t>, </a:t>
            </a:r>
            <a:r>
              <a:rPr lang="en-US" sz="1050" b="0" i="1" dirty="0">
                <a:solidFill>
                  <a:srgbClr val="222222"/>
                </a:solidFill>
                <a:effectLst/>
                <a:latin typeface="Arial" panose="020B0604020202020204" pitchFamily="34" charset="0"/>
              </a:rPr>
              <a:t>241</a:t>
            </a:r>
            <a:r>
              <a:rPr lang="en-US" sz="1050" b="0" i="0" dirty="0">
                <a:solidFill>
                  <a:srgbClr val="222222"/>
                </a:solidFill>
                <a:effectLst/>
                <a:latin typeface="Arial" panose="020B0604020202020204" pitchFamily="34" charset="0"/>
              </a:rPr>
              <a:t>, 112978.</a:t>
            </a:r>
            <a:endParaRPr lang="en-US" sz="1050" dirty="0"/>
          </a:p>
        </p:txBody>
      </p:sp>
      <p:sp>
        <p:nvSpPr>
          <p:cNvPr id="17" name="TextBox 16">
            <a:extLst>
              <a:ext uri="{FF2B5EF4-FFF2-40B4-BE49-F238E27FC236}">
                <a16:creationId xmlns:a16="http://schemas.microsoft.com/office/drawing/2014/main" id="{902CF86E-151A-973A-C62C-2071158747FD}"/>
              </a:ext>
            </a:extLst>
          </p:cNvPr>
          <p:cNvSpPr txBox="1"/>
          <p:nvPr/>
        </p:nvSpPr>
        <p:spPr>
          <a:xfrm>
            <a:off x="5012871" y="5042505"/>
            <a:ext cx="6128656" cy="646331"/>
          </a:xfrm>
          <a:prstGeom prst="rect">
            <a:avLst/>
          </a:prstGeom>
          <a:noFill/>
        </p:spPr>
        <p:txBody>
          <a:bodyPr wrap="square">
            <a:spAutoFit/>
          </a:bodyPr>
          <a:lstStyle/>
          <a:p>
            <a:pPr marL="285750" indent="-285750">
              <a:buFont typeface="Arial" panose="020B0604020202020204" pitchFamily="34" charset="0"/>
              <a:buChar char="•"/>
            </a:pPr>
            <a:r>
              <a:rPr lang="en-US" dirty="0"/>
              <a:t>Pros: Fast prediction after training</a:t>
            </a:r>
          </a:p>
          <a:p>
            <a:pPr marL="285750" indent="-285750">
              <a:buFont typeface="Arial" panose="020B0604020202020204" pitchFamily="34" charset="0"/>
              <a:buChar char="•"/>
            </a:pPr>
            <a:r>
              <a:rPr lang="en-US" dirty="0"/>
              <a:t>Cons: Data preparation can be labor-intensive.</a:t>
            </a:r>
          </a:p>
        </p:txBody>
      </p:sp>
    </p:spTree>
    <p:extLst>
      <p:ext uri="{BB962C8B-B14F-4D97-AF65-F5344CB8AC3E}">
        <p14:creationId xmlns:p14="http://schemas.microsoft.com/office/powerpoint/2010/main" val="2824393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30F69-73B1-1781-C1CC-4D9E2C5DD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7E22D8-3188-C16C-36D0-B935308AA325}"/>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F003FDE9-349F-A67E-E8B6-3E69C6F76CC2}"/>
              </a:ext>
            </a:extLst>
          </p:cNvPr>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a:extLst>
              <a:ext uri="{FF2B5EF4-FFF2-40B4-BE49-F238E27FC236}">
                <a16:creationId xmlns:a16="http://schemas.microsoft.com/office/drawing/2014/main" id="{AE331BFC-5924-60DB-BE3D-5710A0580917}"/>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8253993D-BD1E-09A4-92FE-342D64348A68}"/>
              </a:ext>
            </a:extLst>
          </p:cNvPr>
          <p:cNvSpPr>
            <a:spLocks noGrp="1"/>
          </p:cNvSpPr>
          <p:nvPr>
            <p:ph type="sldNum" sz="quarter" idx="12"/>
          </p:nvPr>
        </p:nvSpPr>
        <p:spPr/>
        <p:txBody>
          <a:bodyPr/>
          <a:lstStyle/>
          <a:p>
            <a:fld id="{5A741E56-E3D9-46FF-B47D-3FCBEAE97EB2}" type="slidenum">
              <a:rPr lang="en-US" smtClean="0"/>
              <a:pPr/>
              <a:t>7</a:t>
            </a:fld>
            <a:endParaRPr lang="en-US" dirty="0"/>
          </a:p>
        </p:txBody>
      </p:sp>
      <p:sp>
        <p:nvSpPr>
          <p:cNvPr id="11" name="TextBox 10">
            <a:extLst>
              <a:ext uri="{FF2B5EF4-FFF2-40B4-BE49-F238E27FC236}">
                <a16:creationId xmlns:a16="http://schemas.microsoft.com/office/drawing/2014/main" id="{3871B4AB-F5AB-524E-08E0-EEFA69F20686}"/>
              </a:ext>
            </a:extLst>
          </p:cNvPr>
          <p:cNvSpPr txBox="1"/>
          <p:nvPr/>
        </p:nvSpPr>
        <p:spPr>
          <a:xfrm>
            <a:off x="405204" y="998807"/>
            <a:ext cx="11381590" cy="400110"/>
          </a:xfrm>
          <a:prstGeom prst="rect">
            <a:avLst/>
          </a:prstGeom>
          <a:noFill/>
        </p:spPr>
        <p:txBody>
          <a:bodyPr wrap="square" rtlCol="0">
            <a:spAutoFit/>
          </a:bodyPr>
          <a:lstStyle/>
          <a:p>
            <a:r>
              <a:rPr lang="en-US" altLang="zh-TW" sz="2000" dirty="0"/>
              <a:t>2. Model-Based [2] [3] [4]</a:t>
            </a:r>
          </a:p>
        </p:txBody>
      </p:sp>
      <p:sp>
        <p:nvSpPr>
          <p:cNvPr id="13" name="TextBox 12">
            <a:extLst>
              <a:ext uri="{FF2B5EF4-FFF2-40B4-BE49-F238E27FC236}">
                <a16:creationId xmlns:a16="http://schemas.microsoft.com/office/drawing/2014/main" id="{E3696D72-8FA9-E15F-7FEB-FAA0F312F65A}"/>
              </a:ext>
            </a:extLst>
          </p:cNvPr>
          <p:cNvSpPr txBox="1"/>
          <p:nvPr/>
        </p:nvSpPr>
        <p:spPr>
          <a:xfrm>
            <a:off x="358920" y="3160216"/>
            <a:ext cx="8149084" cy="923330"/>
          </a:xfrm>
          <a:prstGeom prst="rect">
            <a:avLst/>
          </a:prstGeom>
          <a:noFill/>
        </p:spPr>
        <p:txBody>
          <a:bodyPr wrap="square">
            <a:spAutoFit/>
          </a:bodyPr>
          <a:lstStyle/>
          <a:p>
            <a:pPr marL="285750" indent="-285750">
              <a:buFont typeface="Arial" panose="020B0604020202020204" pitchFamily="34" charset="0"/>
              <a:buChar char="•"/>
            </a:pPr>
            <a:r>
              <a:rPr lang="en-US" dirty="0"/>
              <a:t>Pros:</a:t>
            </a:r>
          </a:p>
          <a:p>
            <a:pPr>
              <a:buNone/>
            </a:pPr>
            <a:r>
              <a:rPr lang="en-US" dirty="0"/>
              <a:t>Fast prediction and lower computational cost, which is suitable for large-scale offline mask generation</a:t>
            </a:r>
          </a:p>
        </p:txBody>
      </p:sp>
      <p:sp>
        <p:nvSpPr>
          <p:cNvPr id="15" name="TextBox 14">
            <a:extLst>
              <a:ext uri="{FF2B5EF4-FFF2-40B4-BE49-F238E27FC236}">
                <a16:creationId xmlns:a16="http://schemas.microsoft.com/office/drawing/2014/main" id="{8F78BA57-6C9D-5438-2AE1-C8E8702BDFB8}"/>
              </a:ext>
            </a:extLst>
          </p:cNvPr>
          <p:cNvSpPr txBox="1"/>
          <p:nvPr/>
        </p:nvSpPr>
        <p:spPr>
          <a:xfrm>
            <a:off x="358920" y="4417243"/>
            <a:ext cx="8840397" cy="1200329"/>
          </a:xfrm>
          <a:prstGeom prst="rect">
            <a:avLst/>
          </a:prstGeom>
          <a:noFill/>
        </p:spPr>
        <p:txBody>
          <a:bodyPr wrap="square">
            <a:spAutoFit/>
          </a:bodyPr>
          <a:lstStyle/>
          <a:p>
            <a:pPr marL="285750" indent="-285750">
              <a:buFont typeface="Arial" panose="020B0604020202020204" pitchFamily="34" charset="0"/>
              <a:buChar char="•"/>
            </a:pPr>
            <a:r>
              <a:rPr lang="en-US" dirty="0"/>
              <a:t>Cons</a:t>
            </a:r>
          </a:p>
          <a:p>
            <a:r>
              <a:rPr lang="en-US" dirty="0"/>
              <a:t>Requires resin-specific DoC and light-profile calibration</a:t>
            </a:r>
            <a:br>
              <a:rPr lang="en-US" dirty="0"/>
            </a:br>
            <a:r>
              <a:rPr lang="en-US" dirty="0"/>
              <a:t>Less physically detailed than high-fidelity photobleaching models</a:t>
            </a:r>
            <a:br>
              <a:rPr lang="en-US" dirty="0"/>
            </a:br>
            <a:r>
              <a:rPr lang="en-US" dirty="0"/>
              <a:t>May require retraining when resin composition changes</a:t>
            </a:r>
          </a:p>
        </p:txBody>
      </p:sp>
      <p:pic>
        <p:nvPicPr>
          <p:cNvPr id="23" name="Picture 22">
            <a:extLst>
              <a:ext uri="{FF2B5EF4-FFF2-40B4-BE49-F238E27FC236}">
                <a16:creationId xmlns:a16="http://schemas.microsoft.com/office/drawing/2014/main" id="{6975C038-D3CC-2B28-4B9C-9D6E386C51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8920" y="1668349"/>
            <a:ext cx="4074612" cy="1210129"/>
          </a:xfrm>
          <a:prstGeom prst="rect">
            <a:avLst/>
          </a:prstGeom>
        </p:spPr>
      </p:pic>
      <p:sp>
        <p:nvSpPr>
          <p:cNvPr id="24" name="TextBox 23">
            <a:extLst>
              <a:ext uri="{FF2B5EF4-FFF2-40B4-BE49-F238E27FC236}">
                <a16:creationId xmlns:a16="http://schemas.microsoft.com/office/drawing/2014/main" id="{70C88485-0643-3551-B36B-E258A52E0870}"/>
              </a:ext>
            </a:extLst>
          </p:cNvPr>
          <p:cNvSpPr txBox="1"/>
          <p:nvPr/>
        </p:nvSpPr>
        <p:spPr>
          <a:xfrm>
            <a:off x="4433463" y="1883793"/>
            <a:ext cx="4765854" cy="369332"/>
          </a:xfrm>
          <a:prstGeom prst="rect">
            <a:avLst/>
          </a:prstGeom>
          <a:noFill/>
        </p:spPr>
        <p:txBody>
          <a:bodyPr wrap="square" rtlCol="0">
            <a:spAutoFit/>
          </a:bodyPr>
          <a:lstStyle/>
          <a:p>
            <a:r>
              <a:rPr lang="en-US" dirty="0"/>
              <a:t>➡️ Purely curve fitting means fast computation</a:t>
            </a:r>
          </a:p>
        </p:txBody>
      </p:sp>
      <p:pic>
        <p:nvPicPr>
          <p:cNvPr id="8" name="Picture 7">
            <a:extLst>
              <a:ext uri="{FF2B5EF4-FFF2-40B4-BE49-F238E27FC236}">
                <a16:creationId xmlns:a16="http://schemas.microsoft.com/office/drawing/2014/main" id="{12458F08-2B2A-A695-EA91-A6010DC84FA0}"/>
              </a:ext>
            </a:extLst>
          </p:cNvPr>
          <p:cNvPicPr>
            <a:picLocks noChangeAspect="1"/>
          </p:cNvPicPr>
          <p:nvPr/>
        </p:nvPicPr>
        <p:blipFill>
          <a:blip r:embed="rId4"/>
          <a:stretch>
            <a:fillRect/>
          </a:stretch>
        </p:blipFill>
        <p:spPr>
          <a:xfrm>
            <a:off x="9199317" y="1863950"/>
            <a:ext cx="2767294" cy="3932911"/>
          </a:xfrm>
          <a:prstGeom prst="rect">
            <a:avLst/>
          </a:prstGeom>
        </p:spPr>
      </p:pic>
    </p:spTree>
    <p:extLst>
      <p:ext uri="{BB962C8B-B14F-4D97-AF65-F5344CB8AC3E}">
        <p14:creationId xmlns:p14="http://schemas.microsoft.com/office/powerpoint/2010/main" val="23389039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5291-AEC5-E879-BC0B-267EF5A3A7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6D5B2C-4EC3-B6CF-16B8-CD0FD3E08E90}"/>
              </a:ext>
            </a:extLst>
          </p:cNvPr>
          <p:cNvSpPr>
            <a:spLocks noGrp="1"/>
          </p:cNvSpPr>
          <p:nvPr>
            <p:ph type="title"/>
          </p:nvPr>
        </p:nvSpPr>
        <p:spPr/>
        <p:txBody>
          <a:bodyPr/>
          <a:lstStyle/>
          <a:p>
            <a:r>
              <a:rPr lang="en-US" dirty="0"/>
              <a:t>Online Optimization and Control Overview</a:t>
            </a:r>
          </a:p>
        </p:txBody>
      </p:sp>
      <p:sp>
        <p:nvSpPr>
          <p:cNvPr id="4" name="Date Placeholder 3">
            <a:extLst>
              <a:ext uri="{FF2B5EF4-FFF2-40B4-BE49-F238E27FC236}">
                <a16:creationId xmlns:a16="http://schemas.microsoft.com/office/drawing/2014/main" id="{573D1C64-7203-E837-BC25-D9A31194645D}"/>
              </a:ext>
            </a:extLst>
          </p:cNvPr>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a:extLst>
              <a:ext uri="{FF2B5EF4-FFF2-40B4-BE49-F238E27FC236}">
                <a16:creationId xmlns:a16="http://schemas.microsoft.com/office/drawing/2014/main" id="{CDD0EE73-B4A9-D36E-5562-60731F457EBE}"/>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DD6651C-945D-5593-DCD7-59456E506225}"/>
              </a:ext>
            </a:extLst>
          </p:cNvPr>
          <p:cNvSpPr>
            <a:spLocks noGrp="1"/>
          </p:cNvSpPr>
          <p:nvPr>
            <p:ph type="sldNum" sz="quarter" idx="12"/>
          </p:nvPr>
        </p:nvSpPr>
        <p:spPr/>
        <p:txBody>
          <a:bodyPr/>
          <a:lstStyle/>
          <a:p>
            <a:fld id="{5A741E56-E3D9-46FF-B47D-3FCBEAE97EB2}" type="slidenum">
              <a:rPr lang="en-US" smtClean="0"/>
              <a:pPr/>
              <a:t>8</a:t>
            </a:fld>
            <a:endParaRPr lang="en-US" dirty="0"/>
          </a:p>
        </p:txBody>
      </p:sp>
      <p:sp>
        <p:nvSpPr>
          <p:cNvPr id="3" name="TextBox 2">
            <a:extLst>
              <a:ext uri="{FF2B5EF4-FFF2-40B4-BE49-F238E27FC236}">
                <a16:creationId xmlns:a16="http://schemas.microsoft.com/office/drawing/2014/main" id="{5E953FEE-4210-A4A1-7C87-4AF836B002EA}"/>
              </a:ext>
            </a:extLst>
          </p:cNvPr>
          <p:cNvSpPr txBox="1"/>
          <p:nvPr/>
        </p:nvSpPr>
        <p:spPr>
          <a:xfrm>
            <a:off x="338672" y="872463"/>
            <a:ext cx="11514654" cy="1938992"/>
          </a:xfrm>
          <a:prstGeom prst="rect">
            <a:avLst/>
          </a:prstGeom>
          <a:noFill/>
        </p:spPr>
        <p:txBody>
          <a:bodyPr wrap="square">
            <a:spAutoFit/>
          </a:bodyPr>
          <a:lstStyle/>
          <a:p>
            <a:pPr>
              <a:buNone/>
            </a:pPr>
            <a:r>
              <a:rPr lang="en-US" sz="2000" b="1" dirty="0"/>
              <a:t>Why online Approaches?</a:t>
            </a:r>
            <a:endParaRPr lang="en-US" sz="2000" dirty="0"/>
          </a:p>
          <a:p>
            <a:pPr marL="342900" indent="-342900">
              <a:buFont typeface="Arial" panose="020B0604020202020204" pitchFamily="34" charset="0"/>
              <a:buChar char="•"/>
            </a:pPr>
            <a:r>
              <a:rPr lang="en-US" sz="2000" dirty="0"/>
              <a:t>Real-time adjustment can compensate for </a:t>
            </a:r>
            <a:r>
              <a:rPr lang="en-US" sz="2000" b="1" dirty="0"/>
              <a:t>process uncertainty</a:t>
            </a:r>
            <a:r>
              <a:rPr lang="en-US" sz="2000" dirty="0"/>
              <a:t>, </a:t>
            </a:r>
            <a:r>
              <a:rPr lang="en-US" sz="2000" b="1" dirty="0"/>
              <a:t>model mismatch</a:t>
            </a:r>
            <a:r>
              <a:rPr lang="en-US" sz="2000" dirty="0"/>
              <a:t>, and </a:t>
            </a:r>
            <a:r>
              <a:rPr lang="en-US" sz="2000" b="1" dirty="0"/>
              <a:t>accumulated printing errors</a:t>
            </a:r>
          </a:p>
          <a:p>
            <a:pPr marL="342900" indent="-342900">
              <a:buFont typeface="Arial" panose="020B0604020202020204" pitchFamily="34" charset="0"/>
              <a:buChar char="•"/>
            </a:pPr>
            <a:r>
              <a:rPr lang="en-US" sz="2000" dirty="0"/>
              <a:t>The main objective is to track the desired cure state or geometry while satisfying physical and hardware constraints</a:t>
            </a:r>
          </a:p>
          <a:p>
            <a:pPr marL="342900" indent="-342900">
              <a:buFont typeface="Arial" panose="020B0604020202020204" pitchFamily="34" charset="0"/>
              <a:buChar char="•"/>
            </a:pPr>
            <a:r>
              <a:rPr lang="en-US" sz="2000" dirty="0"/>
              <a:t>For DLP/VPP systems, online strategies can be broadly divided into:</a:t>
            </a:r>
          </a:p>
        </p:txBody>
      </p:sp>
      <p:sp>
        <p:nvSpPr>
          <p:cNvPr id="20" name="TextBox 19">
            <a:extLst>
              <a:ext uri="{FF2B5EF4-FFF2-40B4-BE49-F238E27FC236}">
                <a16:creationId xmlns:a16="http://schemas.microsoft.com/office/drawing/2014/main" id="{17496BCB-CFC2-9C39-6212-CF005210C10A}"/>
              </a:ext>
            </a:extLst>
          </p:cNvPr>
          <p:cNvSpPr txBox="1"/>
          <p:nvPr/>
        </p:nvSpPr>
        <p:spPr>
          <a:xfrm>
            <a:off x="185057" y="5554650"/>
            <a:ext cx="12006944"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[1] Zhao, X., &amp; Rosen, D. W. (2018). An implementation of real-time feedback control of cured part height in exposure controlled projection lithography with in-situ interferometric measurement feedback. </a:t>
            </a:r>
            <a:r>
              <a:rPr lang="en-US" sz="1100" b="0" i="1" dirty="0">
                <a:solidFill>
                  <a:srgbClr val="222222"/>
                </a:solidFill>
                <a:effectLst/>
                <a:latin typeface="Arial" panose="020B0604020202020204" pitchFamily="34" charset="0"/>
              </a:rPr>
              <a:t>Additive Manufacturing</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23</a:t>
            </a:r>
            <a:r>
              <a:rPr lang="en-US" sz="1100" b="0" i="0" dirty="0">
                <a:solidFill>
                  <a:srgbClr val="222222"/>
                </a:solidFill>
                <a:effectLst/>
                <a:latin typeface="Arial" panose="020B0604020202020204" pitchFamily="34" charset="0"/>
              </a:rPr>
              <a:t>, 253-263.</a:t>
            </a:r>
            <a:endParaRPr lang="en-US" sz="1100" dirty="0"/>
          </a:p>
        </p:txBody>
      </p:sp>
      <p:sp>
        <p:nvSpPr>
          <p:cNvPr id="22" name="TextBox 21">
            <a:extLst>
              <a:ext uri="{FF2B5EF4-FFF2-40B4-BE49-F238E27FC236}">
                <a16:creationId xmlns:a16="http://schemas.microsoft.com/office/drawing/2014/main" id="{4367AC97-4B09-ED66-B0F0-DB3AFEE8AB4D}"/>
              </a:ext>
            </a:extLst>
          </p:cNvPr>
          <p:cNvSpPr txBox="1"/>
          <p:nvPr/>
        </p:nvSpPr>
        <p:spPr>
          <a:xfrm>
            <a:off x="185056" y="6050998"/>
            <a:ext cx="11668270"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[2] Zhou, C., &amp; Chen, Y. (2012). Additive manufacturing based on optimized mask video projection for improved accuracy and resolution. </a:t>
            </a:r>
            <a:r>
              <a:rPr lang="en-US" sz="1100" b="0" i="1" dirty="0">
                <a:solidFill>
                  <a:srgbClr val="222222"/>
                </a:solidFill>
                <a:effectLst/>
                <a:latin typeface="Arial" panose="020B0604020202020204" pitchFamily="34" charset="0"/>
              </a:rPr>
              <a:t>Journal of manufacturing processes</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14</a:t>
            </a:r>
            <a:r>
              <a:rPr lang="en-US" sz="1100" b="0" i="0" dirty="0">
                <a:solidFill>
                  <a:srgbClr val="222222"/>
                </a:solidFill>
                <a:effectLst/>
                <a:latin typeface="Arial" panose="020B0604020202020204" pitchFamily="34" charset="0"/>
              </a:rPr>
              <a:t>(2), 107-118.</a:t>
            </a:r>
            <a:endParaRPr lang="en-US" sz="1100" dirty="0"/>
          </a:p>
        </p:txBody>
      </p:sp>
      <p:sp>
        <p:nvSpPr>
          <p:cNvPr id="28" name="TextBox 27">
            <a:extLst>
              <a:ext uri="{FF2B5EF4-FFF2-40B4-BE49-F238E27FC236}">
                <a16:creationId xmlns:a16="http://schemas.microsoft.com/office/drawing/2014/main" id="{C2F6D47A-8238-DDF6-36EF-06EF99B7348D}"/>
              </a:ext>
            </a:extLst>
          </p:cNvPr>
          <p:cNvSpPr txBox="1"/>
          <p:nvPr/>
        </p:nvSpPr>
        <p:spPr>
          <a:xfrm>
            <a:off x="338671" y="2876916"/>
            <a:ext cx="11514653" cy="646331"/>
          </a:xfrm>
          <a:prstGeom prst="rect">
            <a:avLst/>
          </a:prstGeom>
          <a:noFill/>
        </p:spPr>
        <p:txBody>
          <a:bodyPr wrap="square">
            <a:spAutoFit/>
          </a:bodyPr>
          <a:lstStyle/>
          <a:p>
            <a:r>
              <a:rPr lang="en-US" b="1" dirty="0"/>
              <a:t>1. Classical Feedback Control [1]</a:t>
            </a:r>
            <a:br>
              <a:rPr lang="en-US" dirty="0"/>
            </a:br>
            <a:r>
              <a:rPr lang="en-US" dirty="0"/>
              <a:t>Uses real-time measurements to adjust exposure time or light intensity.</a:t>
            </a:r>
          </a:p>
        </p:txBody>
      </p:sp>
      <p:sp>
        <p:nvSpPr>
          <p:cNvPr id="30" name="TextBox 29">
            <a:extLst>
              <a:ext uri="{FF2B5EF4-FFF2-40B4-BE49-F238E27FC236}">
                <a16:creationId xmlns:a16="http://schemas.microsoft.com/office/drawing/2014/main" id="{2A99D1A2-7730-D5F1-1035-9ECE8E936407}"/>
              </a:ext>
            </a:extLst>
          </p:cNvPr>
          <p:cNvSpPr txBox="1"/>
          <p:nvPr/>
        </p:nvSpPr>
        <p:spPr>
          <a:xfrm>
            <a:off x="338671" y="3742002"/>
            <a:ext cx="11514653" cy="646331"/>
          </a:xfrm>
          <a:prstGeom prst="rect">
            <a:avLst/>
          </a:prstGeom>
          <a:noFill/>
        </p:spPr>
        <p:txBody>
          <a:bodyPr wrap="square">
            <a:spAutoFit/>
          </a:bodyPr>
          <a:lstStyle/>
          <a:p>
            <a:r>
              <a:rPr lang="en-US" b="1" dirty="0"/>
              <a:t>2. Sequential Mask Optimization [2]</a:t>
            </a:r>
            <a:br>
              <a:rPr lang="en-US" dirty="0"/>
            </a:br>
            <a:r>
              <a:rPr lang="en-US" dirty="0"/>
              <a:t>Uses a sequence of optimized masks to improve spatial resolution and compensate for light spreading.</a:t>
            </a:r>
          </a:p>
        </p:txBody>
      </p:sp>
    </p:spTree>
    <p:extLst>
      <p:ext uri="{BB962C8B-B14F-4D97-AF65-F5344CB8AC3E}">
        <p14:creationId xmlns:p14="http://schemas.microsoft.com/office/powerpoint/2010/main" val="3654231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8FFE5-DB22-AC37-ACFB-4A91DC8F2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BB3606-299B-708C-AB43-62912CD0EBF7}"/>
              </a:ext>
            </a:extLst>
          </p:cNvPr>
          <p:cNvSpPr>
            <a:spLocks noGrp="1"/>
          </p:cNvSpPr>
          <p:nvPr>
            <p:ph type="title"/>
          </p:nvPr>
        </p:nvSpPr>
        <p:spPr/>
        <p:txBody>
          <a:bodyPr>
            <a:normAutofit fontScale="90000"/>
          </a:bodyPr>
          <a:lstStyle/>
          <a:p>
            <a:r>
              <a:rPr lang="en-US" dirty="0"/>
              <a:t>Classical Feedback Control for Cured Height Regulation</a:t>
            </a:r>
            <a:r>
              <a:rPr lang="zh-TW" altLang="en-US" dirty="0"/>
              <a:t> </a:t>
            </a:r>
            <a:r>
              <a:rPr lang="en-US" altLang="zh-TW" dirty="0"/>
              <a:t>[1]</a:t>
            </a:r>
            <a:endParaRPr lang="en-US" dirty="0"/>
          </a:p>
        </p:txBody>
      </p:sp>
      <p:sp>
        <p:nvSpPr>
          <p:cNvPr id="4" name="Date Placeholder 3">
            <a:extLst>
              <a:ext uri="{FF2B5EF4-FFF2-40B4-BE49-F238E27FC236}">
                <a16:creationId xmlns:a16="http://schemas.microsoft.com/office/drawing/2014/main" id="{DF4AD78D-24CD-B6D8-8E16-3F17A7BB7809}"/>
              </a:ext>
            </a:extLst>
          </p:cNvPr>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a:extLst>
              <a:ext uri="{FF2B5EF4-FFF2-40B4-BE49-F238E27FC236}">
                <a16:creationId xmlns:a16="http://schemas.microsoft.com/office/drawing/2014/main" id="{4A78AC2A-3A2D-6B85-03D9-49281822B2BD}"/>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680106AA-65D9-D2A7-971F-9502FDF51DDD}"/>
              </a:ext>
            </a:extLst>
          </p:cNvPr>
          <p:cNvSpPr>
            <a:spLocks noGrp="1"/>
          </p:cNvSpPr>
          <p:nvPr>
            <p:ph type="sldNum" sz="quarter" idx="12"/>
          </p:nvPr>
        </p:nvSpPr>
        <p:spPr/>
        <p:txBody>
          <a:bodyPr/>
          <a:lstStyle/>
          <a:p>
            <a:fld id="{5A741E56-E3D9-46FF-B47D-3FCBEAE97EB2}" type="slidenum">
              <a:rPr lang="en-US" smtClean="0"/>
              <a:pPr/>
              <a:t>9</a:t>
            </a:fld>
            <a:endParaRPr lang="en-US" dirty="0"/>
          </a:p>
        </p:txBody>
      </p:sp>
      <p:pic>
        <p:nvPicPr>
          <p:cNvPr id="7" name="Picture 6">
            <a:extLst>
              <a:ext uri="{FF2B5EF4-FFF2-40B4-BE49-F238E27FC236}">
                <a16:creationId xmlns:a16="http://schemas.microsoft.com/office/drawing/2014/main" id="{2E0ADB75-AF3C-6307-0DF3-B883D9189D1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076" y="1205635"/>
            <a:ext cx="7955010" cy="4139250"/>
          </a:xfrm>
          <a:prstGeom prst="rect">
            <a:avLst/>
          </a:prstGeom>
        </p:spPr>
      </p:pic>
      <p:sp>
        <p:nvSpPr>
          <p:cNvPr id="9" name="TextBox 8">
            <a:extLst>
              <a:ext uri="{FF2B5EF4-FFF2-40B4-BE49-F238E27FC236}">
                <a16:creationId xmlns:a16="http://schemas.microsoft.com/office/drawing/2014/main" id="{CB24C4C5-6F7C-8ABE-82E5-F18BA5F05F19}"/>
              </a:ext>
            </a:extLst>
          </p:cNvPr>
          <p:cNvSpPr txBox="1"/>
          <p:nvPr/>
        </p:nvSpPr>
        <p:spPr>
          <a:xfrm>
            <a:off x="8047086" y="1982598"/>
            <a:ext cx="3878213" cy="2585323"/>
          </a:xfrm>
          <a:prstGeom prst="rect">
            <a:avLst/>
          </a:prstGeom>
          <a:noFill/>
        </p:spPr>
        <p:txBody>
          <a:bodyPr wrap="square">
            <a:spAutoFit/>
          </a:bodyPr>
          <a:lstStyle/>
          <a:p>
            <a:pPr marL="285750" indent="-285750">
              <a:buFont typeface="Arial" panose="020B0604020202020204" pitchFamily="34" charset="0"/>
              <a:buChar char="•"/>
            </a:pPr>
            <a:r>
              <a:rPr lang="en-US" dirty="0"/>
              <a:t>The controller compares the measured cured height with a reference trigger height. </a:t>
            </a:r>
          </a:p>
          <a:p>
            <a:pPr marL="285750" indent="-285750">
              <a:buFont typeface="Arial" panose="020B0604020202020204" pitchFamily="34" charset="0"/>
              <a:buChar char="•"/>
            </a:pPr>
            <a:r>
              <a:rPr lang="en-US" dirty="0"/>
              <a:t>A compensator accounts for dark curing after the exposure is turned off. </a:t>
            </a:r>
          </a:p>
          <a:p>
            <a:pPr marL="285750" indent="-285750">
              <a:buFont typeface="Arial" panose="020B0604020202020204" pitchFamily="34" charset="0"/>
              <a:buChar char="•"/>
            </a:pPr>
            <a:r>
              <a:rPr lang="en-US" dirty="0"/>
              <a:t>The exposure is terminated when the measured height reaches the target tolerance. </a:t>
            </a:r>
          </a:p>
        </p:txBody>
      </p:sp>
      <p:sp>
        <p:nvSpPr>
          <p:cNvPr id="17" name="TextBox 16">
            <a:extLst>
              <a:ext uri="{FF2B5EF4-FFF2-40B4-BE49-F238E27FC236}">
                <a16:creationId xmlns:a16="http://schemas.microsoft.com/office/drawing/2014/main" id="{F45535A6-5A2D-5362-F57C-7CB77DC820BD}"/>
              </a:ext>
            </a:extLst>
          </p:cNvPr>
          <p:cNvSpPr txBox="1"/>
          <p:nvPr/>
        </p:nvSpPr>
        <p:spPr>
          <a:xfrm>
            <a:off x="89580" y="5595311"/>
            <a:ext cx="12012838" cy="646331"/>
          </a:xfrm>
          <a:prstGeom prst="rect">
            <a:avLst/>
          </a:prstGeom>
          <a:noFill/>
        </p:spPr>
        <p:txBody>
          <a:bodyPr wrap="square">
            <a:spAutoFit/>
          </a:bodyPr>
          <a:lstStyle/>
          <a:p>
            <a:r>
              <a:rPr lang="en-US" dirty="0"/>
              <a:t>Classical feedback control can reduce process uncertainty, but its performance strongly depends on measurement speed, sensor accuracy, and actuation delay.</a:t>
            </a:r>
          </a:p>
        </p:txBody>
      </p:sp>
    </p:spTree>
    <p:extLst>
      <p:ext uri="{BB962C8B-B14F-4D97-AF65-F5344CB8AC3E}">
        <p14:creationId xmlns:p14="http://schemas.microsoft.com/office/powerpoint/2010/main" val="1405309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174D9-496F-20B3-DD59-2DE70404B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3D742-A829-283A-F2A7-3CD7D37088B7}"/>
              </a:ext>
            </a:extLst>
          </p:cNvPr>
          <p:cNvSpPr>
            <a:spLocks noGrp="1"/>
          </p:cNvSpPr>
          <p:nvPr>
            <p:ph type="title"/>
          </p:nvPr>
        </p:nvSpPr>
        <p:spPr/>
        <p:txBody>
          <a:bodyPr/>
          <a:lstStyle/>
          <a:p>
            <a:r>
              <a:rPr lang="en-US" altLang="zh-TW" dirty="0"/>
              <a:t>Sequential Mask Optimization</a:t>
            </a:r>
            <a:endParaRPr lang="en-US" dirty="0"/>
          </a:p>
        </p:txBody>
      </p:sp>
      <p:sp>
        <p:nvSpPr>
          <p:cNvPr id="4" name="Date Placeholder 3">
            <a:extLst>
              <a:ext uri="{FF2B5EF4-FFF2-40B4-BE49-F238E27FC236}">
                <a16:creationId xmlns:a16="http://schemas.microsoft.com/office/drawing/2014/main" id="{04A112AF-9E35-6E6D-C7CE-BBB5604440BB}"/>
              </a:ext>
            </a:extLst>
          </p:cNvPr>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a:extLst>
              <a:ext uri="{FF2B5EF4-FFF2-40B4-BE49-F238E27FC236}">
                <a16:creationId xmlns:a16="http://schemas.microsoft.com/office/drawing/2014/main" id="{C536E496-FC79-1973-5331-5CCEF07721A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4699BA2-DFF3-FE1E-6930-FBE298EC6A6C}"/>
              </a:ext>
            </a:extLst>
          </p:cNvPr>
          <p:cNvSpPr>
            <a:spLocks noGrp="1"/>
          </p:cNvSpPr>
          <p:nvPr>
            <p:ph type="sldNum" sz="quarter" idx="12"/>
          </p:nvPr>
        </p:nvSpPr>
        <p:spPr/>
        <p:txBody>
          <a:bodyPr/>
          <a:lstStyle/>
          <a:p>
            <a:fld id="{5A741E56-E3D9-46FF-B47D-3FCBEAE97EB2}" type="slidenum">
              <a:rPr lang="en-US" smtClean="0"/>
              <a:pPr/>
              <a:t>10</a:t>
            </a:fld>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FE510E8-E8F3-FDCC-9FE7-6C0339ED6C67}"/>
                  </a:ext>
                </a:extLst>
              </p:cNvPr>
              <p:cNvSpPr txBox="1"/>
              <p:nvPr/>
            </p:nvSpPr>
            <p:spPr>
              <a:xfrm>
                <a:off x="405204" y="892885"/>
                <a:ext cx="11381590" cy="5279459"/>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Time-varying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0</m:t>
                          </m:r>
                        </m:sub>
                      </m:sSub>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1</m:t>
                          </m:r>
                        </m:sub>
                      </m:sSub>
                      <m:r>
                        <a:rPr lang="en-US" altLang="zh-TW" sz="2000" b="0" i="1" smtClean="0">
                          <a:latin typeface="Cambria Math" panose="02040503050406030204" pitchFamily="18" charset="0"/>
                        </a:rPr>
                        <m:t>,…, </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b>
                      </m:sSub>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Offline nominal sequence optimization</a:t>
                </a:r>
                <a:endParaRPr lang="en-US" altLang="zh-TW" sz="2000" i="1" dirty="0">
                  <a:latin typeface="Cambria Math" panose="02040503050406030204" pitchFamily="18" charset="0"/>
                </a:endParaRP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0</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𝑁</m:t>
                                  </m:r>
                                  <m:r>
                                    <a:rPr lang="en-US" altLang="zh-TW" sz="2000" i="1">
                                      <a:latin typeface="Cambria Math" panose="02040503050406030204" pitchFamily="18" charset="0"/>
                                    </a:rPr>
                                    <m:t>−1</m:t>
                                  </m:r>
                                </m:sub>
                              </m:sSub>
                            </m:lim>
                          </m:limLow>
                        </m:fName>
                        <m:e>
                          <m:nary>
                            <m:naryPr>
                              <m:chr m:val="∑"/>
                              <m:ctrlPr>
                                <a:rPr lang="en-US" altLang="zh-TW" sz="2000" b="0" i="1" smtClean="0">
                                  <a:latin typeface="Cambria Math" panose="02040503050406030204" pitchFamily="18" charset="0"/>
                                </a:rPr>
                              </m:ctrlPr>
                            </m:naryPr>
                            <m:sub>
                              <m:r>
                                <m:rPr>
                                  <m:brk m:alnAt="23"/>
                                </m:rP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=0</m:t>
                              </m:r>
                            </m:sub>
                            <m:sup>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p>
                            <m:e>
                              <m:sSubSup>
                                <m:sSubSupPr>
                                  <m:ctrlPr>
                                    <a:rPr lang="en-US" altLang="zh-TW" sz="200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e>
                                  </m:d>
                                </m:e>
                                <m:sub>
                                  <m:r>
                                    <a:rPr lang="en-US" altLang="zh-TW" sz="2000" b="0" i="1" smtClean="0">
                                      <a:latin typeface="Cambria Math" panose="02040503050406030204" pitchFamily="18" charset="0"/>
                                    </a:rPr>
                                    <m:t>𝑄</m:t>
                                  </m:r>
                                </m:sub>
                                <m:sup>
                                  <m:r>
                                    <a:rPr lang="en-US" altLang="zh-TW" sz="2000" b="0" i="1" smtClean="0">
                                      <a:latin typeface="Cambria Math" panose="02040503050406030204" pitchFamily="18" charset="0"/>
                                    </a:rPr>
                                    <m:t>2</m:t>
                                  </m:r>
                                </m:sup>
                              </m:sSubSup>
                            </m:e>
                          </m:nary>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b="0" i="1" smtClean="0">
                              <a:latin typeface="Cambria Math" panose="02040503050406030204" pitchFamily="18" charset="0"/>
                            </a:rPr>
                            <m:t>𝑅</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𝑇</m:t>
                              </m:r>
                            </m:sup>
                          </m:sSubSup>
                        </m:e>
                      </m:func>
                    </m:oMath>
                  </m:oMathPara>
                </a14:m>
                <a:endParaRPr lang="en-US" altLang="zh-TW" sz="2000" dirty="0"/>
              </a:p>
              <a:p>
                <a:pPr algn="ctr"/>
                <a14:m>
                  <m:oMathPara xmlns:m="http://schemas.openxmlformats.org/officeDocument/2006/math">
                    <m:oMath>
                      <m:r>
                        <a:rPr lang="en-US" altLang="zh-TW" sz="2000" b="0" i="1" smtClean="0">
                          <a:latin typeface="Cambria Math" panose="02040503050406030204" pitchFamily="18" charset="0"/>
                        </a:rPr>
                        <m:t>𝑠</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𝑡</m:t>
                      </m:r>
                      <m:r>
                        <a:rPr lang="en-US" altLang="zh-TW" sz="2000" b="0" i="1" smtClean="0">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r>
                            <a:rPr lang="en-US" altLang="zh-TW" sz="2000" i="1">
                              <a:latin typeface="Cambria Math" panose="02040503050406030204" pitchFamily="18" charset="0"/>
                            </a:rPr>
                            <m:t>+1</m:t>
                          </m:r>
                        </m:sub>
                      </m:sSub>
                      <m:r>
                        <a:rPr lang="en-US" altLang="zh-TW" sz="2000" i="1">
                          <a:latin typeface="Cambria Math" panose="02040503050406030204" pitchFamily="18" charset="0"/>
                        </a:rPr>
                        <m:t>=</m:t>
                      </m:r>
                      <m:r>
                        <a:rPr lang="en-US" altLang="zh-TW" sz="2000" i="1">
                          <a:latin typeface="Cambria Math" panose="02040503050406030204" pitchFamily="18" charset="0"/>
                        </a:rPr>
                        <m:t>𝑓</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r>
                            <a:rPr lang="en-US" altLang="zh-TW" sz="2000" i="1">
                              <a:latin typeface="Cambria Math" panose="02040503050406030204" pitchFamily="18" charset="0"/>
                            </a:rPr>
                            <m:t>𝜃</m:t>
                          </m:r>
                        </m:e>
                      </m:d>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m:t>
                      </m:r>
                      <m:r>
                        <a:rPr lang="en-US" altLang="zh-TW" sz="2000" i="1">
                          <a:latin typeface="Cambria Math" panose="02040503050406030204" pitchFamily="18" charset="0"/>
                        </a:rPr>
                        <m:t>ℎ</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e>
                      </m:d>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𝑣</m:t>
                          </m:r>
                        </m:e>
                        <m:sub>
                          <m:r>
                            <a:rPr lang="en-US" altLang="zh-TW" sz="2000" i="1">
                              <a:latin typeface="Cambria Math" panose="02040503050406030204" pitchFamily="18" charset="0"/>
                            </a:rPr>
                            <m:t>𝑘</m:t>
                          </m:r>
                        </m:sub>
                      </m:sSub>
                    </m:oMath>
                  </m:oMathPara>
                </a14:m>
                <a:endParaRPr lang="en-US" altLang="zh-TW" sz="2000" dirty="0"/>
              </a:p>
              <a:p>
                <a:endParaRPr lang="en-US" altLang="zh-TW" sz="2000" dirty="0"/>
              </a:p>
              <a:p>
                <a:r>
                  <a:rPr lang="en-US" altLang="zh-TW" sz="2000" dirty="0"/>
                  <a:t>where </a:t>
                </a:r>
                <a14:m>
                  <m:oMath xmlns:m="http://schemas.openxmlformats.org/officeDocument/2006/math">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 reference image, </a:t>
                </a:r>
                <a14:m>
                  <m:oMath xmlns:m="http://schemas.openxmlformats.org/officeDocument/2006/math">
                    <m:r>
                      <a:rPr lang="en-US" altLang="zh-TW" sz="2000" i="1">
                        <a:latin typeface="Cambria Math" panose="02040503050406030204" pitchFamily="18" charset="0"/>
                      </a:rPr>
                      <m:t>𝑄</m:t>
                    </m:r>
                  </m:oMath>
                </a14:m>
                <a:r>
                  <a:rPr lang="en-US" altLang="zh-TW" sz="2000" dirty="0"/>
                  <a:t> and </a:t>
                </a:r>
                <a14:m>
                  <m:oMath xmlns:m="http://schemas.openxmlformats.org/officeDocument/2006/math">
                    <m:r>
                      <a:rPr lang="en-US" altLang="zh-TW" sz="2000" b="0" i="1" smtClean="0">
                        <a:latin typeface="Cambria Math" panose="02040503050406030204" pitchFamily="18" charset="0"/>
                      </a:rPr>
                      <m:t>𝑅</m:t>
                    </m:r>
                  </m:oMath>
                </a14:m>
                <a:r>
                  <a:rPr lang="en-US" altLang="zh-TW" sz="2000" dirty="0"/>
                  <a:t> are the weighting matrices.</a:t>
                </a:r>
              </a:p>
              <a:p>
                <a:pPr marL="342900" indent="-342900">
                  <a:buFont typeface="Arial" panose="020B0604020202020204" pitchFamily="34" charset="0"/>
                  <a:buChar char="•"/>
                </a:pPr>
                <a:r>
                  <a:rPr lang="en-US" altLang="zh-TW" sz="2000" dirty="0"/>
                  <a:t>Online feedback update via MPC</a:t>
                </a:r>
              </a:p>
              <a:p>
                <a:pPr/>
                <a14:m>
                  <m:oMathPara xmlns:m="http://schemas.openxmlformats.org/officeDocument/2006/math">
                    <m:oMath>
                      <m:func>
                        <m:funcPr>
                          <m:ctrlPr>
                            <a:rPr lang="en-US" altLang="zh-TW" sz="2000" i="1">
                              <a:latin typeface="Cambria Math" panose="02040503050406030204" pitchFamily="18" charset="0"/>
                            </a:rPr>
                          </m:ctrlPr>
                        </m:funcPr>
                        <m:fName>
                          <m:limLow>
                            <m:limLowPr>
                              <m:ctrlPr>
                                <a:rPr lang="en-US" altLang="zh-TW" sz="2000">
                                  <a:latin typeface="Cambria Math" panose="02040503050406030204" pitchFamily="18" charset="0"/>
                                </a:rPr>
                              </m:ctrlPr>
                            </m:limLowPr>
                            <m:e>
                              <m:r>
                                <m:rPr>
                                  <m:sty m:val="p"/>
                                </m:rPr>
                                <a:rPr lang="en-US" altLang="zh-TW" sz="200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lim>
                          </m:limLow>
                        </m:fName>
                        <m:e>
                          <m:nary>
                            <m:naryPr>
                              <m:chr m:val="∑"/>
                              <m:ctrlPr>
                                <a:rPr lang="en-US" altLang="zh-TW" sz="2000" b="0" i="1" smtClean="0">
                                  <a:latin typeface="Cambria Math" panose="02040503050406030204" pitchFamily="18" charset="0"/>
                                </a:rPr>
                              </m:ctrlPr>
                            </m:naryPr>
                            <m:sub>
                              <m:r>
                                <a:rPr lang="en-US" altLang="zh-TW" sz="2000" b="0" i="1" smtClean="0">
                                  <a:latin typeface="Cambria Math" panose="02040503050406030204" pitchFamily="18" charset="0"/>
                                </a:rPr>
                                <m:t>𝑖</m:t>
                              </m:r>
                              <m:r>
                                <a:rPr lang="en-US" altLang="zh-TW" sz="2000" i="1">
                                  <a:latin typeface="Cambria Math" panose="02040503050406030204" pitchFamily="18" charset="0"/>
                                </a:rPr>
                                <m:t>=0</m:t>
                              </m:r>
                            </m:sub>
                            <m:sup>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sup>
                            <m:e>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𝑦</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sub>
                                        <m:sup>
                                          <m:r>
                                            <a:rPr lang="en-US" altLang="zh-TW" sz="2000" i="1">
                                              <a:latin typeface="Cambria Math" panose="02040503050406030204" pitchFamily="18" charset="0"/>
                                            </a:rPr>
                                            <m:t>𝑟𝑒𝑓</m:t>
                                          </m:r>
                                        </m:sup>
                                      </m:sSubSup>
                                    </m:e>
                                  </m:d>
                                </m:e>
                                <m:sub>
                                  <m:r>
                                    <a:rPr lang="en-US" altLang="zh-TW" sz="2000" i="1">
                                      <a:latin typeface="Cambria Math" panose="02040503050406030204" pitchFamily="18" charset="0"/>
                                    </a:rPr>
                                    <m:t>𝑄</m:t>
                                  </m:r>
                                </m:sub>
                                <m:sup>
                                  <m:r>
                                    <a:rPr lang="en-US" altLang="zh-TW" sz="2000" i="1">
                                      <a:latin typeface="Cambria Math" panose="02040503050406030204" pitchFamily="18" charset="0"/>
                                    </a:rPr>
                                    <m:t>2</m:t>
                                  </m:r>
                                </m:sup>
                              </m:sSubSup>
                            </m:e>
                          </m:nary>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𝑅</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up>
                              <m:r>
                                <a:rPr lang="en-US" altLang="zh-TW" sz="2000" i="1">
                                  <a:latin typeface="Cambria Math" panose="02040503050406030204" pitchFamily="18" charset="0"/>
                                </a:rPr>
                                <m:t>𝑇</m:t>
                              </m:r>
                            </m:sup>
                          </m:sSubSup>
                        </m:e>
                      </m:func>
                    </m:oMath>
                  </m:oMathPara>
                </a14:m>
                <a:endParaRPr lang="en-US" altLang="zh-TW" sz="2000" dirty="0"/>
              </a:p>
              <a:p>
                <a:pPr marL="342900" indent="-342900">
                  <a:buFont typeface="Arial" panose="020B0604020202020204" pitchFamily="34" charset="0"/>
                  <a:buChar char="•"/>
                </a:pPr>
                <a:r>
                  <a:rPr lang="en-US" altLang="zh-TW" sz="2000" dirty="0"/>
                  <a:t>Receding-horizon optimization: apply the first mask, re-measure, and repeat.</a:t>
                </a:r>
              </a:p>
              <a:p>
                <a:pPr marL="342900" indent="-342900">
                  <a:buFont typeface="Arial" panose="020B0604020202020204" pitchFamily="34" charset="0"/>
                  <a:buChar char="•"/>
                </a:pPr>
                <a:endParaRPr lang="en-US" altLang="zh-TW" sz="2000" dirty="0"/>
              </a:p>
              <a:p>
                <a:pPr marL="342900" indent="-342900">
                  <a:buFont typeface="Arial" panose="020B0604020202020204" pitchFamily="34" charset="0"/>
                  <a:buChar char="•"/>
                </a:pPr>
                <a:r>
                  <a:rPr lang="en-US" altLang="zh-TW" sz="2000" dirty="0"/>
                  <a:t>Iterative Learning Control (ILC)</a:t>
                </a:r>
              </a:p>
            </p:txBody>
          </p:sp>
        </mc:Choice>
        <mc:Fallback xmlns="">
          <p:sp>
            <p:nvSpPr>
              <p:cNvPr id="7" name="TextBox 6">
                <a:extLst>
                  <a:ext uri="{FF2B5EF4-FFF2-40B4-BE49-F238E27FC236}">
                    <a16:creationId xmlns:a16="http://schemas.microsoft.com/office/drawing/2014/main" id="{0FE510E8-E8F3-FDCC-9FE7-6C0339ED6C67}"/>
                  </a:ext>
                </a:extLst>
              </p:cNvPr>
              <p:cNvSpPr txBox="1">
                <a:spLocks noRot="1" noChangeAspect="1" noMove="1" noResize="1" noEditPoints="1" noAdjustHandles="1" noChangeArrowheads="1" noChangeShapeType="1" noTextEdit="1"/>
              </p:cNvSpPr>
              <p:nvPr/>
            </p:nvSpPr>
            <p:spPr>
              <a:xfrm>
                <a:off x="405204" y="892885"/>
                <a:ext cx="11381590" cy="5279459"/>
              </a:xfrm>
              <a:prstGeom prst="rect">
                <a:avLst/>
              </a:prstGeom>
              <a:blipFill>
                <a:blip r:embed="rId3"/>
                <a:stretch>
                  <a:fillRect l="-535" t="-577" b="-1038"/>
                </a:stretch>
              </a:blipFill>
            </p:spPr>
            <p:txBody>
              <a:bodyPr/>
              <a:lstStyle/>
              <a:p>
                <a:r>
                  <a:rPr lang="zh-TW" altLang="en-US">
                    <a:noFill/>
                  </a:rPr>
                  <a:t> </a:t>
                </a:r>
              </a:p>
            </p:txBody>
          </p:sp>
        </mc:Fallback>
      </mc:AlternateContent>
      <p:pic>
        <p:nvPicPr>
          <p:cNvPr id="9" name="Picture 8">
            <a:extLst>
              <a:ext uri="{FF2B5EF4-FFF2-40B4-BE49-F238E27FC236}">
                <a16:creationId xmlns:a16="http://schemas.microsoft.com/office/drawing/2014/main" id="{29D95A12-F571-1D83-5ACA-74E88005001A}"/>
              </a:ext>
            </a:extLst>
          </p:cNvPr>
          <p:cNvPicPr>
            <a:picLocks noChangeAspect="1"/>
          </p:cNvPicPr>
          <p:nvPr/>
        </p:nvPicPr>
        <p:blipFill>
          <a:blip r:embed="rId4"/>
          <a:stretch>
            <a:fillRect/>
          </a:stretch>
        </p:blipFill>
        <p:spPr>
          <a:xfrm>
            <a:off x="9138474" y="2148362"/>
            <a:ext cx="2648320" cy="1076475"/>
          </a:xfrm>
          <a:prstGeom prst="rect">
            <a:avLst/>
          </a:prstGeom>
        </p:spPr>
      </p:pic>
    </p:spTree>
    <p:extLst>
      <p:ext uri="{BB962C8B-B14F-4D97-AF65-F5344CB8AC3E}">
        <p14:creationId xmlns:p14="http://schemas.microsoft.com/office/powerpoint/2010/main" val="41207267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64ED0-A702-2516-399D-84A989739B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EC552-8279-EE4C-E00F-A6E686C7C0B3}"/>
              </a:ext>
            </a:extLst>
          </p:cNvPr>
          <p:cNvSpPr>
            <a:spLocks noGrp="1"/>
          </p:cNvSpPr>
          <p:nvPr>
            <p:ph type="title"/>
          </p:nvPr>
        </p:nvSpPr>
        <p:spPr/>
        <p:txBody>
          <a:bodyPr>
            <a:normAutofit/>
          </a:bodyPr>
          <a:lstStyle/>
          <a:p>
            <a:r>
              <a:rPr lang="en-US" sz="4000" dirty="0"/>
              <a:t>Can Our Cure Model Enable Sequential Optimization?</a:t>
            </a:r>
          </a:p>
        </p:txBody>
      </p:sp>
      <p:sp>
        <p:nvSpPr>
          <p:cNvPr id="4" name="Date Placeholder 3">
            <a:extLst>
              <a:ext uri="{FF2B5EF4-FFF2-40B4-BE49-F238E27FC236}">
                <a16:creationId xmlns:a16="http://schemas.microsoft.com/office/drawing/2014/main" id="{9E455BB3-F0D6-3803-E400-252CA140B123}"/>
              </a:ext>
            </a:extLst>
          </p:cNvPr>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a:extLst>
              <a:ext uri="{FF2B5EF4-FFF2-40B4-BE49-F238E27FC236}">
                <a16:creationId xmlns:a16="http://schemas.microsoft.com/office/drawing/2014/main" id="{7CE3A2CA-BCD5-B1FE-2CF8-3A8FA6DB720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8D27DAC-E308-7347-F886-BCC6431DCEE9}"/>
              </a:ext>
            </a:extLst>
          </p:cNvPr>
          <p:cNvSpPr>
            <a:spLocks noGrp="1"/>
          </p:cNvSpPr>
          <p:nvPr>
            <p:ph type="sldNum" sz="quarter" idx="12"/>
          </p:nvPr>
        </p:nvSpPr>
        <p:spPr/>
        <p:txBody>
          <a:bodyPr/>
          <a:lstStyle/>
          <a:p>
            <a:fld id="{5A741E56-E3D9-46FF-B47D-3FCBEAE97EB2}" type="slidenum">
              <a:rPr lang="en-US" smtClean="0"/>
              <a:pPr/>
              <a:t>11</a:t>
            </a:fld>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F5524A-2289-DA59-A4CC-507A35844C7A}"/>
                  </a:ext>
                </a:extLst>
              </p:cNvPr>
              <p:cNvSpPr txBox="1"/>
              <p:nvPr/>
            </p:nvSpPr>
            <p:spPr>
              <a:xfrm>
                <a:off x="609601" y="4161292"/>
                <a:ext cx="11277600" cy="966547"/>
              </a:xfrm>
              <a:prstGeom prst="rect">
                <a:avLst/>
              </a:prstGeom>
              <a:noFill/>
            </p:spPr>
            <p:txBody>
              <a:bodyPr wrap="square" rtlCol="0">
                <a:spAutoFit/>
              </a:bodyPr>
              <a:lstStyle/>
              <a:p>
                <a:r>
                  <a:rPr lang="en-US" dirty="0"/>
                  <a:t>Can our oxygen–DoC model be used as a forward model for mask optimization?</a:t>
                </a:r>
              </a:p>
              <a:p>
                <a:pPr/>
                <a14:m>
                  <m:oMathPara xmlns:m="http://schemas.openxmlformats.org/officeDocument/2006/math">
                    <m:oMath>
                      <m:r>
                        <a:rPr lang="en-US" i="1">
                          <a:latin typeface="Cambria Math" panose="02040503050406030204" pitchFamily="18" charset="0"/>
                        </a:rPr>
                        <m:t>𝐻</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𝑂</m:t>
                          </m:r>
                        </m:e>
                        <m:sub>
                          <m:r>
                            <a:rPr lang="en-US">
                              <a:latin typeface="Cambria Math" panose="02040503050406030204" pitchFamily="18" charset="0"/>
                            </a:rPr>
                            <m:t>2</m:t>
                          </m:r>
                        </m:sub>
                      </m:sSub>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r>
                        <m:rPr>
                          <m:nor/>
                        </m:rPr>
                        <a:rPr lang="en-US" i="1"/>
                        <m:t> </m:t>
                      </m:r>
                      <m:r>
                        <a:rPr lang="en-US" i="1">
                          <a:latin typeface="Cambria Math" panose="02040503050406030204" pitchFamily="18" charset="0"/>
                        </a:rPr>
                        <m:t>𝐷𝑜𝐶</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m:oMathPara>
                </a14:m>
                <a:endParaRPr lang="en-US" b="0" dirty="0"/>
              </a:p>
              <a:p>
                <a:r>
                  <a:rPr lang="en-US" dirty="0"/>
                  <a:t>where </a:t>
                </a:r>
                <a14:m>
                  <m:oMath xmlns:m="http://schemas.openxmlformats.org/officeDocument/2006/math">
                    <m:r>
                      <a:rPr lang="en-US" i="1">
                        <a:latin typeface="Cambria Math" panose="02040503050406030204" pitchFamily="18" charset="0"/>
                      </a:rPr>
                      <m:t>𝐻</m:t>
                    </m:r>
                  </m:oMath>
                </a14:m>
                <a:r>
                  <a:rPr lang="en-US" dirty="0"/>
                  <a:t> is the projected mask intensity and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a14:m>
                <a:r>
                  <a:rPr lang="en-US" dirty="0"/>
                  <a:t> is the predicted solidified pattern.</a:t>
                </a:r>
              </a:p>
            </p:txBody>
          </p:sp>
        </mc:Choice>
        <mc:Fallback xmlns="">
          <p:sp>
            <p:nvSpPr>
              <p:cNvPr id="36" name="TextBox 35">
                <a:extLst>
                  <a:ext uri="{FF2B5EF4-FFF2-40B4-BE49-F238E27FC236}">
                    <a16:creationId xmlns:a16="http://schemas.microsoft.com/office/drawing/2014/main" id="{89F5524A-2289-DA59-A4CC-507A35844C7A}"/>
                  </a:ext>
                </a:extLst>
              </p:cNvPr>
              <p:cNvSpPr txBox="1">
                <a:spLocks noRot="1" noChangeAspect="1" noMove="1" noResize="1" noEditPoints="1" noAdjustHandles="1" noChangeArrowheads="1" noChangeShapeType="1" noTextEdit="1"/>
              </p:cNvSpPr>
              <p:nvPr/>
            </p:nvSpPr>
            <p:spPr>
              <a:xfrm>
                <a:off x="609601" y="4161292"/>
                <a:ext cx="11277600" cy="966547"/>
              </a:xfrm>
              <a:prstGeom prst="rect">
                <a:avLst/>
              </a:prstGeom>
              <a:blipFill>
                <a:blip r:embed="rId4"/>
                <a:stretch>
                  <a:fillRect l="-450" t="-2597" b="-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722FEFE-191D-9581-DC3B-D3A25803C70C}"/>
                  </a:ext>
                </a:extLst>
              </p:cNvPr>
              <p:cNvSpPr txBox="1"/>
              <p:nvPr/>
            </p:nvSpPr>
            <p:spPr>
              <a:xfrm>
                <a:off x="609601" y="5232806"/>
                <a:ext cx="10678885" cy="923330"/>
              </a:xfrm>
              <a:prstGeom prst="rect">
                <a:avLst/>
              </a:prstGeom>
              <a:noFill/>
            </p:spPr>
            <p:txBody>
              <a:bodyPr wrap="square">
                <a:spAutoFit/>
              </a:bodyPr>
              <a:lstStyle/>
              <a:p>
                <a:pPr>
                  <a:buNone/>
                </a:pPr>
                <a:r>
                  <a:rPr lang="en-US" b="1" dirty="0"/>
                  <a:t>If this mapping is reliable, then we can formulate the problem as:</a:t>
                </a:r>
                <a:endParaRPr lang="en-US" dirty="0"/>
              </a:p>
              <a:p>
                <a:pPr>
                  <a:buNone/>
                </a:pPr>
                <a14:m>
                  <m:oMathPara xmlns:m="http://schemas.openxmlformats.org/officeDocument/2006/math">
                    <m:oMath>
                      <m:r>
                        <m:rPr>
                          <m:nor/>
                        </m:rPr>
                        <a:rPr lang="en-US" b="0" i="0"/>
                        <m:t>Find</m:t>
                      </m:r>
                      <m:r>
                        <m:rPr>
                          <m:nor/>
                        </m:rPr>
                        <a:rPr lang="en-US" b="0" i="0" smtClean="0"/>
                        <m:t>:</m:t>
                      </m:r>
                      <m:r>
                        <m:rPr>
                          <m:nor/>
                        </m:rPr>
                        <a:rPr lang="en-US" b="0" i="1"/>
                        <m:t> optimized mask sequence </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1</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2</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1">
                              <a:latin typeface="Cambria Math" panose="02040503050406030204" pitchFamily="18" charset="0"/>
                            </a:rPr>
                            <m:t>𝑚</m:t>
                          </m:r>
                        </m:sub>
                      </m:sSub>
                    </m:oMath>
                  </m:oMathPara>
                </a14:m>
                <a:endParaRPr lang="en-US" b="0" dirty="0"/>
              </a:p>
              <a:p>
                <a:pPr>
                  <a:buNone/>
                </a:pPr>
                <a14:m>
                  <m:oMathPara xmlns:m="http://schemas.openxmlformats.org/officeDocument/2006/math">
                    <m:oMath>
                      <m:r>
                        <m:rPr>
                          <m:nor/>
                        </m:rPr>
                        <a:rPr lang="en-US" b="0" i="0"/>
                        <m:t>Minimize</m:t>
                      </m:r>
                      <m:r>
                        <m:rPr>
                          <m:nor/>
                        </m:rPr>
                        <a:rPr lang="en-US" b="0" i="0" smtClean="0"/>
                        <m:t>:</m:t>
                      </m:r>
                      <m:r>
                        <m:rPr>
                          <m:nor/>
                        </m:rPr>
                        <a:rPr lang="en-US" b="0" i="1"/>
                        <m:t> mismatch between target pattern </m:t>
                      </m:r>
                      <m:r>
                        <a:rPr lang="en-US" b="0" i="1">
                          <a:latin typeface="Cambria Math" panose="02040503050406030204" pitchFamily="18" charset="0"/>
                        </a:rPr>
                        <m:t>𝐹</m:t>
                      </m:r>
                      <m:r>
                        <m:rPr>
                          <m:nor/>
                        </m:rPr>
                        <a:rPr lang="en-US" b="0" i="1"/>
                        <m:t> and predicted cured pattern </m:t>
                      </m:r>
                      <m:sSup>
                        <m:sSupPr>
                          <m:ctrlPr>
                            <a:rPr lang="en-US" b="0" i="1">
                              <a:latin typeface="Cambria Math" panose="02040503050406030204" pitchFamily="18" charset="0"/>
                            </a:rPr>
                          </m:ctrlPr>
                        </m:sSupPr>
                        <m:e>
                          <m:r>
                            <a:rPr lang="en-US" b="0" i="1">
                              <a:latin typeface="Cambria Math" panose="02040503050406030204" pitchFamily="18" charset="0"/>
                            </a:rPr>
                            <m:t>𝐹</m:t>
                          </m:r>
                        </m:e>
                        <m:sup>
                          <m:r>
                            <a:rPr lang="en-US" b="0" i="0">
                              <a:latin typeface="Cambria Math" panose="02040503050406030204" pitchFamily="18" charset="0"/>
                            </a:rPr>
                            <m:t>′</m:t>
                          </m:r>
                        </m:sup>
                      </m:sSup>
                    </m:oMath>
                  </m:oMathPara>
                </a14:m>
                <a:endParaRPr lang="en-US" b="0" dirty="0"/>
              </a:p>
            </p:txBody>
          </p:sp>
        </mc:Choice>
        <mc:Fallback xmlns="">
          <p:sp>
            <p:nvSpPr>
              <p:cNvPr id="38" name="TextBox 37">
                <a:extLst>
                  <a:ext uri="{FF2B5EF4-FFF2-40B4-BE49-F238E27FC236}">
                    <a16:creationId xmlns:a16="http://schemas.microsoft.com/office/drawing/2014/main" id="{2722FEFE-191D-9581-DC3B-D3A25803C70C}"/>
                  </a:ext>
                </a:extLst>
              </p:cNvPr>
              <p:cNvSpPr txBox="1">
                <a:spLocks noRot="1" noChangeAspect="1" noMove="1" noResize="1" noEditPoints="1" noAdjustHandles="1" noChangeArrowheads="1" noChangeShapeType="1" noTextEdit="1"/>
              </p:cNvSpPr>
              <p:nvPr/>
            </p:nvSpPr>
            <p:spPr>
              <a:xfrm>
                <a:off x="609601" y="5232806"/>
                <a:ext cx="10678885" cy="923330"/>
              </a:xfrm>
              <a:prstGeom prst="rect">
                <a:avLst/>
              </a:prstGeom>
              <a:blipFill>
                <a:blip r:embed="rId5"/>
                <a:stretch>
                  <a:fillRect l="-476" t="-2703" b="-675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CCB3FD3B-6B6D-51C9-4E5F-D0231B06B188}"/>
              </a:ext>
            </a:extLst>
          </p:cNvPr>
          <p:cNvPicPr>
            <a:picLocks noChangeAspect="1"/>
          </p:cNvPicPr>
          <p:nvPr/>
        </p:nvPicPr>
        <p:blipFill>
          <a:blip r:embed="rId6"/>
          <a:stretch>
            <a:fillRect/>
          </a:stretch>
        </p:blipFill>
        <p:spPr>
          <a:xfrm>
            <a:off x="4092612" y="998807"/>
            <a:ext cx="4311578" cy="2936333"/>
          </a:xfrm>
          <a:prstGeom prst="rect">
            <a:avLst/>
          </a:prstGeom>
        </p:spPr>
      </p:pic>
    </p:spTree>
    <p:extLst>
      <p:ext uri="{BB962C8B-B14F-4D97-AF65-F5344CB8AC3E}">
        <p14:creationId xmlns:p14="http://schemas.microsoft.com/office/powerpoint/2010/main" val="15084856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7AC68-72B5-48E2-702D-7D61512B2A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97C22-B7C2-6535-7825-4174D801580A}"/>
              </a:ext>
            </a:extLst>
          </p:cNvPr>
          <p:cNvSpPr>
            <a:spLocks noGrp="1"/>
          </p:cNvSpPr>
          <p:nvPr>
            <p:ph type="title"/>
          </p:nvPr>
        </p:nvSpPr>
        <p:spPr/>
        <p:txBody>
          <a:bodyPr/>
          <a:lstStyle/>
          <a:p>
            <a:r>
              <a:rPr lang="en-US" dirty="0"/>
              <a:t>Implementation Challenges for Real-Time Control</a:t>
            </a:r>
          </a:p>
        </p:txBody>
      </p:sp>
      <p:sp>
        <p:nvSpPr>
          <p:cNvPr id="4" name="Date Placeholder 3">
            <a:extLst>
              <a:ext uri="{FF2B5EF4-FFF2-40B4-BE49-F238E27FC236}">
                <a16:creationId xmlns:a16="http://schemas.microsoft.com/office/drawing/2014/main" id="{80A06377-FCFC-CBA2-B901-CDE2D8E20ED7}"/>
              </a:ext>
            </a:extLst>
          </p:cNvPr>
          <p:cNvSpPr>
            <a:spLocks noGrp="1"/>
          </p:cNvSpPr>
          <p:nvPr>
            <p:ph type="dt" sz="half" idx="10"/>
          </p:nvPr>
        </p:nvSpPr>
        <p:spPr/>
        <p:txBody>
          <a:bodyPr/>
          <a:lstStyle/>
          <a:p>
            <a:fld id="{E4F5E198-6479-4380-8F14-1065308CC0DC}" type="datetime1">
              <a:rPr lang="en-US" smtClean="0"/>
              <a:t>8/17/2026</a:t>
            </a:fld>
            <a:endParaRPr lang="en-US" dirty="0"/>
          </a:p>
        </p:txBody>
      </p:sp>
      <p:sp>
        <p:nvSpPr>
          <p:cNvPr id="5" name="Footer Placeholder 4">
            <a:extLst>
              <a:ext uri="{FF2B5EF4-FFF2-40B4-BE49-F238E27FC236}">
                <a16:creationId xmlns:a16="http://schemas.microsoft.com/office/drawing/2014/main" id="{063FF8B5-09F6-DF33-341E-84BC75B0999B}"/>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BF312EED-A090-1AB5-83EE-7E417FA8C674}"/>
              </a:ext>
            </a:extLst>
          </p:cNvPr>
          <p:cNvSpPr>
            <a:spLocks noGrp="1"/>
          </p:cNvSpPr>
          <p:nvPr>
            <p:ph type="sldNum" sz="quarter" idx="12"/>
          </p:nvPr>
        </p:nvSpPr>
        <p:spPr/>
        <p:txBody>
          <a:bodyPr/>
          <a:lstStyle/>
          <a:p>
            <a:fld id="{5A741E56-E3D9-46FF-B47D-3FCBEAE97EB2}" type="slidenum">
              <a:rPr lang="en-US" smtClean="0"/>
              <a:pPr/>
              <a:t>12</a:t>
            </a:fld>
            <a:endParaRPr lang="en-US" dirty="0"/>
          </a:p>
        </p:txBody>
      </p:sp>
      <p:pic>
        <p:nvPicPr>
          <p:cNvPr id="8" name="Picture 7">
            <a:extLst>
              <a:ext uri="{FF2B5EF4-FFF2-40B4-BE49-F238E27FC236}">
                <a16:creationId xmlns:a16="http://schemas.microsoft.com/office/drawing/2014/main" id="{ABE9FF65-948F-5E60-C512-33F8E94589F9}"/>
              </a:ext>
            </a:extLst>
          </p:cNvPr>
          <p:cNvPicPr>
            <a:picLocks noChangeAspect="1"/>
          </p:cNvPicPr>
          <p:nvPr/>
        </p:nvPicPr>
        <p:blipFill>
          <a:blip r:embed="rId3"/>
          <a:stretch>
            <a:fillRect/>
          </a:stretch>
        </p:blipFill>
        <p:spPr>
          <a:xfrm>
            <a:off x="354419" y="1210298"/>
            <a:ext cx="8747822" cy="4175408"/>
          </a:xfrm>
          <a:prstGeom prst="rect">
            <a:avLst/>
          </a:prstGeom>
        </p:spPr>
      </p:pic>
      <p:sp>
        <p:nvSpPr>
          <p:cNvPr id="9" name="TextBox 8">
            <a:extLst>
              <a:ext uri="{FF2B5EF4-FFF2-40B4-BE49-F238E27FC236}">
                <a16:creationId xmlns:a16="http://schemas.microsoft.com/office/drawing/2014/main" id="{C9E952AD-F2A6-CBFF-3103-E9F23AB3F3FD}"/>
              </a:ext>
            </a:extLst>
          </p:cNvPr>
          <p:cNvSpPr txBox="1"/>
          <p:nvPr/>
        </p:nvSpPr>
        <p:spPr>
          <a:xfrm>
            <a:off x="146957" y="6044633"/>
            <a:ext cx="2449285" cy="369332"/>
          </a:xfrm>
          <a:prstGeom prst="rect">
            <a:avLst/>
          </a:prstGeom>
          <a:noFill/>
        </p:spPr>
        <p:txBody>
          <a:bodyPr wrap="square" rtlCol="0">
            <a:spAutoFit/>
          </a:bodyPr>
          <a:lstStyle/>
          <a:p>
            <a:r>
              <a:rPr lang="en-US" dirty="0"/>
              <a:t>Group1: normal process</a:t>
            </a:r>
          </a:p>
        </p:txBody>
      </p:sp>
      <p:sp>
        <p:nvSpPr>
          <p:cNvPr id="10" name="TextBox 9">
            <a:extLst>
              <a:ext uri="{FF2B5EF4-FFF2-40B4-BE49-F238E27FC236}">
                <a16:creationId xmlns:a16="http://schemas.microsoft.com/office/drawing/2014/main" id="{0CA8A287-39B6-C6AA-8D8D-A69C6F7D38DE}"/>
              </a:ext>
            </a:extLst>
          </p:cNvPr>
          <p:cNvSpPr txBox="1"/>
          <p:nvPr/>
        </p:nvSpPr>
        <p:spPr>
          <a:xfrm>
            <a:off x="2596242" y="6044633"/>
            <a:ext cx="2449285" cy="369332"/>
          </a:xfrm>
          <a:prstGeom prst="rect">
            <a:avLst/>
          </a:prstGeom>
          <a:noFill/>
        </p:spPr>
        <p:txBody>
          <a:bodyPr wrap="square" rtlCol="0">
            <a:spAutoFit/>
          </a:bodyPr>
          <a:lstStyle/>
          <a:p>
            <a:r>
              <a:rPr lang="en-US" dirty="0"/>
              <a:t>Group2: slow process</a:t>
            </a:r>
          </a:p>
        </p:txBody>
      </p:sp>
      <p:sp>
        <p:nvSpPr>
          <p:cNvPr id="17" name="TextBox 16">
            <a:extLst>
              <a:ext uri="{FF2B5EF4-FFF2-40B4-BE49-F238E27FC236}">
                <a16:creationId xmlns:a16="http://schemas.microsoft.com/office/drawing/2014/main" id="{1A184A8B-902F-0D1A-5EC5-E93A8A747E90}"/>
              </a:ext>
            </a:extLst>
          </p:cNvPr>
          <p:cNvSpPr txBox="1"/>
          <p:nvPr/>
        </p:nvSpPr>
        <p:spPr>
          <a:xfrm>
            <a:off x="9013371" y="1155023"/>
            <a:ext cx="2955472" cy="4801314"/>
          </a:xfrm>
          <a:prstGeom prst="rect">
            <a:avLst/>
          </a:prstGeom>
          <a:noFill/>
        </p:spPr>
        <p:txBody>
          <a:bodyPr wrap="square">
            <a:spAutoFit/>
          </a:bodyPr>
          <a:lstStyle/>
          <a:p>
            <a:pPr>
              <a:buNone/>
            </a:pPr>
            <a:r>
              <a:rPr lang="en-US" b="1" dirty="0"/>
              <a:t>Major Sources of Delay</a:t>
            </a:r>
            <a:endParaRPr lang="en-US" dirty="0"/>
          </a:p>
          <a:p>
            <a:pPr marL="285750" indent="-285750">
              <a:buFont typeface="Arial" panose="020B0604020202020204" pitchFamily="34" charset="0"/>
              <a:buChar char="•"/>
            </a:pPr>
            <a:r>
              <a:rPr lang="en-US" b="1" dirty="0"/>
              <a:t>Measurement latency:</a:t>
            </a:r>
            <a:r>
              <a:rPr lang="en-US" dirty="0"/>
              <a:t> time required for image acquisition and sensor processing. </a:t>
            </a:r>
          </a:p>
          <a:p>
            <a:pPr marL="285750" indent="-285750">
              <a:buFont typeface="Arial" panose="020B0604020202020204" pitchFamily="34" charset="0"/>
              <a:buChar char="•"/>
            </a:pPr>
            <a:r>
              <a:rPr lang="en-US" b="1" dirty="0"/>
              <a:t>Control computation delay:</a:t>
            </a:r>
            <a:r>
              <a:rPr lang="en-US" dirty="0"/>
              <a:t> time required to calculate the next control action. </a:t>
            </a:r>
          </a:p>
          <a:p>
            <a:pPr marL="285750" indent="-285750">
              <a:buFont typeface="Arial" panose="020B0604020202020204" pitchFamily="34" charset="0"/>
              <a:buChar char="•"/>
            </a:pPr>
            <a:r>
              <a:rPr lang="en-US" b="1" dirty="0"/>
              <a:t>Discrete measurement delay:</a:t>
            </a:r>
            <a:r>
              <a:rPr lang="en-US" dirty="0"/>
              <a:t> missed trigger point due to finite sampling interval. </a:t>
            </a:r>
          </a:p>
          <a:p>
            <a:pPr marL="285750" indent="-285750">
              <a:buFont typeface="Arial" panose="020B0604020202020204" pitchFamily="34" charset="0"/>
              <a:buChar char="•"/>
            </a:pPr>
            <a:r>
              <a:rPr lang="en-US" b="1" dirty="0"/>
              <a:t>Actuation delay:</a:t>
            </a:r>
            <a:r>
              <a:rPr lang="en-US" dirty="0"/>
              <a:t> delay between sending the command and changing the UV exposure.</a:t>
            </a:r>
          </a:p>
        </p:txBody>
      </p:sp>
    </p:spTree>
    <p:extLst>
      <p:ext uri="{BB962C8B-B14F-4D97-AF65-F5344CB8AC3E}">
        <p14:creationId xmlns:p14="http://schemas.microsoft.com/office/powerpoint/2010/main" val="26191186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65B19-CBE4-DA10-4E59-2EDFB26633A7}"/>
              </a:ext>
            </a:extLst>
          </p:cNvPr>
          <p:cNvSpPr>
            <a:spLocks noGrp="1"/>
          </p:cNvSpPr>
          <p:nvPr>
            <p:ph type="title"/>
          </p:nvPr>
        </p:nvSpPr>
        <p:spPr>
          <a:xfrm>
            <a:off x="838200" y="2268537"/>
            <a:ext cx="10515600" cy="850554"/>
          </a:xfrm>
        </p:spPr>
        <p:txBody>
          <a:bodyPr/>
          <a:lstStyle/>
          <a:p>
            <a:r>
              <a:rPr lang="en-US" altLang="zh-TW" dirty="0"/>
              <a:t>08/27/2026</a:t>
            </a:r>
            <a:endParaRPr lang="zh-TW" altLang="en-US" dirty="0"/>
          </a:p>
        </p:txBody>
      </p:sp>
      <p:sp>
        <p:nvSpPr>
          <p:cNvPr id="3" name="Text Placeholder 2">
            <a:extLst>
              <a:ext uri="{FF2B5EF4-FFF2-40B4-BE49-F238E27FC236}">
                <a16:creationId xmlns:a16="http://schemas.microsoft.com/office/drawing/2014/main" id="{FF9633D2-C8B6-4BF5-2EAE-B94FB8BD11CF}"/>
              </a:ext>
            </a:extLst>
          </p:cNvPr>
          <p:cNvSpPr>
            <a:spLocks noGrp="1"/>
          </p:cNvSpPr>
          <p:nvPr>
            <p:ph type="body" idx="1"/>
          </p:nvPr>
        </p:nvSpPr>
        <p:spPr>
          <a:xfrm>
            <a:off x="838200" y="3119091"/>
            <a:ext cx="10515600" cy="1500187"/>
          </a:xfrm>
        </p:spPr>
        <p:txBody>
          <a:bodyPr/>
          <a:lstStyle/>
          <a:p>
            <a:r>
              <a:rPr lang="zh-TW" altLang="zh-TW" dirty="0"/>
              <a:t>Differentiable Nonlinear MPC for AIE-VPP Mask Control</a:t>
            </a:r>
            <a:endParaRPr lang="zh-TW" altLang="en-US" dirty="0"/>
          </a:p>
        </p:txBody>
      </p:sp>
    </p:spTree>
    <p:extLst>
      <p:ext uri="{BB962C8B-B14F-4D97-AF65-F5344CB8AC3E}">
        <p14:creationId xmlns:p14="http://schemas.microsoft.com/office/powerpoint/2010/main" val="295155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4DD4D-2927-78C9-3F2C-297B9E38284C}"/>
              </a:ext>
            </a:extLst>
          </p:cNvPr>
          <p:cNvSpPr>
            <a:spLocks noGrp="1"/>
          </p:cNvSpPr>
          <p:nvPr>
            <p:ph type="title"/>
          </p:nvPr>
        </p:nvSpPr>
        <p:spPr>
          <a:xfrm>
            <a:off x="0" y="14068"/>
            <a:ext cx="12191999" cy="937823"/>
          </a:xfrm>
        </p:spPr>
        <p:txBody>
          <a:bodyPr/>
          <a:lstStyle/>
          <a:p>
            <a:r>
              <a:rPr lang="en-US" altLang="zh-TW" dirty="0"/>
              <a:t>Nonlinear MPC </a:t>
            </a:r>
            <a:endParaRPr lang="zh-TW" altLang="en-US" dirty="0"/>
          </a:p>
        </p:txBody>
      </p:sp>
      <p:sp>
        <p:nvSpPr>
          <p:cNvPr id="4" name="Slide Number Placeholder 3">
            <a:extLst>
              <a:ext uri="{FF2B5EF4-FFF2-40B4-BE49-F238E27FC236}">
                <a16:creationId xmlns:a16="http://schemas.microsoft.com/office/drawing/2014/main" id="{4B2EA8D8-8F5A-0125-5B73-71BD97539FB5}"/>
              </a:ext>
            </a:extLst>
          </p:cNvPr>
          <p:cNvSpPr>
            <a:spLocks noGrp="1"/>
          </p:cNvSpPr>
          <p:nvPr>
            <p:ph type="sldNum" sz="quarter" idx="12"/>
          </p:nvPr>
        </p:nvSpPr>
        <p:spPr/>
        <p:txBody>
          <a:bodyPr/>
          <a:lstStyle/>
          <a:p>
            <a:fld id="{5A741E56-E3D9-46FF-B47D-3FCBEAE97EB2}" type="slidenum">
              <a:rPr lang="en-US" smtClean="0"/>
              <a:pPr/>
              <a:t>14</a:t>
            </a:fld>
            <a:endParaRPr lang="en-US" dirty="0"/>
          </a:p>
        </p:txBody>
      </p:sp>
      <p:sp>
        <p:nvSpPr>
          <p:cNvPr id="5" name="Footer Placeholder 4">
            <a:extLst>
              <a:ext uri="{FF2B5EF4-FFF2-40B4-BE49-F238E27FC236}">
                <a16:creationId xmlns:a16="http://schemas.microsoft.com/office/drawing/2014/main" id="{A1E940AC-E951-F329-95F7-4A906355B4C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17B99886-C9E2-F743-AE0F-B18610A4CFAD}"/>
              </a:ext>
            </a:extLst>
          </p:cNvPr>
          <p:cNvSpPr>
            <a:spLocks noGrp="1"/>
          </p:cNvSpPr>
          <p:nvPr>
            <p:ph type="dt" sz="half" idx="10"/>
          </p:nvPr>
        </p:nvSpPr>
        <p:spPr/>
        <p:txBody>
          <a:bodyPr/>
          <a:lstStyle/>
          <a:p>
            <a:fld id="{E4965A3C-7C44-491F-A2CC-585294ABE301}" type="datetime1">
              <a:rPr lang="en-US" smtClean="0"/>
              <a:t>8/17/2026</a:t>
            </a:fld>
            <a:endParaRPr lang="en-US" dirty="0"/>
          </a:p>
        </p:txBody>
      </p:sp>
      <mc:AlternateContent xmlns:mc="http://schemas.openxmlformats.org/markup-compatibility/2006">
        <mc:Choice xmlns:a14="http://schemas.microsoft.com/office/drawing/2010/main" Requires="a14">
          <p:sp>
            <p:nvSpPr>
              <p:cNvPr id="7" name="Parallelogram 6">
                <a:extLst>
                  <a:ext uri="{FF2B5EF4-FFF2-40B4-BE49-F238E27FC236}">
                    <a16:creationId xmlns:a16="http://schemas.microsoft.com/office/drawing/2014/main" id="{67EE8F15-A212-5B1C-E7AD-D3FC6D8E7A92}"/>
                  </a:ext>
                </a:extLst>
              </p:cNvPr>
              <p:cNvSpPr/>
              <p:nvPr/>
            </p:nvSpPr>
            <p:spPr>
              <a:xfrm>
                <a:off x="2023823" y="1002537"/>
                <a:ext cx="4529751" cy="707386"/>
              </a:xfrm>
              <a:prstGeom prst="parallelogram">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Target Geometry + Current State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endParaRPr lang="zh-TW" altLang="en-US" dirty="0"/>
              </a:p>
            </p:txBody>
          </p:sp>
        </mc:Choice>
        <mc:Fallback>
          <p:sp>
            <p:nvSpPr>
              <p:cNvPr id="7" name="Parallelogram 6">
                <a:extLst>
                  <a:ext uri="{FF2B5EF4-FFF2-40B4-BE49-F238E27FC236}">
                    <a16:creationId xmlns:a16="http://schemas.microsoft.com/office/drawing/2014/main" id="{67EE8F15-A212-5B1C-E7AD-D3FC6D8E7A92}"/>
                  </a:ext>
                </a:extLst>
              </p:cNvPr>
              <p:cNvSpPr>
                <a:spLocks noRot="1" noChangeAspect="1" noMove="1" noResize="1" noEditPoints="1" noAdjustHandles="1" noChangeArrowheads="1" noChangeShapeType="1" noTextEdit="1"/>
              </p:cNvSpPr>
              <p:nvPr/>
            </p:nvSpPr>
            <p:spPr>
              <a:xfrm>
                <a:off x="2023823" y="1002537"/>
                <a:ext cx="4529751" cy="707386"/>
              </a:xfrm>
              <a:prstGeom prst="parallelogram">
                <a:avLst/>
              </a:prstGeom>
              <a:blipFill>
                <a:blip r:embed="rId2"/>
                <a:stretch>
                  <a:fillRect/>
                </a:stretch>
              </a:blipFill>
            </p:spPr>
            <p:txBody>
              <a:bodyPr/>
              <a:lstStyle/>
              <a:p>
                <a:r>
                  <a:rPr lang="zh-TW" altLang="en-US">
                    <a:noFill/>
                  </a:rPr>
                  <a:t> </a:t>
                </a:r>
              </a:p>
            </p:txBody>
          </p:sp>
        </mc:Fallback>
      </mc:AlternateContent>
      <p:sp>
        <p:nvSpPr>
          <p:cNvPr id="8" name="Rectangle 7">
            <a:extLst>
              <a:ext uri="{FF2B5EF4-FFF2-40B4-BE49-F238E27FC236}">
                <a16:creationId xmlns:a16="http://schemas.microsoft.com/office/drawing/2014/main" id="{67E02EE1-ED9E-8518-5332-250C4B7ABEB9}"/>
              </a:ext>
            </a:extLst>
          </p:cNvPr>
          <p:cNvSpPr/>
          <p:nvPr/>
        </p:nvSpPr>
        <p:spPr>
          <a:xfrm>
            <a:off x="3019705" y="2099222"/>
            <a:ext cx="2537988"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Optimizer</a:t>
            </a:r>
            <a:endParaRPr lang="zh-TW" altLang="en-US" dirty="0"/>
          </a:p>
        </p:txBody>
      </p:sp>
      <mc:AlternateContent xmlns:mc="http://schemas.openxmlformats.org/markup-compatibility/2006">
        <mc:Choice xmlns:a14="http://schemas.microsoft.com/office/drawing/2010/main" Requires="a14">
          <p:sp>
            <p:nvSpPr>
              <p:cNvPr id="10" name="Parallelogram 9">
                <a:extLst>
                  <a:ext uri="{FF2B5EF4-FFF2-40B4-BE49-F238E27FC236}">
                    <a16:creationId xmlns:a16="http://schemas.microsoft.com/office/drawing/2014/main" id="{CA63FB23-24E4-4923-349F-57AA6272EADA}"/>
                  </a:ext>
                </a:extLst>
              </p:cNvPr>
              <p:cNvSpPr/>
              <p:nvPr/>
            </p:nvSpPr>
            <p:spPr>
              <a:xfrm>
                <a:off x="2518745" y="3248185"/>
                <a:ext cx="3539908" cy="778598"/>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Candidate Mask Sequence:</a:t>
                </a:r>
              </a:p>
              <a:p>
                <a:pPr algn="ctr"/>
                <a14:m>
                  <m:oMathPara xmlns:m="http://schemas.openxmlformats.org/officeDocument/2006/math">
                    <m:oMath>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oMath>
                  </m:oMathPara>
                </a14:m>
                <a:endParaRPr lang="zh-TW" altLang="en-US" dirty="0"/>
              </a:p>
            </p:txBody>
          </p:sp>
        </mc:Choice>
        <mc:Fallback>
          <p:sp>
            <p:nvSpPr>
              <p:cNvPr id="10" name="Parallelogram 9">
                <a:extLst>
                  <a:ext uri="{FF2B5EF4-FFF2-40B4-BE49-F238E27FC236}">
                    <a16:creationId xmlns:a16="http://schemas.microsoft.com/office/drawing/2014/main" id="{CA63FB23-24E4-4923-349F-57AA6272EADA}"/>
                  </a:ext>
                </a:extLst>
              </p:cNvPr>
              <p:cNvSpPr>
                <a:spLocks noRot="1" noChangeAspect="1" noMove="1" noResize="1" noEditPoints="1" noAdjustHandles="1" noChangeArrowheads="1" noChangeShapeType="1" noTextEdit="1"/>
              </p:cNvSpPr>
              <p:nvPr/>
            </p:nvSpPr>
            <p:spPr>
              <a:xfrm>
                <a:off x="2518745" y="3248185"/>
                <a:ext cx="3539908" cy="778598"/>
              </a:xfrm>
              <a:prstGeom prst="parallelogram">
                <a:avLst/>
              </a:prstGeom>
              <a:blipFill>
                <a:blip r:embed="rId3"/>
                <a:stretch>
                  <a:fillRect/>
                </a:stretch>
              </a:blipFill>
            </p:spPr>
            <p:txBody>
              <a:bodyPr/>
              <a:lstStyle/>
              <a:p>
                <a:r>
                  <a:rPr lang="zh-TW" altLang="en-US">
                    <a:noFill/>
                  </a:rPr>
                  <a:t> </a:t>
                </a:r>
              </a:p>
            </p:txBody>
          </p:sp>
        </mc:Fallback>
      </mc:AlternateContent>
      <p:sp>
        <p:nvSpPr>
          <p:cNvPr id="12" name="Rectangle 11">
            <a:extLst>
              <a:ext uri="{FF2B5EF4-FFF2-40B4-BE49-F238E27FC236}">
                <a16:creationId xmlns:a16="http://schemas.microsoft.com/office/drawing/2014/main" id="{B4D6DD97-C610-6160-A530-ED7EBA2209A3}"/>
              </a:ext>
            </a:extLst>
          </p:cNvPr>
          <p:cNvSpPr/>
          <p:nvPr/>
        </p:nvSpPr>
        <p:spPr>
          <a:xfrm>
            <a:off x="2634932" y="4397148"/>
            <a:ext cx="330753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Differentiable AIE Model</a:t>
            </a:r>
          </a:p>
        </p:txBody>
      </p:sp>
      <mc:AlternateContent xmlns:mc="http://schemas.openxmlformats.org/markup-compatibility/2006">
        <mc:Choice xmlns:a14="http://schemas.microsoft.com/office/drawing/2010/main" Requires="a14">
          <p:sp>
            <p:nvSpPr>
              <p:cNvPr id="16" name="Parallelogram 15">
                <a:extLst>
                  <a:ext uri="{FF2B5EF4-FFF2-40B4-BE49-F238E27FC236}">
                    <a16:creationId xmlns:a16="http://schemas.microsoft.com/office/drawing/2014/main" id="{092178A9-A5A1-E99E-F423-44417884799C}"/>
                  </a:ext>
                </a:extLst>
              </p:cNvPr>
              <p:cNvSpPr/>
              <p:nvPr/>
            </p:nvSpPr>
            <p:spPr>
              <a:xfrm>
                <a:off x="2481400" y="5563412"/>
                <a:ext cx="3614599" cy="939732"/>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Predicted State Trajectory:</a:t>
                </a:r>
              </a:p>
              <a:p>
                <a:pPr algn="ctr"/>
                <a:r>
                  <a:rPr lang="en-US" altLang="zh-TW" dirty="0"/>
                  <a:t> </a:t>
                </a:r>
                <a14:m>
                  <m:oMath xmlns:m="http://schemas.openxmlformats.org/officeDocument/2006/math">
                    <m:sSub>
                      <m:sSubPr>
                        <m:ctrlPr>
                          <a:rPr lang="zh-TW" altLang="en-US"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𝑥</m:t>
                            </m:r>
                          </m:e>
                        </m:acc>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𝑥</m:t>
                            </m:r>
                          </m:e>
                        </m:acc>
                      </m:e>
                      <m:sub>
                        <m:r>
                          <a:rPr lang="en-US" altLang="zh-TW" i="1">
                            <a:latin typeface="Cambria Math" panose="02040503050406030204" pitchFamily="18" charset="0"/>
                          </a:rPr>
                          <m:t>𝑘</m:t>
                        </m:r>
                        <m:r>
                          <a:rPr lang="en-US" altLang="zh-TW" i="1">
                            <a:latin typeface="Cambria Math" panose="02040503050406030204" pitchFamily="18" charset="0"/>
                          </a:rPr>
                          <m:t>+</m:t>
                        </m:r>
                        <m:r>
                          <a:rPr lang="en-US" altLang="zh-TW" b="0" i="1" smtClean="0">
                            <a:latin typeface="Cambria Math" panose="02040503050406030204" pitchFamily="18" charset="0"/>
                          </a:rPr>
                          <m:t>𝑁</m:t>
                        </m:r>
                      </m:sub>
                    </m:sSub>
                  </m:oMath>
                </a14:m>
                <a:endParaRPr lang="zh-TW" altLang="en-US" dirty="0"/>
              </a:p>
            </p:txBody>
          </p:sp>
        </mc:Choice>
        <mc:Fallback>
          <p:sp>
            <p:nvSpPr>
              <p:cNvPr id="16" name="Parallelogram 15">
                <a:extLst>
                  <a:ext uri="{FF2B5EF4-FFF2-40B4-BE49-F238E27FC236}">
                    <a16:creationId xmlns:a16="http://schemas.microsoft.com/office/drawing/2014/main" id="{092178A9-A5A1-E99E-F423-44417884799C}"/>
                  </a:ext>
                </a:extLst>
              </p:cNvPr>
              <p:cNvSpPr>
                <a:spLocks noRot="1" noChangeAspect="1" noMove="1" noResize="1" noEditPoints="1" noAdjustHandles="1" noChangeArrowheads="1" noChangeShapeType="1" noTextEdit="1"/>
              </p:cNvSpPr>
              <p:nvPr/>
            </p:nvSpPr>
            <p:spPr>
              <a:xfrm>
                <a:off x="2481400" y="5563412"/>
                <a:ext cx="3614599" cy="939732"/>
              </a:xfrm>
              <a:prstGeom prst="parallelogram">
                <a:avLst/>
              </a:prstGeom>
              <a:blipFill>
                <a:blip r:embed="rId4"/>
                <a:stretch>
                  <a:fillRect/>
                </a:stretch>
              </a:blipFill>
            </p:spPr>
            <p:txBody>
              <a:bodyPr/>
              <a:lstStyle/>
              <a:p>
                <a:r>
                  <a:rPr lang="zh-TW" altLang="en-US">
                    <a:noFill/>
                  </a:rPr>
                  <a:t> </a:t>
                </a:r>
              </a:p>
            </p:txBody>
          </p:sp>
        </mc:Fallback>
      </mc:AlternateContent>
      <p:sp>
        <p:nvSpPr>
          <p:cNvPr id="18" name="Rectangle 17">
            <a:extLst>
              <a:ext uri="{FF2B5EF4-FFF2-40B4-BE49-F238E27FC236}">
                <a16:creationId xmlns:a16="http://schemas.microsoft.com/office/drawing/2014/main" id="{556770BE-ED83-4111-9BB0-24EC0938B61D}"/>
              </a:ext>
            </a:extLst>
          </p:cNvPr>
          <p:cNvSpPr/>
          <p:nvPr/>
        </p:nvSpPr>
        <p:spPr>
          <a:xfrm>
            <a:off x="6339687" y="5755924"/>
            <a:ext cx="2050611" cy="5547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Cost Function</a:t>
            </a:r>
            <a:endParaRPr lang="zh-TW" altLang="en-US" dirty="0"/>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E173DB02-E14F-2AB7-3185-931D9CC502B3}"/>
                  </a:ext>
                </a:extLst>
              </p:cNvPr>
              <p:cNvSpPr txBox="1"/>
              <p:nvPr/>
            </p:nvSpPr>
            <p:spPr>
              <a:xfrm>
                <a:off x="8633988" y="3123825"/>
                <a:ext cx="3448315" cy="961930"/>
              </a:xfrm>
              <a:prstGeom prst="rect">
                <a:avLst/>
              </a:prstGeom>
              <a:noFill/>
            </p:spPr>
            <p:txBody>
              <a:bodyPr wrap="none" lIns="0" tIns="0" rIns="0" bIns="0" rtlCol="0">
                <a:spAutoFit/>
              </a:bodyPr>
              <a:lstStyle/>
              <a:p>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m:t>
                          </m:r>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𝑇𝐸𝑀𝑃</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𝐷𝑜𝑠</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𝑒</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sub>
                      </m:sSub>
                      <m:r>
                        <a:rPr lang="en-US" altLang="zh-TW" b="0" i="0" smtClean="0">
                          <a:latin typeface="Cambria Math" panose="02040503050406030204" pitchFamily="18" charset="0"/>
                        </a:rPr>
                        <m:t>]</m:t>
                      </m:r>
                    </m:oMath>
                  </m:oMathPara>
                </a14:m>
                <a:endParaRPr lang="en-US" altLang="zh-TW" dirty="0"/>
              </a:p>
              <a:p>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𝑓</m:t>
                      </m:r>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oMath>
                  </m:oMathPara>
                </a14:m>
                <a:endParaRPr lang="en-US" altLang="zh-TW" dirty="0"/>
              </a:p>
              <a:p>
                <a14:m>
                  <m:oMathPara xmlns:m="http://schemas.openxmlformats.org/officeDocument/2006/math">
                    <m:oMath>
                      <m:func>
                        <m:funcPr>
                          <m:ctrlPr>
                            <a:rPr lang="zh-TW" altLang="en-US" i="1" smtClean="0">
                              <a:latin typeface="Cambria Math" panose="02040503050406030204" pitchFamily="18" charset="0"/>
                            </a:rPr>
                          </m:ctrlPr>
                        </m:funcPr>
                        <m:fName>
                          <m:limLow>
                            <m:limLowPr>
                              <m:ctrlPr>
                                <a:rPr lang="en-US" altLang="zh-TW" i="0" smtClean="0">
                                  <a:latin typeface="Cambria Math" panose="02040503050406030204" pitchFamily="18" charset="0"/>
                                </a:rPr>
                              </m:ctrlPr>
                            </m:limLowPr>
                            <m:e>
                              <m:r>
                                <m:rPr>
                                  <m:sty m:val="p"/>
                                </m:rPr>
                                <a:rPr lang="en-US" altLang="zh-TW" i="0" smtClean="0">
                                  <a:latin typeface="Cambria Math" panose="02040503050406030204" pitchFamily="18" charset="0"/>
                                </a:rPr>
                                <m:t>min</m:t>
                              </m:r>
                            </m:e>
                            <m:li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lim>
                          </m:limLow>
                        </m:fName>
                        <m:e>
                          <m:r>
                            <a:rPr lang="en-US" altLang="zh-TW" b="0" i="1" smtClean="0">
                              <a:latin typeface="Cambria Math" panose="02040503050406030204" pitchFamily="18" charset="0"/>
                            </a:rPr>
                            <m:t>𝐽</m:t>
                          </m:r>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sub>
                          </m:sSub>
                        </m:e>
                      </m:func>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𝑡𝑎𝑟𝑔𝑒𝑡</m:t>
                          </m:r>
                        </m:sub>
                      </m:sSub>
                      <m:r>
                        <a:rPr lang="en-US" altLang="zh-TW" b="0" i="1" smtClean="0">
                          <a:latin typeface="Cambria Math" panose="02040503050406030204" pitchFamily="18" charset="0"/>
                        </a:rPr>
                        <m:t>)</m:t>
                      </m:r>
                    </m:oMath>
                  </m:oMathPara>
                </a14:m>
                <a:endParaRPr lang="zh-TW" altLang="en-US" dirty="0"/>
              </a:p>
            </p:txBody>
          </p:sp>
        </mc:Choice>
        <mc:Fallback>
          <p:sp>
            <p:nvSpPr>
              <p:cNvPr id="36" name="TextBox 35">
                <a:extLst>
                  <a:ext uri="{FF2B5EF4-FFF2-40B4-BE49-F238E27FC236}">
                    <a16:creationId xmlns:a16="http://schemas.microsoft.com/office/drawing/2014/main" id="{E173DB02-E14F-2AB7-3185-931D9CC502B3}"/>
                  </a:ext>
                </a:extLst>
              </p:cNvPr>
              <p:cNvSpPr txBox="1">
                <a:spLocks noRot="1" noChangeAspect="1" noMove="1" noResize="1" noEditPoints="1" noAdjustHandles="1" noChangeArrowheads="1" noChangeShapeType="1" noTextEdit="1"/>
              </p:cNvSpPr>
              <p:nvPr/>
            </p:nvSpPr>
            <p:spPr>
              <a:xfrm>
                <a:off x="8633988" y="3123825"/>
                <a:ext cx="3448315" cy="961930"/>
              </a:xfrm>
              <a:prstGeom prst="rect">
                <a:avLst/>
              </a:prstGeom>
              <a:blipFill>
                <a:blip r:embed="rId5"/>
                <a:stretch>
                  <a:fillRect l="-530" r="-2120" b="-5063"/>
                </a:stretch>
              </a:blipFill>
            </p:spPr>
            <p:txBody>
              <a:bodyPr/>
              <a:lstStyle/>
              <a:p>
                <a:r>
                  <a:rPr lang="zh-TW" altLang="en-US">
                    <a:noFill/>
                  </a:rPr>
                  <a:t> </a:t>
                </a:r>
              </a:p>
            </p:txBody>
          </p:sp>
        </mc:Fallback>
      </mc:AlternateContent>
      <p:cxnSp>
        <p:nvCxnSpPr>
          <p:cNvPr id="70" name="Straight Arrow Connector 69">
            <a:extLst>
              <a:ext uri="{FF2B5EF4-FFF2-40B4-BE49-F238E27FC236}">
                <a16:creationId xmlns:a16="http://schemas.microsoft.com/office/drawing/2014/main" id="{D28FEBAD-EB58-832E-5D35-0708BC275423}"/>
              </a:ext>
            </a:extLst>
          </p:cNvPr>
          <p:cNvCxnSpPr>
            <a:cxnSpLocks/>
            <a:stCxn id="7" idx="4"/>
            <a:endCxn id="8" idx="0"/>
          </p:cNvCxnSpPr>
          <p:nvPr/>
        </p:nvCxnSpPr>
        <p:spPr>
          <a:xfrm>
            <a:off x="4288699" y="1709923"/>
            <a:ext cx="0" cy="389299"/>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CA6648C6-1E87-039A-F5D7-89193004C45E}"/>
              </a:ext>
            </a:extLst>
          </p:cNvPr>
          <p:cNvCxnSpPr>
            <a:stCxn id="8" idx="2"/>
            <a:endCxn id="10" idx="0"/>
          </p:cNvCxnSpPr>
          <p:nvPr/>
        </p:nvCxnSpPr>
        <p:spPr>
          <a:xfrm>
            <a:off x="4288699" y="2877820"/>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id="{8C7090F7-BDCA-1AA6-A671-21373EBB614B}"/>
              </a:ext>
            </a:extLst>
          </p:cNvPr>
          <p:cNvCxnSpPr>
            <a:stCxn id="10" idx="4"/>
            <a:endCxn id="12" idx="0"/>
          </p:cNvCxnSpPr>
          <p:nvPr/>
        </p:nvCxnSpPr>
        <p:spPr>
          <a:xfrm>
            <a:off x="4288699" y="4026783"/>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3" name="Straight Arrow Connector 82">
            <a:extLst>
              <a:ext uri="{FF2B5EF4-FFF2-40B4-BE49-F238E27FC236}">
                <a16:creationId xmlns:a16="http://schemas.microsoft.com/office/drawing/2014/main" id="{2EE2D19B-5D53-94F6-A2B2-7FE6DEED802B}"/>
              </a:ext>
            </a:extLst>
          </p:cNvPr>
          <p:cNvCxnSpPr>
            <a:stCxn id="12" idx="2"/>
            <a:endCxn id="16" idx="0"/>
          </p:cNvCxnSpPr>
          <p:nvPr/>
        </p:nvCxnSpPr>
        <p:spPr>
          <a:xfrm>
            <a:off x="4288699" y="5175746"/>
            <a:ext cx="1" cy="387666"/>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85">
            <a:extLst>
              <a:ext uri="{FF2B5EF4-FFF2-40B4-BE49-F238E27FC236}">
                <a16:creationId xmlns:a16="http://schemas.microsoft.com/office/drawing/2014/main" id="{144498DB-6283-BAEF-3B18-71B27181C38A}"/>
              </a:ext>
            </a:extLst>
          </p:cNvPr>
          <p:cNvCxnSpPr>
            <a:stCxn id="16" idx="2"/>
            <a:endCxn id="18" idx="1"/>
          </p:cNvCxnSpPr>
          <p:nvPr/>
        </p:nvCxnSpPr>
        <p:spPr>
          <a:xfrm>
            <a:off x="5978533" y="6033278"/>
            <a:ext cx="36115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8" name="Connector: Elbow 87">
            <a:extLst>
              <a:ext uri="{FF2B5EF4-FFF2-40B4-BE49-F238E27FC236}">
                <a16:creationId xmlns:a16="http://schemas.microsoft.com/office/drawing/2014/main" id="{1195E6BC-54BE-E222-36D5-65FB0D7E7348}"/>
              </a:ext>
            </a:extLst>
          </p:cNvPr>
          <p:cNvCxnSpPr>
            <a:cxnSpLocks/>
            <a:stCxn id="18" idx="0"/>
          </p:cNvCxnSpPr>
          <p:nvPr/>
        </p:nvCxnSpPr>
        <p:spPr>
          <a:xfrm rot="16200000" flipV="1">
            <a:off x="4841348" y="3232279"/>
            <a:ext cx="3239993" cy="1807298"/>
          </a:xfrm>
          <a:prstGeom prst="bentConnector3">
            <a:avLst>
              <a:gd name="adj1" fmla="val 99738"/>
            </a:avLst>
          </a:prstGeom>
          <a:ln w="28575">
            <a:tailEnd type="triangle"/>
          </a:ln>
        </p:spPr>
        <p:style>
          <a:lnRef idx="1">
            <a:schemeClr val="dk1"/>
          </a:lnRef>
          <a:fillRef idx="0">
            <a:schemeClr val="dk1"/>
          </a:fillRef>
          <a:effectRef idx="0">
            <a:schemeClr val="dk1"/>
          </a:effectRef>
          <a:fontRef idx="minor">
            <a:schemeClr val="tx1"/>
          </a:fontRef>
        </p:style>
      </p:cxnSp>
      <p:sp>
        <p:nvSpPr>
          <p:cNvPr id="93" name="TextBox 92">
            <a:extLst>
              <a:ext uri="{FF2B5EF4-FFF2-40B4-BE49-F238E27FC236}">
                <a16:creationId xmlns:a16="http://schemas.microsoft.com/office/drawing/2014/main" id="{8D76EABC-6EF2-A61B-5E01-2CB7003CE0DC}"/>
              </a:ext>
            </a:extLst>
          </p:cNvPr>
          <p:cNvSpPr txBox="1"/>
          <p:nvPr/>
        </p:nvSpPr>
        <p:spPr>
          <a:xfrm>
            <a:off x="8633988" y="4222155"/>
            <a:ext cx="3425227" cy="923330"/>
          </a:xfrm>
          <a:prstGeom prst="rect">
            <a:avLst/>
          </a:prstGeom>
          <a:noFill/>
        </p:spPr>
        <p:txBody>
          <a:bodyPr wrap="square">
            <a:spAutoFit/>
          </a:bodyPr>
          <a:lstStyle/>
          <a:p>
            <a:pPr algn="ctr"/>
            <a:r>
              <a:rPr lang="zh-TW" altLang="zh-TW" dirty="0"/>
              <a:t>AIE model predicts the next curing state from the current state and projected mask</a:t>
            </a:r>
            <a:endParaRPr lang="zh-TW" altLang="en-US" dirty="0"/>
          </a:p>
        </p:txBody>
      </p: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84285CC7-B526-7A17-BB39-8B0001697F38}"/>
                  </a:ext>
                </a:extLst>
              </p:cNvPr>
              <p:cNvSpPr txBox="1"/>
              <p:nvPr/>
            </p:nvSpPr>
            <p:spPr>
              <a:xfrm>
                <a:off x="7111099" y="2148815"/>
                <a:ext cx="485133" cy="307777"/>
              </a:xfrm>
              <a:prstGeom prst="rect">
                <a:avLst/>
              </a:prstGeom>
              <a:noFill/>
            </p:spPr>
            <p:txBody>
              <a:bodyPr wrap="none" lIns="0" tIns="0" rIns="0" bIns="0" rtlCol="0">
                <a:spAutoFit/>
              </a:bodyPr>
              <a:lstStyle/>
              <a:p>
                <a14:m>
                  <m:oMathPara xmlns:m="http://schemas.openxmlformats.org/officeDocument/2006/math">
                    <m:oMath>
                      <m:sSub>
                        <m:sSubPr>
                          <m:ctrlPr>
                            <a:rPr lang="zh-TW" altLang="en-US" sz="2000" b="1" i="1" smtClean="0">
                              <a:latin typeface="Cambria Math" panose="02040503050406030204" pitchFamily="18" charset="0"/>
                            </a:rPr>
                          </m:ctrlPr>
                        </m:sSubPr>
                        <m:e>
                          <m:r>
                            <a:rPr lang="zh-TW" altLang="en-US" sz="2000" b="1" i="1" smtClean="0">
                              <a:latin typeface="Cambria Math" panose="02040503050406030204" pitchFamily="18" charset="0"/>
                            </a:rPr>
                            <m:t>𝜵</m:t>
                          </m:r>
                        </m:e>
                        <m:sub>
                          <m:r>
                            <a:rPr lang="en-US" altLang="zh-TW" sz="2000" b="1" i="1" smtClean="0">
                              <a:latin typeface="Cambria Math" panose="02040503050406030204" pitchFamily="18" charset="0"/>
                            </a:rPr>
                            <m:t>𝑼</m:t>
                          </m:r>
                        </m:sub>
                      </m:sSub>
                      <m:r>
                        <a:rPr lang="en-US" altLang="zh-TW" sz="2000" b="1" i="1" smtClean="0">
                          <a:latin typeface="Cambria Math" panose="02040503050406030204" pitchFamily="18" charset="0"/>
                        </a:rPr>
                        <m:t>𝑱</m:t>
                      </m:r>
                    </m:oMath>
                  </m:oMathPara>
                </a14:m>
                <a:endParaRPr lang="zh-TW" altLang="en-US" sz="2000" b="1" dirty="0"/>
              </a:p>
            </p:txBody>
          </p:sp>
        </mc:Choice>
        <mc:Fallback>
          <p:sp>
            <p:nvSpPr>
              <p:cNvPr id="94" name="TextBox 93">
                <a:extLst>
                  <a:ext uri="{FF2B5EF4-FFF2-40B4-BE49-F238E27FC236}">
                    <a16:creationId xmlns:a16="http://schemas.microsoft.com/office/drawing/2014/main" id="{84285CC7-B526-7A17-BB39-8B0001697F38}"/>
                  </a:ext>
                </a:extLst>
              </p:cNvPr>
              <p:cNvSpPr txBox="1">
                <a:spLocks noRot="1" noChangeAspect="1" noMove="1" noResize="1" noEditPoints="1" noAdjustHandles="1" noChangeArrowheads="1" noChangeShapeType="1" noTextEdit="1"/>
              </p:cNvSpPr>
              <p:nvPr/>
            </p:nvSpPr>
            <p:spPr>
              <a:xfrm>
                <a:off x="7111099" y="2148815"/>
                <a:ext cx="485133" cy="307777"/>
              </a:xfrm>
              <a:prstGeom prst="rect">
                <a:avLst/>
              </a:prstGeom>
              <a:blipFill>
                <a:blip r:embed="rId6"/>
                <a:stretch>
                  <a:fillRect l="-12658" r="-17722" b="-29412"/>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95" name="Parallelogram 94">
                <a:extLst>
                  <a:ext uri="{FF2B5EF4-FFF2-40B4-BE49-F238E27FC236}">
                    <a16:creationId xmlns:a16="http://schemas.microsoft.com/office/drawing/2014/main" id="{A9BECEDE-4061-7BBA-4FD9-A8842EA34683}"/>
                  </a:ext>
                </a:extLst>
              </p:cNvPr>
              <p:cNvSpPr/>
              <p:nvPr/>
            </p:nvSpPr>
            <p:spPr>
              <a:xfrm>
                <a:off x="594340" y="331649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up>
                          <m:r>
                            <a:rPr lang="en-US" altLang="zh-TW" b="0" i="1" smtClean="0">
                              <a:latin typeface="Cambria Math" panose="02040503050406030204" pitchFamily="18" charset="0"/>
                            </a:rPr>
                            <m:t>∗</m:t>
                          </m:r>
                        </m:sup>
                      </m:sSubSup>
                    </m:oMath>
                  </m:oMathPara>
                </a14:m>
                <a:endParaRPr lang="zh-TW" altLang="en-US" i="1" dirty="0"/>
              </a:p>
            </p:txBody>
          </p:sp>
        </mc:Choice>
        <mc:Fallback>
          <p:sp>
            <p:nvSpPr>
              <p:cNvPr id="95" name="Parallelogram 94">
                <a:extLst>
                  <a:ext uri="{FF2B5EF4-FFF2-40B4-BE49-F238E27FC236}">
                    <a16:creationId xmlns:a16="http://schemas.microsoft.com/office/drawing/2014/main" id="{A9BECEDE-4061-7BBA-4FD9-A8842EA34683}"/>
                  </a:ext>
                </a:extLst>
              </p:cNvPr>
              <p:cNvSpPr>
                <a:spLocks noRot="1" noChangeAspect="1" noMove="1" noResize="1" noEditPoints="1" noAdjustHandles="1" noChangeArrowheads="1" noChangeShapeType="1" noTextEdit="1"/>
              </p:cNvSpPr>
              <p:nvPr/>
            </p:nvSpPr>
            <p:spPr>
              <a:xfrm>
                <a:off x="594340" y="3316497"/>
                <a:ext cx="1100369" cy="576586"/>
              </a:xfrm>
              <a:prstGeom prst="parallelogram">
                <a:avLst/>
              </a:prstGeom>
              <a:blipFill>
                <a:blip r:embed="rId7"/>
                <a:stretch>
                  <a:fillRect/>
                </a:stretch>
              </a:blipFill>
            </p:spPr>
            <p:txBody>
              <a:bodyPr/>
              <a:lstStyle/>
              <a:p>
                <a:r>
                  <a:rPr lang="zh-TW" altLang="en-US">
                    <a:noFill/>
                  </a:rPr>
                  <a:t> </a:t>
                </a:r>
              </a:p>
            </p:txBody>
          </p:sp>
        </mc:Fallback>
      </mc:AlternateContent>
      <p:cxnSp>
        <p:nvCxnSpPr>
          <p:cNvPr id="98" name="Connector: Elbow 97">
            <a:extLst>
              <a:ext uri="{FF2B5EF4-FFF2-40B4-BE49-F238E27FC236}">
                <a16:creationId xmlns:a16="http://schemas.microsoft.com/office/drawing/2014/main" id="{A4BB2CC4-93C5-1E46-8C3F-D4FBC922B716}"/>
              </a:ext>
            </a:extLst>
          </p:cNvPr>
          <p:cNvCxnSpPr>
            <a:cxnSpLocks/>
            <a:stCxn id="8" idx="1"/>
            <a:endCxn id="95" idx="0"/>
          </p:cNvCxnSpPr>
          <p:nvPr/>
        </p:nvCxnSpPr>
        <p:spPr>
          <a:xfrm rot="10800000" flipV="1">
            <a:off x="1144525" y="2488521"/>
            <a:ext cx="1875180" cy="827976"/>
          </a:xfrm>
          <a:prstGeom prst="bentConnector2">
            <a:avLst/>
          </a:prstGeom>
          <a:ln w="28575">
            <a:tailEnd type="triangle"/>
          </a:ln>
        </p:spPr>
        <p:style>
          <a:lnRef idx="1">
            <a:schemeClr val="dk1"/>
          </a:lnRef>
          <a:fillRef idx="0">
            <a:schemeClr val="dk1"/>
          </a:fillRef>
          <a:effectRef idx="0">
            <a:schemeClr val="dk1"/>
          </a:effectRef>
          <a:fontRef idx="minor">
            <a:schemeClr val="tx1"/>
          </a:fontRef>
        </p:style>
      </p:cxnSp>
      <p:sp>
        <p:nvSpPr>
          <p:cNvPr id="99" name="Rectangle 98">
            <a:extLst>
              <a:ext uri="{FF2B5EF4-FFF2-40B4-BE49-F238E27FC236}">
                <a16:creationId xmlns:a16="http://schemas.microsoft.com/office/drawing/2014/main" id="{02448A95-373B-B5BB-8B4D-4F2F8F6BEE4A}"/>
              </a:ext>
            </a:extLst>
          </p:cNvPr>
          <p:cNvSpPr/>
          <p:nvPr/>
        </p:nvSpPr>
        <p:spPr>
          <a:xfrm>
            <a:off x="112034" y="1760569"/>
            <a:ext cx="8398217" cy="4742575"/>
          </a:xfrm>
          <a:prstGeom prst="rect">
            <a:avLst/>
          </a:prstGeom>
          <a:noFill/>
          <a:ln w="28575">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44C523DE-494B-456D-0B00-EE0E07508E7D}"/>
                  </a:ext>
                </a:extLst>
              </p:cNvPr>
              <p:cNvSpPr txBox="1"/>
              <p:nvPr/>
            </p:nvSpPr>
            <p:spPr>
              <a:xfrm>
                <a:off x="136356" y="1895670"/>
                <a:ext cx="2883347" cy="523220"/>
              </a:xfrm>
              <a:prstGeom prst="rect">
                <a:avLst/>
              </a:prstGeom>
              <a:noFill/>
            </p:spPr>
            <p:txBody>
              <a:bodyPr wrap="square" rtlCol="0">
                <a:spAutoFit/>
              </a:bodyPr>
              <a:lstStyle/>
              <a:p>
                <a:r>
                  <a:rPr lang="zh-TW" altLang="zh-TW" sz="1400" dirty="0"/>
                  <a:t>After optimization converges, apply only</a:t>
                </a:r>
                <a:r>
                  <a:rPr lang="en-US" altLang="zh-TW" sz="1400" dirty="0"/>
                  <a:t> </a:t>
                </a:r>
                <a14:m>
                  <m:oMath xmlns:m="http://schemas.openxmlformats.org/officeDocument/2006/math">
                    <m:sSubSup>
                      <m:sSubSupPr>
                        <m:ctrlPr>
                          <a:rPr lang="en-US" altLang="zh-TW" sz="1400" i="1">
                            <a:latin typeface="Cambria Math" panose="02040503050406030204" pitchFamily="18" charset="0"/>
                          </a:rPr>
                        </m:ctrlPr>
                      </m:sSubSupPr>
                      <m:e>
                        <m:r>
                          <a:rPr lang="en-US" altLang="zh-TW" sz="1400" i="1">
                            <a:latin typeface="Cambria Math" panose="02040503050406030204" pitchFamily="18" charset="0"/>
                          </a:rPr>
                          <m:t>𝑢</m:t>
                        </m:r>
                      </m:e>
                      <m:sub>
                        <m:r>
                          <a:rPr lang="en-US" altLang="zh-TW" sz="1400" i="1">
                            <a:latin typeface="Cambria Math" panose="02040503050406030204" pitchFamily="18" charset="0"/>
                          </a:rPr>
                          <m:t>𝑘</m:t>
                        </m:r>
                      </m:sub>
                      <m:sup>
                        <m:r>
                          <a:rPr lang="en-US" altLang="zh-TW" sz="1400" i="1">
                            <a:latin typeface="Cambria Math" panose="02040503050406030204" pitchFamily="18" charset="0"/>
                          </a:rPr>
                          <m:t>∗</m:t>
                        </m:r>
                      </m:sup>
                    </m:sSubSup>
                  </m:oMath>
                </a14:m>
                <a:r>
                  <a:rPr lang="zh-TW" altLang="zh-TW" sz="1400" dirty="0"/>
                  <a:t> ​and update the state to </a:t>
                </a:r>
                <a14:m>
                  <m:oMath xmlns:m="http://schemas.openxmlformats.org/officeDocument/2006/math">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𝑥</m:t>
                        </m:r>
                      </m:e>
                      <m:sub>
                        <m:r>
                          <a:rPr lang="en-US" altLang="zh-TW" sz="1400" i="1">
                            <a:latin typeface="Cambria Math" panose="02040503050406030204" pitchFamily="18" charset="0"/>
                          </a:rPr>
                          <m:t>𝑘</m:t>
                        </m:r>
                        <m:r>
                          <a:rPr lang="en-US" altLang="zh-TW" sz="1400" i="1">
                            <a:latin typeface="Cambria Math" panose="02040503050406030204" pitchFamily="18" charset="0"/>
                          </a:rPr>
                          <m:t>+1</m:t>
                        </m:r>
                      </m:sub>
                    </m:sSub>
                  </m:oMath>
                </a14:m>
                <a:endParaRPr lang="zh-TW" altLang="en-US" sz="1400" dirty="0"/>
              </a:p>
            </p:txBody>
          </p:sp>
        </mc:Choice>
        <mc:Fallback>
          <p:sp>
            <p:nvSpPr>
              <p:cNvPr id="100" name="TextBox 99">
                <a:extLst>
                  <a:ext uri="{FF2B5EF4-FFF2-40B4-BE49-F238E27FC236}">
                    <a16:creationId xmlns:a16="http://schemas.microsoft.com/office/drawing/2014/main" id="{44C523DE-494B-456D-0B00-EE0E07508E7D}"/>
                  </a:ext>
                </a:extLst>
              </p:cNvPr>
              <p:cNvSpPr txBox="1">
                <a:spLocks noRot="1" noChangeAspect="1" noMove="1" noResize="1" noEditPoints="1" noAdjustHandles="1" noChangeArrowheads="1" noChangeShapeType="1" noTextEdit="1"/>
              </p:cNvSpPr>
              <p:nvPr/>
            </p:nvSpPr>
            <p:spPr>
              <a:xfrm>
                <a:off x="136356" y="1895670"/>
                <a:ext cx="2883347" cy="523220"/>
              </a:xfrm>
              <a:prstGeom prst="rect">
                <a:avLst/>
              </a:prstGeom>
              <a:blipFill>
                <a:blip r:embed="rId8"/>
                <a:stretch>
                  <a:fillRect l="-634" t="-2326" b="-10465"/>
                </a:stretch>
              </a:blipFill>
            </p:spPr>
            <p:txBody>
              <a:bodyPr/>
              <a:lstStyle/>
              <a:p>
                <a:r>
                  <a:rPr lang="zh-TW" altLang="en-US">
                    <a:noFill/>
                  </a:rPr>
                  <a:t> </a:t>
                </a:r>
              </a:p>
            </p:txBody>
          </p:sp>
        </mc:Fallback>
      </mc:AlternateContent>
      <p:sp>
        <p:nvSpPr>
          <p:cNvPr id="107" name="Rectangle 106">
            <a:extLst>
              <a:ext uri="{FF2B5EF4-FFF2-40B4-BE49-F238E27FC236}">
                <a16:creationId xmlns:a16="http://schemas.microsoft.com/office/drawing/2014/main" id="{9B7C4434-2F9F-94F9-1B04-3E73E8596DDB}"/>
              </a:ext>
            </a:extLst>
          </p:cNvPr>
          <p:cNvSpPr/>
          <p:nvPr/>
        </p:nvSpPr>
        <p:spPr>
          <a:xfrm>
            <a:off x="537552" y="4410381"/>
            <a:ext cx="121240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AIE Model</a:t>
            </a:r>
          </a:p>
        </p:txBody>
      </p:sp>
      <p:cxnSp>
        <p:nvCxnSpPr>
          <p:cNvPr id="109" name="Straight Arrow Connector 108">
            <a:extLst>
              <a:ext uri="{FF2B5EF4-FFF2-40B4-BE49-F238E27FC236}">
                <a16:creationId xmlns:a16="http://schemas.microsoft.com/office/drawing/2014/main" id="{DBF629ED-1BF6-09B5-BA62-2C76AD351B67}"/>
              </a:ext>
            </a:extLst>
          </p:cNvPr>
          <p:cNvCxnSpPr>
            <a:stCxn id="95" idx="4"/>
            <a:endCxn id="107" idx="0"/>
          </p:cNvCxnSpPr>
          <p:nvPr/>
        </p:nvCxnSpPr>
        <p:spPr>
          <a:xfrm flipH="1">
            <a:off x="1143754" y="3893083"/>
            <a:ext cx="771" cy="5172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11" name="Parallelogram 110">
                <a:extLst>
                  <a:ext uri="{FF2B5EF4-FFF2-40B4-BE49-F238E27FC236}">
                    <a16:creationId xmlns:a16="http://schemas.microsoft.com/office/drawing/2014/main" id="{98546BAF-A1D6-5E55-8031-7C377280E278}"/>
                  </a:ext>
                </a:extLst>
              </p:cNvPr>
              <p:cNvSpPr/>
              <p:nvPr/>
            </p:nvSpPr>
            <p:spPr>
              <a:xfrm>
                <a:off x="593568" y="566098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oMath>
                  </m:oMathPara>
                </a14:m>
                <a:endParaRPr lang="zh-TW" altLang="en-US" i="1" dirty="0"/>
              </a:p>
            </p:txBody>
          </p:sp>
        </mc:Choice>
        <mc:Fallback>
          <p:sp>
            <p:nvSpPr>
              <p:cNvPr id="111" name="Parallelogram 110">
                <a:extLst>
                  <a:ext uri="{FF2B5EF4-FFF2-40B4-BE49-F238E27FC236}">
                    <a16:creationId xmlns:a16="http://schemas.microsoft.com/office/drawing/2014/main" id="{98546BAF-A1D6-5E55-8031-7C377280E278}"/>
                  </a:ext>
                </a:extLst>
              </p:cNvPr>
              <p:cNvSpPr>
                <a:spLocks noRot="1" noChangeAspect="1" noMove="1" noResize="1" noEditPoints="1" noAdjustHandles="1" noChangeArrowheads="1" noChangeShapeType="1" noTextEdit="1"/>
              </p:cNvSpPr>
              <p:nvPr/>
            </p:nvSpPr>
            <p:spPr>
              <a:xfrm>
                <a:off x="593568" y="5660987"/>
                <a:ext cx="1100369" cy="576586"/>
              </a:xfrm>
              <a:prstGeom prst="parallelogram">
                <a:avLst/>
              </a:prstGeom>
              <a:blipFill>
                <a:blip r:embed="rId9"/>
                <a:stretch>
                  <a:fillRect/>
                </a:stretch>
              </a:blipFill>
            </p:spPr>
            <p:txBody>
              <a:bodyPr/>
              <a:lstStyle/>
              <a:p>
                <a:r>
                  <a:rPr lang="zh-TW" altLang="en-US">
                    <a:noFill/>
                  </a:rPr>
                  <a:t> </a:t>
                </a:r>
              </a:p>
            </p:txBody>
          </p:sp>
        </mc:Fallback>
      </mc:AlternateContent>
      <p:cxnSp>
        <p:nvCxnSpPr>
          <p:cNvPr id="113" name="Straight Arrow Connector 112">
            <a:extLst>
              <a:ext uri="{FF2B5EF4-FFF2-40B4-BE49-F238E27FC236}">
                <a16:creationId xmlns:a16="http://schemas.microsoft.com/office/drawing/2014/main" id="{1AB006D4-F907-2415-BE6F-E786A20193D2}"/>
              </a:ext>
            </a:extLst>
          </p:cNvPr>
          <p:cNvCxnSpPr>
            <a:stCxn id="107" idx="2"/>
            <a:endCxn id="111" idx="0"/>
          </p:cNvCxnSpPr>
          <p:nvPr/>
        </p:nvCxnSpPr>
        <p:spPr>
          <a:xfrm flipH="1">
            <a:off x="1143753" y="5188979"/>
            <a:ext cx="1" cy="4720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2943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234194"/>
            <a:ext cx="10515600" cy="1640855"/>
          </a:xfrm>
        </p:spPr>
        <p:txBody>
          <a:bodyPr/>
          <a:lstStyle/>
          <a:p>
            <a:r>
              <a:rPr lang="en-US" dirty="0"/>
              <a:t>Thank you!</a:t>
            </a:r>
            <a:br>
              <a:rPr lang="en-US" dirty="0"/>
            </a:br>
            <a:r>
              <a:rPr lang="en-US" dirty="0"/>
              <a:t>Q &amp; A</a:t>
            </a:r>
          </a:p>
        </p:txBody>
      </p:sp>
      <p:sp>
        <p:nvSpPr>
          <p:cNvPr id="3" name="Text Placeholder 2"/>
          <p:cNvSpPr>
            <a:spLocks noGrp="1"/>
          </p:cNvSpPr>
          <p:nvPr>
            <p:ph type="body" idx="1"/>
          </p:nvPr>
        </p:nvSpPr>
        <p:spPr>
          <a:xfrm>
            <a:off x="838200" y="3858322"/>
            <a:ext cx="10515600" cy="652346"/>
          </a:xfrm>
        </p:spPr>
        <p:txBody>
          <a:bodyPr>
            <a:normAutofit lnSpcReduction="10000"/>
          </a:bodyPr>
          <a:lstStyle/>
          <a:p>
            <a:r>
              <a:rPr lang="en-US" dirty="0">
                <a:hlinkClick r:id="rId2"/>
              </a:rPr>
              <a:t>dshui@utexas.edu</a:t>
            </a:r>
            <a:endParaRPr lang="en-US" dirty="0"/>
          </a:p>
        </p:txBody>
      </p:sp>
    </p:spTree>
    <p:extLst>
      <p:ext uri="{BB962C8B-B14F-4D97-AF65-F5344CB8AC3E}">
        <p14:creationId xmlns:p14="http://schemas.microsoft.com/office/powerpoint/2010/main" val="38897538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40714</TotalTime>
  <Words>1823</Words>
  <Application>Microsoft Office PowerPoint</Application>
  <PresentationFormat>Widescreen</PresentationFormat>
  <Paragraphs>192</Paragraphs>
  <Slides>15</Slides>
  <Notes>12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Palatino Linotype</vt:lpstr>
      <vt:lpstr>Calibri</vt:lpstr>
      <vt:lpstr>Arial</vt:lpstr>
      <vt:lpstr>Calibri Light</vt:lpstr>
      <vt:lpstr>Cambria Math</vt:lpstr>
      <vt:lpstr>Office Theme</vt:lpstr>
      <vt:lpstr>PowerPoint Presentation</vt:lpstr>
      <vt:lpstr>DLP Challenge</vt:lpstr>
      <vt:lpstr>Outline</vt:lpstr>
      <vt:lpstr>Offline Optimization Overview</vt:lpstr>
      <vt:lpstr>Inverse Design</vt:lpstr>
      <vt:lpstr>Offline Optimization (Open Loop Control)</vt:lpstr>
      <vt:lpstr>Offline Optimization (Open Loop Control)</vt:lpstr>
      <vt:lpstr>Online Optimization and Control Overview</vt:lpstr>
      <vt:lpstr>Classical Feedback Control for Cured Height Regulation [1]</vt:lpstr>
      <vt:lpstr>Sequential Mask Optimization</vt:lpstr>
      <vt:lpstr>Can Our Cure Model Enable Sequential Optimization?</vt:lpstr>
      <vt:lpstr>Implementation Challenges for Real-Time Control</vt:lpstr>
      <vt:lpstr>08/27/2026</vt:lpstr>
      <vt:lpstr>Nonlinear MPC </vt:lpstr>
      <vt:lpstr>Thank you! Q &amp; 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Michael Cullinan</dc:creator>
  <cp:lastModifiedBy>Shui, Hsiu-Tsu (David)</cp:lastModifiedBy>
  <cp:revision>184</cp:revision>
  <dcterms:created xsi:type="dcterms:W3CDTF">2015-05-11T16:30:24Z</dcterms:created>
  <dcterms:modified xsi:type="dcterms:W3CDTF">2026-08-17T22:41:57Z</dcterms:modified>
</cp:coreProperties>
</file>